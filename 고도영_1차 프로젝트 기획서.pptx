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5" r:id="rId4"/>
    <p:sldId id="262" r:id="rId5"/>
    <p:sldId id="264" r:id="rId6"/>
    <p:sldId id="266" r:id="rId7"/>
    <p:sldId id="267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635C0CB-2734-4AE4-8350-E59BEC1BC3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16BBE5-E4CA-4D11-87F4-37DA3730A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B017E-404B-442C-86D5-2823F8BA7B2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0B9D71-01DC-4ED0-98F3-2B62928B54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D0D7D7-048F-49C4-A87F-E08037257F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A5C7D-B14B-4909-8451-EA077A254C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687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4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99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041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908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0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CA50CC-226F-4361-8203-8DD43A094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313607" y="6352093"/>
            <a:ext cx="774560" cy="365125"/>
          </a:xfrm>
        </p:spPr>
        <p:txBody>
          <a:bodyPr/>
          <a:lstStyle>
            <a:lvl1pPr>
              <a:defRPr b="1"/>
            </a:lvl1pPr>
          </a:lstStyle>
          <a:p>
            <a:fld id="{CBBA4477-B821-4960-BB8D-0C4C148CF7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84050D5-F5A4-48F6-9DB5-FEF5CE36D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903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‹#›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file:///C:\Users\403_21\Downloads\NASA_&#45936;&#51060;&#53552;_&#44592;&#48152;_&#48176;&#53552;&#47532;_PINN_&#48143;_BO_&#44060;&#48156;_&#49828;&#52992;&#51460;&#54364;-Genspark_AI_Sheets-20260316_0947.xlsx!&#44060;&#48156;%20&#49828;&#52992;&#51460;&#54364;!R1C1:R23C22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/>
          </p:cNvPicPr>
          <p:nvPr/>
        </p:nvPicPr>
        <p:blipFill>
          <a:blip r:embed="rId3"/>
          <a:srcRect t="-420" b="-420"/>
          <a:stretch/>
        </p:blipFill>
        <p:spPr>
          <a:xfrm>
            <a:off x="761694" y="895198"/>
            <a:ext cx="9000000" cy="54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</p:pic>
      <p:sp>
        <p:nvSpPr>
          <p:cNvPr id="6" name="Text 2"/>
          <p:cNvSpPr txBox="1"/>
          <p:nvPr/>
        </p:nvSpPr>
        <p:spPr>
          <a:xfrm>
            <a:off x="743407" y="1093190"/>
            <a:ext cx="1084021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4400" b="1" dirty="0">
                <a:solidFill>
                  <a:srgbClr val="002060"/>
                </a:solidFill>
                <a:latin typeface="+mj-ea"/>
                <a:ea typeface="+mj-ea"/>
              </a:rPr>
              <a:t>차세대 이차전지 소재 개발을 위한 </a:t>
            </a:r>
            <a:br>
              <a:rPr lang="en-US" altLang="ko-KR" sz="44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en-US" altLang="ko-KR" sz="4400" b="1" dirty="0">
                <a:solidFill>
                  <a:srgbClr val="002060"/>
                </a:solidFill>
                <a:latin typeface="+mj-ea"/>
                <a:ea typeface="+mj-ea"/>
              </a:rPr>
              <a:t>AI </a:t>
            </a:r>
            <a:r>
              <a:rPr lang="ko-KR" altLang="en-US" sz="4400" b="1" dirty="0">
                <a:solidFill>
                  <a:srgbClr val="002060"/>
                </a:solidFill>
                <a:latin typeface="+mj-ea"/>
                <a:ea typeface="+mj-ea"/>
              </a:rPr>
              <a:t>웹서비스 개발</a:t>
            </a:r>
            <a:endParaRPr lang="en-US" sz="4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0" y="6211668"/>
            <a:ext cx="12191695" cy="646331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92D6DC-64BF-4FF7-8A6E-FB6F01D8C8B1}"/>
              </a:ext>
            </a:extLst>
          </p:cNvPr>
          <p:cNvSpPr/>
          <p:nvPr/>
        </p:nvSpPr>
        <p:spPr>
          <a:xfrm>
            <a:off x="630620" y="25639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PINN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과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Bayesian Optimization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을 활용한 </a:t>
            </a:r>
            <a:b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rPr>
              <a:t>양극 소재 물성 예측 및 퇴화 분석 플랫폼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E11321-377B-4C06-8A6B-33CC7EF6097D}"/>
              </a:ext>
            </a:extLst>
          </p:cNvPr>
          <p:cNvSpPr/>
          <p:nvPr/>
        </p:nvSpPr>
        <p:spPr>
          <a:xfrm>
            <a:off x="743407" y="48723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생성형 </a:t>
            </a:r>
            <a:r>
              <a:rPr lang="en-US" altLang="ko-KR" b="1" dirty="0"/>
              <a:t>Ai </a:t>
            </a:r>
            <a:r>
              <a:rPr lang="ko-KR" altLang="en-US" b="1" dirty="0"/>
              <a:t>기반 서비스 개발자 양성과정</a:t>
            </a:r>
            <a:endParaRPr lang="en-US" altLang="ko-KR" b="1" dirty="0"/>
          </a:p>
          <a:p>
            <a:r>
              <a:rPr lang="ko-KR" altLang="en-US" b="1" dirty="0" err="1"/>
              <a:t>고도영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813C1FDB-F412-4B01-9669-8B6F6E06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26" y="3331666"/>
            <a:ext cx="4099165" cy="2732776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51A42807-F489-4391-8128-32EFD9BD72AE}"/>
              </a:ext>
            </a:extLst>
          </p:cNvPr>
          <p:cNvSpPr/>
          <p:nvPr/>
        </p:nvSpPr>
        <p:spPr>
          <a:xfrm>
            <a:off x="2679366" y="1797984"/>
            <a:ext cx="6595262" cy="759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피지컬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AI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산업 확산에 따른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차세대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배터리 수요 증가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6CB3DC7-40BE-419A-8C78-7CF1D1127805}"/>
              </a:ext>
            </a:extLst>
          </p:cNvPr>
          <p:cNvCxnSpPr>
            <a:cxnSpLocks/>
          </p:cNvCxnSpPr>
          <p:nvPr/>
        </p:nvCxnSpPr>
        <p:spPr>
          <a:xfrm>
            <a:off x="1333500" y="2728912"/>
            <a:ext cx="946847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A4B92D3-7F93-4CFE-AC68-663FF60E9A31}"/>
              </a:ext>
            </a:extLst>
          </p:cNvPr>
          <p:cNvGrpSpPr/>
          <p:nvPr/>
        </p:nvGrpSpPr>
        <p:grpSpPr>
          <a:xfrm>
            <a:off x="5381435" y="3263419"/>
            <a:ext cx="6168863" cy="690759"/>
            <a:chOff x="5818820" y="2738241"/>
            <a:chExt cx="6168863" cy="69075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47F93C35-46EF-47EE-8729-D3A74807189B}"/>
                </a:ext>
              </a:extLst>
            </p:cNvPr>
            <p:cNvSpPr/>
            <p:nvPr/>
          </p:nvSpPr>
          <p:spPr>
            <a:xfrm>
              <a:off x="5818820" y="2738241"/>
              <a:ext cx="6168863" cy="690759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8497BF9-A1FD-462E-AC30-2487FD76D1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9268" y="2837296"/>
              <a:ext cx="494435" cy="49443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02F875A8-330F-4A9E-93E3-7A0BFE256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9138" y="2916273"/>
              <a:ext cx="334694" cy="33469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FB9594-F423-4662-9934-6816F236572A}"/>
                </a:ext>
              </a:extLst>
            </p:cNvPr>
            <p:cNvSpPr txBox="1"/>
            <p:nvPr/>
          </p:nvSpPr>
          <p:spPr>
            <a:xfrm>
              <a:off x="6423703" y="2817862"/>
              <a:ext cx="3981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2026.02.09 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이코노미스트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AE5832-7165-4140-9A89-C88567216B4B}"/>
                </a:ext>
              </a:extLst>
            </p:cNvPr>
            <p:cNvSpPr txBox="1"/>
            <p:nvPr/>
          </p:nvSpPr>
          <p:spPr>
            <a:xfrm>
              <a:off x="6402500" y="3072588"/>
              <a:ext cx="55851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+mj-ea"/>
                  <a:ea typeface="+mj-ea"/>
                </a:rPr>
                <a:t>“</a:t>
              </a:r>
              <a:r>
                <a:rPr lang="ko-KR" altLang="en-US" sz="1400" b="1" dirty="0" err="1">
                  <a:latin typeface="+mj-ea"/>
                  <a:ea typeface="+mj-ea"/>
                </a:rPr>
                <a:t>피지컬</a:t>
              </a:r>
              <a:r>
                <a:rPr lang="ko-KR" altLang="en-US" sz="1400" b="1" dirty="0">
                  <a:latin typeface="+mj-ea"/>
                  <a:ea typeface="+mj-ea"/>
                </a:rPr>
                <a:t> </a:t>
              </a:r>
              <a:r>
                <a:rPr lang="en-US" altLang="ko-KR" sz="1400" b="1" dirty="0">
                  <a:latin typeface="+mj-ea"/>
                  <a:ea typeface="+mj-ea"/>
                </a:rPr>
                <a:t>AI </a:t>
              </a:r>
              <a:r>
                <a:rPr lang="ko-KR" altLang="en-US" sz="1400" b="1" dirty="0">
                  <a:latin typeface="+mj-ea"/>
                  <a:ea typeface="+mj-ea"/>
                </a:rPr>
                <a:t>시대</a:t>
              </a:r>
              <a:r>
                <a:rPr lang="en-US" altLang="ko-KR" sz="1400" b="1" dirty="0"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atin typeface="+mj-ea"/>
                  <a:ea typeface="+mj-ea"/>
                </a:rPr>
                <a:t>더 주목받는 </a:t>
              </a:r>
              <a:r>
                <a:rPr lang="en-US" altLang="ko-KR" sz="1400" b="1" dirty="0">
                  <a:latin typeface="+mj-ea"/>
                  <a:ea typeface="+mj-ea"/>
                </a:rPr>
                <a:t>K </a:t>
              </a:r>
              <a:r>
                <a:rPr lang="ko-KR" altLang="en-US" sz="1400" b="1" dirty="0">
                  <a:latin typeface="+mj-ea"/>
                  <a:ea typeface="+mj-ea"/>
                </a:rPr>
                <a:t>배터리 </a:t>
              </a:r>
              <a:r>
                <a:rPr lang="en-US" altLang="ko-KR" sz="1400" b="1" dirty="0">
                  <a:latin typeface="+mj-ea"/>
                  <a:ea typeface="+mj-ea"/>
                </a:rPr>
                <a:t>[</a:t>
              </a:r>
              <a:r>
                <a:rPr lang="ko-KR" altLang="en-US" sz="1400" b="1" dirty="0" err="1">
                  <a:latin typeface="+mj-ea"/>
                  <a:ea typeface="+mj-ea"/>
                </a:rPr>
                <a:t>피지컬</a:t>
              </a:r>
              <a:r>
                <a:rPr lang="ko-KR" altLang="en-US" sz="1400" b="1" dirty="0">
                  <a:latin typeface="+mj-ea"/>
                  <a:ea typeface="+mj-ea"/>
                </a:rPr>
                <a:t> </a:t>
              </a:r>
              <a:r>
                <a:rPr lang="en-US" altLang="ko-KR" sz="1400" b="1" dirty="0">
                  <a:latin typeface="+mj-ea"/>
                  <a:ea typeface="+mj-ea"/>
                </a:rPr>
                <a:t>AI</a:t>
              </a:r>
              <a:r>
                <a:rPr lang="ko-KR" altLang="en-US" sz="1400" b="1" dirty="0">
                  <a:latin typeface="+mj-ea"/>
                  <a:ea typeface="+mj-ea"/>
                </a:rPr>
                <a:t>가 바꾸는 질서</a:t>
              </a:r>
              <a:r>
                <a:rPr lang="en-US" altLang="ko-KR" sz="1400" b="1" dirty="0">
                  <a:latin typeface="+mj-ea"/>
                  <a:ea typeface="+mj-ea"/>
                </a:rPr>
                <a:t>]”</a:t>
              </a:r>
              <a:endParaRPr lang="ko-KR" altLang="en-US" sz="1400" b="1" dirty="0">
                <a:latin typeface="+mj-ea"/>
                <a:ea typeface="+mj-ea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FC48C16-DBBD-4D7D-8AB4-090163D4FA10}"/>
              </a:ext>
            </a:extLst>
          </p:cNvPr>
          <p:cNvGrpSpPr/>
          <p:nvPr/>
        </p:nvGrpSpPr>
        <p:grpSpPr>
          <a:xfrm>
            <a:off x="5381435" y="4330664"/>
            <a:ext cx="6168863" cy="690759"/>
            <a:chOff x="5818820" y="2738241"/>
            <a:chExt cx="6168863" cy="690759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40A17076-8E23-4DF4-B978-B1F142ADFD4C}"/>
                </a:ext>
              </a:extLst>
            </p:cNvPr>
            <p:cNvSpPr/>
            <p:nvPr/>
          </p:nvSpPr>
          <p:spPr>
            <a:xfrm>
              <a:off x="5818820" y="2738241"/>
              <a:ext cx="6168863" cy="690759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C112017-1842-450F-B555-ADD5D2251B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9268" y="2837296"/>
              <a:ext cx="494435" cy="49443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141518F1-FFAE-4739-9D9D-83834300E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9138" y="2916273"/>
              <a:ext cx="334694" cy="334694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3F9716D-936E-42C6-8896-E3407F0537D7}"/>
                </a:ext>
              </a:extLst>
            </p:cNvPr>
            <p:cNvSpPr txBox="1"/>
            <p:nvPr/>
          </p:nvSpPr>
          <p:spPr>
            <a:xfrm>
              <a:off x="6423703" y="2817862"/>
              <a:ext cx="3981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2026.03.13 JTBC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E818C31-BCF1-4D8C-A73C-2F31DEA1B851}"/>
                </a:ext>
              </a:extLst>
            </p:cNvPr>
            <p:cNvSpPr txBox="1"/>
            <p:nvPr/>
          </p:nvSpPr>
          <p:spPr>
            <a:xfrm>
              <a:off x="6402500" y="3072588"/>
              <a:ext cx="4820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+mj-ea"/>
                  <a:ea typeface="+mj-ea"/>
                </a:rPr>
                <a:t>“</a:t>
              </a:r>
              <a:r>
                <a:rPr lang="ko-KR" altLang="ko-KR" sz="1400" b="1" dirty="0">
                  <a:solidFill>
                    <a:srgbClr val="000000"/>
                  </a:solidFill>
                  <a:latin typeface="+mj-ea"/>
                  <a:ea typeface="+mj-ea"/>
                </a:rPr>
                <a:t>전기차 다음은 '</a:t>
              </a:r>
              <a:r>
                <a:rPr lang="ko-KR" altLang="ko-KR" sz="1400" b="1" dirty="0" err="1">
                  <a:solidFill>
                    <a:srgbClr val="000000"/>
                  </a:solidFill>
                  <a:latin typeface="+mj-ea"/>
                  <a:ea typeface="+mj-ea"/>
                </a:rPr>
                <a:t>AI·로봇</a:t>
              </a:r>
              <a:r>
                <a:rPr lang="ko-KR" altLang="ko-KR" sz="1400" b="1" dirty="0">
                  <a:solidFill>
                    <a:srgbClr val="000000"/>
                  </a:solidFill>
                  <a:latin typeface="+mj-ea"/>
                  <a:ea typeface="+mj-ea"/>
                </a:rPr>
                <a:t>'…베일 벗은 K-배터리 미래 전략</a:t>
              </a:r>
              <a:r>
                <a:rPr lang="en-US" altLang="ko-KR" sz="1400" b="1" dirty="0">
                  <a:solidFill>
                    <a:srgbClr val="000000"/>
                  </a:solidFill>
                  <a:latin typeface="+mj-ea"/>
                  <a:ea typeface="+mj-ea"/>
                </a:rPr>
                <a:t>”</a:t>
              </a:r>
              <a:endParaRPr lang="ko-KR" altLang="ko-KR" sz="14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FE391A3-05E2-40CA-A496-17B048306DF4}"/>
              </a:ext>
            </a:extLst>
          </p:cNvPr>
          <p:cNvGrpSpPr/>
          <p:nvPr/>
        </p:nvGrpSpPr>
        <p:grpSpPr>
          <a:xfrm>
            <a:off x="5381434" y="5363609"/>
            <a:ext cx="6168863" cy="690759"/>
            <a:chOff x="5818820" y="2738241"/>
            <a:chExt cx="6168863" cy="69075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BAB24D2B-69AC-415F-ADD0-5551AC766C6D}"/>
                </a:ext>
              </a:extLst>
            </p:cNvPr>
            <p:cNvSpPr/>
            <p:nvPr/>
          </p:nvSpPr>
          <p:spPr>
            <a:xfrm>
              <a:off x="5818820" y="2738241"/>
              <a:ext cx="6168863" cy="690759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84933CEC-01BC-4D2D-B15C-B08D6E8676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9268" y="2837296"/>
              <a:ext cx="494435" cy="49443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FFF34209-9E3E-4F9E-8204-497A8DD9A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9138" y="2916273"/>
              <a:ext cx="334694" cy="33469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7001ECC-9726-460C-AB5A-65A0D0EE2F74}"/>
                </a:ext>
              </a:extLst>
            </p:cNvPr>
            <p:cNvSpPr txBox="1"/>
            <p:nvPr/>
          </p:nvSpPr>
          <p:spPr>
            <a:xfrm>
              <a:off x="6423703" y="2817862"/>
              <a:ext cx="3981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2026.03.12 </a:t>
              </a:r>
              <a:r>
                <a:rPr lang="ko-KR" altLang="en-US" sz="1200" dirty="0" err="1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뉴시스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413D9BA-943B-4070-A7F7-0D8D67381797}"/>
                </a:ext>
              </a:extLst>
            </p:cNvPr>
            <p:cNvSpPr txBox="1"/>
            <p:nvPr/>
          </p:nvSpPr>
          <p:spPr>
            <a:xfrm>
              <a:off x="6402501" y="3072588"/>
              <a:ext cx="5479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“</a:t>
              </a:r>
              <a:r>
                <a:rPr lang="ko-KR" altLang="en-US" sz="1400" b="1" dirty="0"/>
                <a:t>전기차 넘어 로봇으로</a:t>
              </a:r>
              <a:r>
                <a:rPr lang="en-US" altLang="ko-KR" sz="1400" b="1" dirty="0"/>
                <a:t>…</a:t>
              </a:r>
              <a:r>
                <a:rPr lang="ko-KR" altLang="en-US" sz="1400" b="1" dirty="0" err="1"/>
                <a:t>인터배터리</a:t>
              </a:r>
              <a:r>
                <a:rPr lang="ko-KR" altLang="en-US" sz="1400" b="1" dirty="0"/>
                <a:t> 뒤덮은 </a:t>
              </a:r>
              <a:r>
                <a:rPr lang="en-US" altLang="ko-KR" sz="1400" b="1" dirty="0"/>
                <a:t>'</a:t>
              </a:r>
              <a:r>
                <a:rPr lang="ko-KR" altLang="en-US" sz="1400" b="1" dirty="0" err="1"/>
                <a:t>피지컬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AI </a:t>
              </a:r>
              <a:r>
                <a:rPr lang="ko-KR" altLang="en-US" sz="1400" b="1" dirty="0"/>
                <a:t>배터리</a:t>
              </a:r>
              <a:r>
                <a:rPr lang="en-US" altLang="ko-KR" sz="1400" b="1" dirty="0"/>
                <a:t>’ </a:t>
              </a:r>
              <a:r>
                <a:rPr lang="ko-KR" altLang="en-US" sz="1400" b="1" dirty="0"/>
                <a:t>경쟁</a:t>
              </a:r>
              <a:r>
                <a:rPr lang="en-US" altLang="ko-KR" sz="1400" b="1" dirty="0"/>
                <a:t>”</a:t>
              </a:r>
              <a:endParaRPr lang="ko-KR" altLang="en-US" sz="1100" b="1" dirty="0">
                <a:latin typeface="+mj-ea"/>
                <a:ea typeface="+mj-ea"/>
              </a:endParaRPr>
            </a:p>
          </p:txBody>
        </p:sp>
      </p:grp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D430496-FC96-4464-AAFF-161D16AA1835}"/>
              </a:ext>
            </a:extLst>
          </p:cNvPr>
          <p:cNvSpPr txBox="1"/>
          <p:nvPr/>
        </p:nvSpPr>
        <p:spPr>
          <a:xfrm>
            <a:off x="11581083" y="65888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2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69" name="Text 1">
            <a:extLst>
              <a:ext uri="{FF2B5EF4-FFF2-40B4-BE49-F238E27FC236}">
                <a16:creationId xmlns:a16="http://schemas.microsoft.com/office/drawing/2014/main" id="{7CCA7505-DA6C-4FB9-88B1-7830838C774B}"/>
              </a:ext>
            </a:extLst>
          </p:cNvPr>
          <p:cNvSpPr txBox="1"/>
          <p:nvPr/>
        </p:nvSpPr>
        <p:spPr>
          <a:xfrm>
            <a:off x="609905" y="381305"/>
            <a:ext cx="10597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</a:t>
            </a:r>
            <a:endParaRPr lang="en-US" sz="4200" dirty="0"/>
          </a:p>
        </p:txBody>
      </p:sp>
      <p:sp>
        <p:nvSpPr>
          <p:cNvPr id="70" name="Text 2">
            <a:extLst>
              <a:ext uri="{FF2B5EF4-FFF2-40B4-BE49-F238E27FC236}">
                <a16:creationId xmlns:a16="http://schemas.microsoft.com/office/drawing/2014/main" id="{C33A6A94-C785-474F-8124-5ECF8C147F53}"/>
              </a:ext>
            </a:extLst>
          </p:cNvPr>
          <p:cNvSpPr txBox="1"/>
          <p:nvPr/>
        </p:nvSpPr>
        <p:spPr>
          <a:xfrm>
            <a:off x="1600200" y="485546"/>
            <a:ext cx="2213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기획의도</a:t>
            </a:r>
            <a:endParaRPr lang="en-US" sz="3000" dirty="0"/>
          </a:p>
        </p:txBody>
      </p:sp>
      <p:pic>
        <p:nvPicPr>
          <p:cNvPr id="71" name="Image 1" descr="preencoded.png">
            <a:extLst>
              <a:ext uri="{FF2B5EF4-FFF2-40B4-BE49-F238E27FC236}">
                <a16:creationId xmlns:a16="http://schemas.microsoft.com/office/drawing/2014/main" id="{6FF228EC-0FD4-4C84-8341-2510C08EAE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609905" y="1171346"/>
            <a:ext cx="571500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FBAD568-2361-4CF0-AAAA-450DE08129EE}"/>
              </a:ext>
            </a:extLst>
          </p:cNvPr>
          <p:cNvSpPr/>
          <p:nvPr/>
        </p:nvSpPr>
        <p:spPr>
          <a:xfrm>
            <a:off x="8207644" y="2081174"/>
            <a:ext cx="3457001" cy="2362810"/>
          </a:xfrm>
          <a:prstGeom prst="roundRect">
            <a:avLst>
              <a:gd name="adj" fmla="val 39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D0299D7F-FBA9-46F9-A158-20203B8B4B32}"/>
              </a:ext>
            </a:extLst>
          </p:cNvPr>
          <p:cNvSpPr/>
          <p:nvPr/>
        </p:nvSpPr>
        <p:spPr>
          <a:xfrm>
            <a:off x="4369897" y="2040436"/>
            <a:ext cx="3457001" cy="2362810"/>
          </a:xfrm>
          <a:prstGeom prst="roundRect">
            <a:avLst>
              <a:gd name="adj" fmla="val 39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1FC6C941-6B63-4D90-8B72-22B471731352}"/>
              </a:ext>
            </a:extLst>
          </p:cNvPr>
          <p:cNvSpPr/>
          <p:nvPr/>
        </p:nvSpPr>
        <p:spPr>
          <a:xfrm>
            <a:off x="4369897" y="2005279"/>
            <a:ext cx="3454603" cy="75895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4188A64A-4466-486E-949C-0A83E37238D3}"/>
              </a:ext>
            </a:extLst>
          </p:cNvPr>
          <p:cNvSpPr txBox="1"/>
          <p:nvPr/>
        </p:nvSpPr>
        <p:spPr>
          <a:xfrm>
            <a:off x="4367499" y="2005279"/>
            <a:ext cx="743407" cy="43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B08104D-735B-4D92-98B6-43C0C98486F3}"/>
              </a:ext>
            </a:extLst>
          </p:cNvPr>
          <p:cNvSpPr/>
          <p:nvPr/>
        </p:nvSpPr>
        <p:spPr>
          <a:xfrm>
            <a:off x="607507" y="2081174"/>
            <a:ext cx="3457001" cy="2362810"/>
          </a:xfrm>
          <a:prstGeom prst="roundRect">
            <a:avLst>
              <a:gd name="adj" fmla="val 39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D430496-FC96-4464-AAFF-161D16AA1835}"/>
              </a:ext>
            </a:extLst>
          </p:cNvPr>
          <p:cNvSpPr txBox="1"/>
          <p:nvPr/>
        </p:nvSpPr>
        <p:spPr>
          <a:xfrm>
            <a:off x="11581083" y="65888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3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9E7011D-5455-463D-A56A-A16B877E375D}"/>
              </a:ext>
            </a:extLst>
          </p:cNvPr>
          <p:cNvSpPr/>
          <p:nvPr/>
        </p:nvSpPr>
        <p:spPr>
          <a:xfrm>
            <a:off x="609905" y="2005279"/>
            <a:ext cx="3454603" cy="75895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DA8B7FB-948C-4EED-B6FA-5C6694F8C4CA}"/>
              </a:ext>
            </a:extLst>
          </p:cNvPr>
          <p:cNvSpPr/>
          <p:nvPr/>
        </p:nvSpPr>
        <p:spPr>
          <a:xfrm>
            <a:off x="605109" y="2046227"/>
            <a:ext cx="685800" cy="437998"/>
          </a:xfrm>
          <a:prstGeom prst="roundRect">
            <a:avLst>
              <a:gd name="adj" fmla="val 36307"/>
            </a:avLst>
          </a:prstGeom>
          <a:solidFill>
            <a:schemeClr val="tx2"/>
          </a:solidFill>
          <a:ln>
            <a:solidFill>
              <a:srgbClr val="FFFFFF">
                <a:alpha val="0"/>
              </a:srgbClr>
            </a:solidFill>
          </a:ln>
        </p:spPr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0D6C405-D2BF-4CCD-9A79-50266099C78D}"/>
              </a:ext>
            </a:extLst>
          </p:cNvPr>
          <p:cNvSpPr txBox="1"/>
          <p:nvPr/>
        </p:nvSpPr>
        <p:spPr>
          <a:xfrm>
            <a:off x="664905" y="2013503"/>
            <a:ext cx="575800" cy="438912"/>
          </a:xfrm>
          <a:prstGeom prst="rect">
            <a:avLst/>
          </a:prstGeom>
          <a:solidFill>
            <a:schemeClr val="tx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1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1012499-5CB3-41E1-9710-62ABB4D3B293}"/>
              </a:ext>
            </a:extLst>
          </p:cNvPr>
          <p:cNvSpPr txBox="1"/>
          <p:nvPr/>
        </p:nvSpPr>
        <p:spPr>
          <a:xfrm>
            <a:off x="1166292" y="2867101"/>
            <a:ext cx="29242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</a:t>
            </a:r>
            <a:r>
              <a:rPr lang="en-US" sz="16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로봇용</a:t>
            </a:r>
            <a:r>
              <a:rPr lang="en-US" sz="16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배터리,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전기차 대비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밀도</a:t>
            </a:r>
            <a:r>
              <a:rPr lang="en-US" sz="16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극대화 필요 </a:t>
            </a:r>
            <a:endParaRPr lang="en-US" sz="16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22D1BE8-B8CF-4D27-96F6-780C04A5B63B}"/>
              </a:ext>
            </a:extLst>
          </p:cNvPr>
          <p:cNvSpPr txBox="1"/>
          <p:nvPr/>
        </p:nvSpPr>
        <p:spPr>
          <a:xfrm>
            <a:off x="4900249" y="2867101"/>
            <a:ext cx="29242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0000"/>
                </a:solidFill>
                <a:latin typeface="+mj-ea"/>
                <a:ea typeface="+mj-ea"/>
                <a:cs typeface="Noto Sans KR" pitchFamily="34" charset="-120"/>
              </a:rPr>
              <a:t>화재</a:t>
            </a:r>
            <a:r>
              <a:rPr lang="en-US" sz="1600" b="1" dirty="0">
                <a:solidFill>
                  <a:srgbClr val="FF000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+mj-ea"/>
                <a:ea typeface="+mj-ea"/>
                <a:cs typeface="Noto Sans KR" pitchFamily="34" charset="-120"/>
              </a:rPr>
              <a:t>안전성</a:t>
            </a:r>
            <a:endParaRPr lang="en-US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600" b="1" dirty="0" err="1">
                <a:latin typeface="+mj-ea"/>
                <a:ea typeface="+mj-ea"/>
                <a:cs typeface="Noto Sans KR" pitchFamily="34" charset="-120"/>
              </a:rPr>
              <a:t>과열</a:t>
            </a:r>
            <a:r>
              <a:rPr lang="en-US" sz="1600" b="1" dirty="0"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sz="1600" b="1" dirty="0" err="1">
                <a:latin typeface="+mj-ea"/>
                <a:ea typeface="+mj-ea"/>
                <a:cs typeface="Noto Sans KR" pitchFamily="34" charset="-120"/>
              </a:rPr>
              <a:t>없이</a:t>
            </a:r>
            <a:r>
              <a:rPr lang="en-US" sz="1600" b="1" dirty="0">
                <a:latin typeface="+mj-ea"/>
                <a:ea typeface="+mj-ea"/>
                <a:cs typeface="Noto Sans KR" pitchFamily="34" charset="-120"/>
              </a:rPr>
              <a:t> 장시간 작동해야 함 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326EF8EC-8B2B-49E2-8F66-CEB37551582B}"/>
              </a:ext>
            </a:extLst>
          </p:cNvPr>
          <p:cNvSpPr txBox="1"/>
          <p:nvPr/>
        </p:nvSpPr>
        <p:spPr>
          <a:xfrm>
            <a:off x="8892912" y="2870158"/>
            <a:ext cx="2924251" cy="8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latin typeface="+mj-ea"/>
                <a:ea typeface="+mj-ea"/>
                <a:cs typeface="Noto Sans KR" pitchFamily="34" charset="-120"/>
              </a:rPr>
              <a:t>상업용으로</a:t>
            </a:r>
            <a:r>
              <a:rPr lang="en-US" sz="1600" b="1" dirty="0">
                <a:latin typeface="+mj-ea"/>
                <a:ea typeface="+mj-ea"/>
                <a:cs typeface="Noto Sans KR" pitchFamily="34" charset="-120"/>
              </a:rPr>
              <a:t> 하루 종일 가동.</a:t>
            </a:r>
            <a:endParaRPr lang="en-US" sz="1600" b="1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600" b="1" dirty="0">
                <a:latin typeface="+mj-ea"/>
                <a:ea typeface="+mj-ea"/>
                <a:cs typeface="Noto Sans KR" pitchFamily="34" charset="-120"/>
              </a:rPr>
              <a:t>충방전 사이클 빨라</a:t>
            </a:r>
            <a:endParaRPr lang="en-US" sz="1600" b="1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+mj-ea"/>
                <a:ea typeface="+mj-ea"/>
                <a:cs typeface="Noto Sans KR" pitchFamily="34" charset="-120"/>
              </a:rPr>
              <a:t>배터리 교체 주기도 빨라짐</a:t>
            </a:r>
            <a:endParaRPr lang="en-US" sz="16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25CEF9E1-6BFD-47C0-9DFC-E16081228B7D}"/>
              </a:ext>
            </a:extLst>
          </p:cNvPr>
          <p:cNvSpPr/>
          <p:nvPr/>
        </p:nvSpPr>
        <p:spPr>
          <a:xfrm>
            <a:off x="609905" y="5143500"/>
            <a:ext cx="10972800" cy="800100"/>
          </a:xfrm>
          <a:prstGeom prst="roundRect">
            <a:avLst>
              <a:gd name="adj" fmla="val 2176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E78FD763-3C15-4127-A395-AD94A47EC40A}"/>
              </a:ext>
            </a:extLst>
          </p:cNvPr>
          <p:cNvSpPr txBox="1"/>
          <p:nvPr/>
        </p:nvSpPr>
        <p:spPr>
          <a:xfrm>
            <a:off x="1642861" y="5372100"/>
            <a:ext cx="89062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</a:rPr>
              <a:t>피지컬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AI </a:t>
            </a:r>
            <a:r>
              <a:rPr lang="ko-KR" altLang="en-US" b="1" dirty="0">
                <a:solidFill>
                  <a:schemeClr val="bg1"/>
                </a:solidFill>
              </a:rPr>
              <a:t>시대를 위한 차세대 고성능 배터리 소재 설계 및 진단 </a:t>
            </a:r>
            <a:r>
              <a:rPr lang="en-US" altLang="ko-KR" b="1" dirty="0">
                <a:solidFill>
                  <a:schemeClr val="bg1"/>
                </a:solidFill>
              </a:rPr>
              <a:t>AI </a:t>
            </a:r>
            <a:r>
              <a:rPr lang="ko-KR" altLang="en-US" b="1" dirty="0">
                <a:solidFill>
                  <a:schemeClr val="bg1"/>
                </a:solidFill>
              </a:rPr>
              <a:t>웹 서비스 구현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F5628C-315C-4A64-8761-A148C3367BFA}"/>
              </a:ext>
            </a:extLst>
          </p:cNvPr>
          <p:cNvSpPr/>
          <p:nvPr/>
        </p:nvSpPr>
        <p:spPr>
          <a:xfrm>
            <a:off x="735645" y="1494731"/>
            <a:ext cx="3203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피지컬</a:t>
            </a:r>
            <a:r>
              <a:rPr lang="en-US" altLang="ko-KR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AI용</a:t>
            </a:r>
            <a:r>
              <a:rPr lang="en-US" altLang="ko-KR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배터리</a:t>
            </a:r>
            <a:r>
              <a:rPr lang="en-US" altLang="ko-KR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요구사항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0869CD36-D033-416B-A4A9-129078B01378}"/>
              </a:ext>
            </a:extLst>
          </p:cNvPr>
          <p:cNvSpPr/>
          <p:nvPr/>
        </p:nvSpPr>
        <p:spPr>
          <a:xfrm>
            <a:off x="4366967" y="2048254"/>
            <a:ext cx="685800" cy="437998"/>
          </a:xfrm>
          <a:prstGeom prst="roundRect">
            <a:avLst>
              <a:gd name="adj" fmla="val 3630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">
            <a:extLst>
              <a:ext uri="{FF2B5EF4-FFF2-40B4-BE49-F238E27FC236}">
                <a16:creationId xmlns:a16="http://schemas.microsoft.com/office/drawing/2014/main" id="{1023FEE1-C63A-4059-9D13-7763C4787EEC}"/>
              </a:ext>
            </a:extLst>
          </p:cNvPr>
          <p:cNvSpPr txBox="1"/>
          <p:nvPr/>
        </p:nvSpPr>
        <p:spPr>
          <a:xfrm>
            <a:off x="4421967" y="2032642"/>
            <a:ext cx="575800" cy="438912"/>
          </a:xfrm>
          <a:prstGeom prst="rect">
            <a:avLst/>
          </a:prstGeom>
          <a:solidFill>
            <a:schemeClr val="tx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77" name="Shape 4">
            <a:extLst>
              <a:ext uri="{FF2B5EF4-FFF2-40B4-BE49-F238E27FC236}">
                <a16:creationId xmlns:a16="http://schemas.microsoft.com/office/drawing/2014/main" id="{FDCCAD9C-7B18-4908-9E81-F2BCFACEFE66}"/>
              </a:ext>
            </a:extLst>
          </p:cNvPr>
          <p:cNvSpPr/>
          <p:nvPr/>
        </p:nvSpPr>
        <p:spPr>
          <a:xfrm>
            <a:off x="8210042" y="2005279"/>
            <a:ext cx="3454603" cy="75895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502B4BD2-1292-4B44-850F-04F5029BFEDC}"/>
              </a:ext>
            </a:extLst>
          </p:cNvPr>
          <p:cNvSpPr txBox="1"/>
          <p:nvPr/>
        </p:nvSpPr>
        <p:spPr>
          <a:xfrm>
            <a:off x="8207644" y="2005279"/>
            <a:ext cx="743407" cy="43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91D1981A-0B3A-4142-A208-E8F0ABCEAE61}"/>
              </a:ext>
            </a:extLst>
          </p:cNvPr>
          <p:cNvSpPr/>
          <p:nvPr/>
        </p:nvSpPr>
        <p:spPr>
          <a:xfrm>
            <a:off x="8207112" y="2032025"/>
            <a:ext cx="685800" cy="437998"/>
          </a:xfrm>
          <a:prstGeom prst="roundRect">
            <a:avLst>
              <a:gd name="adj" fmla="val 3630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A69FBD80-7803-461A-BBA5-C12D1126B412}"/>
              </a:ext>
            </a:extLst>
          </p:cNvPr>
          <p:cNvSpPr txBox="1"/>
          <p:nvPr/>
        </p:nvSpPr>
        <p:spPr>
          <a:xfrm>
            <a:off x="8262112" y="2032642"/>
            <a:ext cx="575800" cy="43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AF049452-60C6-4471-BD79-3AC9E70CA594}"/>
              </a:ext>
            </a:extLst>
          </p:cNvPr>
          <p:cNvSpPr txBox="1"/>
          <p:nvPr/>
        </p:nvSpPr>
        <p:spPr>
          <a:xfrm>
            <a:off x="609905" y="381305"/>
            <a:ext cx="10597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</a:t>
            </a:r>
            <a:endParaRPr lang="en-US" sz="420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3998F676-C603-4397-9A42-D93250375B78}"/>
              </a:ext>
            </a:extLst>
          </p:cNvPr>
          <p:cNvSpPr txBox="1"/>
          <p:nvPr/>
        </p:nvSpPr>
        <p:spPr>
          <a:xfrm>
            <a:off x="1600200" y="485546"/>
            <a:ext cx="2213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기획의도</a:t>
            </a:r>
            <a:endParaRPr lang="en-US" sz="3000" dirty="0"/>
          </a:p>
        </p:txBody>
      </p:sp>
      <p:pic>
        <p:nvPicPr>
          <p:cNvPr id="83" name="Image 1" descr="preencoded.png">
            <a:extLst>
              <a:ext uri="{FF2B5EF4-FFF2-40B4-BE49-F238E27FC236}">
                <a16:creationId xmlns:a16="http://schemas.microsoft.com/office/drawing/2014/main" id="{E6ECAC2A-0B13-44AE-B3B3-A70FF5BED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09905" y="1171346"/>
            <a:ext cx="571500" cy="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2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C42FDAFB-FAA3-4CA8-B9F4-231CDF7B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2" b="-22"/>
          <a:stretch/>
        </p:blipFill>
        <p:spPr>
          <a:xfrm>
            <a:off x="6773030" y="3690459"/>
            <a:ext cx="4573811" cy="79660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2BEEBC-E312-4597-A4C7-7FE6F9617710}"/>
              </a:ext>
            </a:extLst>
          </p:cNvPr>
          <p:cNvGrpSpPr/>
          <p:nvPr/>
        </p:nvGrpSpPr>
        <p:grpSpPr>
          <a:xfrm>
            <a:off x="761695" y="1543049"/>
            <a:ext cx="4734764" cy="267005"/>
            <a:chOff x="761695" y="1848002"/>
            <a:chExt cx="4734764" cy="267005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179F49E9-01E5-4EC3-B9E7-42F26D8A1A69}"/>
                </a:ext>
              </a:extLst>
            </p:cNvPr>
            <p:cNvSpPr/>
            <p:nvPr/>
          </p:nvSpPr>
          <p:spPr>
            <a:xfrm>
              <a:off x="761695" y="1848002"/>
              <a:ext cx="38405" cy="267005"/>
            </a:xfrm>
            <a:prstGeom prst="rect">
              <a:avLst/>
            </a:prstGeom>
            <a:solidFill>
              <a:srgbClr val="9CA3AF"/>
            </a:solidFill>
            <a:ln w="12700">
              <a:solidFill>
                <a:srgbClr val="9CA3AF">
                  <a:alpha val="0"/>
                </a:srgbClr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86CFECC-E09B-48A7-9B87-6920591F25E6}"/>
                </a:ext>
              </a:extLst>
            </p:cNvPr>
            <p:cNvSpPr txBox="1"/>
            <p:nvPr/>
          </p:nvSpPr>
          <p:spPr>
            <a:xfrm>
              <a:off x="952805" y="1848002"/>
              <a:ext cx="4543654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 err="1">
                  <a:solidFill>
                    <a:srgbClr val="6B7280"/>
                  </a:solidFill>
                  <a:latin typeface="+mj-ea"/>
                  <a:ea typeface="+mj-ea"/>
                  <a:cs typeface="Noto Sans KR" pitchFamily="34" charset="-120"/>
                </a:rPr>
                <a:t>기존방식</a:t>
              </a:r>
              <a:endParaRPr 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9" name="Shape 14">
            <a:extLst>
              <a:ext uri="{FF2B5EF4-FFF2-40B4-BE49-F238E27FC236}">
                <a16:creationId xmlns:a16="http://schemas.microsoft.com/office/drawing/2014/main" id="{4CD75A8A-522F-4A93-B596-CD9ED79BC35F}"/>
              </a:ext>
            </a:extLst>
          </p:cNvPr>
          <p:cNvSpPr/>
          <p:nvPr/>
        </p:nvSpPr>
        <p:spPr>
          <a:xfrm>
            <a:off x="6815023" y="1543049"/>
            <a:ext cx="38405" cy="26700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95C9E6F3-BE27-41A0-B188-F341892DDF62}"/>
              </a:ext>
            </a:extLst>
          </p:cNvPr>
          <p:cNvSpPr txBox="1"/>
          <p:nvPr/>
        </p:nvSpPr>
        <p:spPr>
          <a:xfrm>
            <a:off x="7006133" y="1543048"/>
            <a:ext cx="454365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+mj-ea"/>
                <a:ea typeface="+mj-ea"/>
                <a:cs typeface="Noto Sans KR" pitchFamily="34" charset="-120"/>
              </a:rPr>
              <a:t>Ai </a:t>
            </a:r>
            <a:r>
              <a:rPr lang="ko-KR" altLang="en-US" sz="1500" b="1" dirty="0">
                <a:solidFill>
                  <a:srgbClr val="1E3A8A"/>
                </a:solidFill>
                <a:latin typeface="+mj-ea"/>
                <a:ea typeface="+mj-ea"/>
                <a:cs typeface="Noto Sans KR" pitchFamily="34" charset="-120"/>
              </a:rPr>
              <a:t>기반 시뮬레이션방식</a:t>
            </a:r>
            <a:endParaRPr lang="en-US" sz="15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0B3B7F0-7347-4A58-A7B3-656F7F12FAA8}"/>
              </a:ext>
            </a:extLst>
          </p:cNvPr>
          <p:cNvGrpSpPr/>
          <p:nvPr/>
        </p:nvGrpSpPr>
        <p:grpSpPr>
          <a:xfrm>
            <a:off x="761695" y="2134971"/>
            <a:ext cx="4573811" cy="804571"/>
            <a:chOff x="784564" y="2655925"/>
            <a:chExt cx="4573811" cy="804571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D435D78D-DAD8-4A9B-B1F3-6D1DCB73FA89}"/>
                </a:ext>
              </a:extLst>
            </p:cNvPr>
            <p:cNvSpPr/>
            <p:nvPr/>
          </p:nvSpPr>
          <p:spPr>
            <a:xfrm>
              <a:off x="784564" y="2655925"/>
              <a:ext cx="4573811" cy="804571"/>
            </a:xfrm>
            <a:prstGeom prst="roundRect">
              <a:avLst>
                <a:gd name="adj" fmla="val 14757"/>
              </a:avLst>
            </a:prstGeom>
            <a:solidFill>
              <a:srgbClr val="F9FAFB"/>
            </a:solidFill>
            <a:ln w="12700">
              <a:solidFill>
                <a:schemeClr val="bg2"/>
              </a:solidFill>
              <a:prstDash val="solid"/>
            </a:ln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31E80AD-80D1-447E-9D93-3688D95A2E2E}"/>
                </a:ext>
              </a:extLst>
            </p:cNvPr>
            <p:cNvSpPr txBox="1"/>
            <p:nvPr/>
          </p:nvSpPr>
          <p:spPr>
            <a:xfrm>
              <a:off x="926713" y="2832948"/>
              <a:ext cx="4291343" cy="2210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+mj-ea"/>
                  <a:ea typeface="+mj-ea"/>
                  <a:cs typeface="Noto Sans KR" pitchFamily="34" charset="-120"/>
                </a:rPr>
                <a:t>연구자 직관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4605CB1B-53F3-4517-A5CA-9F97FF63FBAB}"/>
                </a:ext>
              </a:extLst>
            </p:cNvPr>
            <p:cNvSpPr txBox="1"/>
            <p:nvPr/>
          </p:nvSpPr>
          <p:spPr>
            <a:xfrm>
              <a:off x="926713" y="3130907"/>
              <a:ext cx="4291343" cy="1581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경험 </a:t>
              </a:r>
              <a:r>
                <a:rPr lang="en-US" sz="1100" dirty="0" err="1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의존적</a:t>
              </a:r>
              <a:r>
                <a:rPr lang="en-US" sz="11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1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실험 </a:t>
              </a:r>
              <a:r>
                <a:rPr lang="en-US" sz="1100" dirty="0" err="1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설계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687A750-3A7E-449B-9678-ADAE3A78DE7F}"/>
              </a:ext>
            </a:extLst>
          </p:cNvPr>
          <p:cNvGrpSpPr/>
          <p:nvPr/>
        </p:nvGrpSpPr>
        <p:grpSpPr>
          <a:xfrm>
            <a:off x="784564" y="3691428"/>
            <a:ext cx="4573811" cy="804571"/>
            <a:chOff x="784564" y="4427118"/>
            <a:chExt cx="4573811" cy="804571"/>
          </a:xfrm>
        </p:grpSpPr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A08829F7-2490-4B2B-8C6F-DBC5E18C798B}"/>
                </a:ext>
              </a:extLst>
            </p:cNvPr>
            <p:cNvSpPr/>
            <p:nvPr/>
          </p:nvSpPr>
          <p:spPr>
            <a:xfrm>
              <a:off x="784564" y="4427118"/>
              <a:ext cx="4573811" cy="804571"/>
            </a:xfrm>
            <a:prstGeom prst="roundRect">
              <a:avLst>
                <a:gd name="adj" fmla="val 14757"/>
              </a:avLst>
            </a:prstGeom>
            <a:solidFill>
              <a:srgbClr val="F9FAFB"/>
            </a:solidFill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EDD5E6B2-9AF9-4BEF-B199-A3CABE732326}"/>
                </a:ext>
              </a:extLst>
            </p:cNvPr>
            <p:cNvSpPr txBox="1"/>
            <p:nvPr/>
          </p:nvSpPr>
          <p:spPr>
            <a:xfrm>
              <a:off x="926713" y="4604141"/>
              <a:ext cx="4291343" cy="2210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+mj-ea"/>
                  <a:ea typeface="+mj-ea"/>
                  <a:cs typeface="Noto Sans KR" pitchFamily="34" charset="-120"/>
                </a:rPr>
                <a:t>시행착오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E0BFB0F3-40C3-4CF3-A57E-45BD3752B024}"/>
                </a:ext>
              </a:extLst>
            </p:cNvPr>
            <p:cNvSpPr txBox="1"/>
            <p:nvPr/>
          </p:nvSpPr>
          <p:spPr>
            <a:xfrm>
              <a:off x="963826" y="4903015"/>
              <a:ext cx="4216200" cy="158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ea typeface="Noto Sans KR" pitchFamily="34" charset="-122"/>
                  <a:cs typeface="Noto Sans KR" pitchFamily="34" charset="-120"/>
                </a:rPr>
                <a:t>Trial &amp; Error</a:t>
              </a:r>
              <a:endParaRPr lang="en-US" sz="11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BF095CB-AF2D-4399-B2E2-BB099BB57C49}"/>
              </a:ext>
            </a:extLst>
          </p:cNvPr>
          <p:cNvGrpSpPr/>
          <p:nvPr/>
        </p:nvGrpSpPr>
        <p:grpSpPr>
          <a:xfrm>
            <a:off x="784564" y="5112130"/>
            <a:ext cx="4573811" cy="954000"/>
            <a:chOff x="784564" y="6289849"/>
            <a:chExt cx="4573811" cy="946106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CF854C13-000D-4E07-996E-C457796FC4A5}"/>
                </a:ext>
              </a:extLst>
            </p:cNvPr>
            <p:cNvSpPr/>
            <p:nvPr/>
          </p:nvSpPr>
          <p:spPr>
            <a:xfrm>
              <a:off x="784564" y="6289849"/>
              <a:ext cx="4573811" cy="946106"/>
            </a:xfrm>
            <a:prstGeom prst="roundRect">
              <a:avLst>
                <a:gd name="adj" fmla="val 10667"/>
              </a:avLst>
            </a:prstGeom>
            <a:solidFill>
              <a:srgbClr val="F9FAFB"/>
            </a:solidFill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0EEDB942-2F46-4402-8B10-84D008B4197B}"/>
                </a:ext>
              </a:extLst>
            </p:cNvPr>
            <p:cNvSpPr txBox="1"/>
            <p:nvPr/>
          </p:nvSpPr>
          <p:spPr>
            <a:xfrm>
              <a:off x="926713" y="6508574"/>
              <a:ext cx="4291343" cy="331515"/>
            </a:xfrm>
            <a:prstGeom prst="rect">
              <a:avLst/>
            </a:prstGeom>
            <a:solidFill>
              <a:srgbClr val="F9FAFB"/>
            </a:solidFill>
            <a:ln w="12700">
              <a:noFill/>
              <a:prstDash val="solid"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6B7280"/>
                  </a:solidFill>
                  <a:latin typeface="+mj-ea"/>
                  <a:ea typeface="+mj-ea"/>
                  <a:cs typeface="Noto Sans KR" pitchFamily="34" charset="-120"/>
                </a:rPr>
                <a:t>100</a:t>
              </a:r>
              <a:r>
                <a:rPr lang="en-US" sz="1500" b="1" dirty="0">
                  <a:solidFill>
                    <a:srgbClr val="6B7280"/>
                  </a:solidFill>
                  <a:latin typeface="+mj-ea"/>
                  <a:ea typeface="+mj-ea"/>
                  <a:cs typeface="Noto Sans KR" pitchFamily="34" charset="-120"/>
                </a:rPr>
                <a:t>회</a:t>
              </a:r>
              <a:endParaRPr lang="en-US" sz="2700" dirty="0">
                <a:latin typeface="+mj-ea"/>
                <a:ea typeface="+mj-ea"/>
              </a:endParaRPr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7F85E0D0-A38E-45D8-B7E2-D91F938B54C6}"/>
                </a:ext>
              </a:extLst>
            </p:cNvPr>
            <p:cNvSpPr txBox="1"/>
            <p:nvPr/>
          </p:nvSpPr>
          <p:spPr>
            <a:xfrm>
              <a:off x="926713" y="6966943"/>
              <a:ext cx="4291343" cy="158189"/>
            </a:xfrm>
            <a:prstGeom prst="rect">
              <a:avLst/>
            </a:prstGeom>
            <a:solidFill>
              <a:srgbClr val="F9FAFB"/>
            </a:solidFill>
            <a:ln w="12700">
              <a:noFill/>
              <a:prstDash val="solid"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j-ea"/>
                  <a:ea typeface="+mj-ea"/>
                  <a:cs typeface="Noto Sans KR" pitchFamily="34" charset="-120"/>
                </a:rPr>
                <a:t>실험 소요</a:t>
              </a:r>
              <a:endParaRPr lang="en-US" sz="1000" dirty="0">
                <a:latin typeface="+mj-ea"/>
                <a:ea typeface="+mj-ea"/>
              </a:endParaRPr>
            </a:p>
          </p:txBody>
        </p:sp>
      </p:grp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70DA481E-C99B-4551-A65B-284D9BBC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2" b="-22"/>
          <a:stretch/>
        </p:blipFill>
        <p:spPr>
          <a:xfrm>
            <a:off x="6815023" y="2146489"/>
            <a:ext cx="4573811" cy="796605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375CE757-9ED5-469D-A577-7606F266580B}"/>
              </a:ext>
            </a:extLst>
          </p:cNvPr>
          <p:cNvSpPr txBox="1"/>
          <p:nvPr/>
        </p:nvSpPr>
        <p:spPr>
          <a:xfrm>
            <a:off x="6979127" y="2307750"/>
            <a:ext cx="4291343" cy="22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+mj-ea"/>
                <a:ea typeface="+mj-ea"/>
                <a:cs typeface="Noto Sans KR" pitchFamily="34" charset="-120"/>
              </a:rPr>
              <a:t>데이터 기반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A9349C8-3A35-4E62-B664-03B401C39EDD}"/>
              </a:ext>
            </a:extLst>
          </p:cNvPr>
          <p:cNvSpPr txBox="1"/>
          <p:nvPr/>
        </p:nvSpPr>
        <p:spPr>
          <a:xfrm>
            <a:off x="6979127" y="2605709"/>
            <a:ext cx="4291343" cy="158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2563EB"/>
                </a:solidFill>
                <a:latin typeface="+mj-ea"/>
                <a:ea typeface="+mj-ea"/>
                <a:cs typeface="Noto Sans KR" pitchFamily="34" charset="-120"/>
              </a:rPr>
              <a:t>통계적 근거에 기반한 다음 실험 추천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6E00B704-5149-4711-A317-32BEAB42B1EF}"/>
              </a:ext>
            </a:extLst>
          </p:cNvPr>
          <p:cNvSpPr txBox="1"/>
          <p:nvPr/>
        </p:nvSpPr>
        <p:spPr>
          <a:xfrm>
            <a:off x="7017154" y="3831896"/>
            <a:ext cx="4216200" cy="22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1E3A8A"/>
                </a:solidFill>
                <a:latin typeface="+mj-ea"/>
                <a:cs typeface="Noto Sans KR" pitchFamily="34" charset="-120"/>
              </a:rPr>
              <a:t>AI </a:t>
            </a:r>
            <a:r>
              <a:rPr lang="ko-KR" altLang="en-US" sz="1600" b="1" dirty="0">
                <a:solidFill>
                  <a:srgbClr val="1E3A8A"/>
                </a:solidFill>
                <a:latin typeface="+mj-ea"/>
                <a:cs typeface="Noto Sans KR" pitchFamily="34" charset="-120"/>
              </a:rPr>
              <a:t>시뮬레이션</a:t>
            </a:r>
            <a:endParaRPr lang="en-US" altLang="ko-KR" sz="1600" dirty="0">
              <a:latin typeface="+mj-ea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EAC3E3B0-BF48-4513-AC5E-C77E052617E4}"/>
              </a:ext>
            </a:extLst>
          </p:cNvPr>
          <p:cNvSpPr txBox="1"/>
          <p:nvPr/>
        </p:nvSpPr>
        <p:spPr>
          <a:xfrm>
            <a:off x="6979127" y="4130770"/>
            <a:ext cx="4291343" cy="158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2563EB"/>
                </a:solidFill>
                <a:latin typeface="+mj-ea"/>
                <a:ea typeface="+mj-ea"/>
                <a:cs typeface="Noto Sans KR" pitchFamily="34" charset="-120"/>
              </a:rPr>
              <a:t>실험 없이 가상으로 검증</a:t>
            </a:r>
            <a:endParaRPr lang="en-US" sz="1100" dirty="0">
              <a:latin typeface="+mj-ea"/>
              <a:ea typeface="+mj-ea"/>
            </a:endParaRPr>
          </a:p>
        </p:txBody>
      </p:sp>
      <p:pic>
        <p:nvPicPr>
          <p:cNvPr id="39" name="Image 13" descr="preencoded.png">
            <a:extLst>
              <a:ext uri="{FF2B5EF4-FFF2-40B4-BE49-F238E27FC236}">
                <a16:creationId xmlns:a16="http://schemas.microsoft.com/office/drawing/2014/main" id="{8BC96794-4830-495B-979A-8F226426F5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773030" y="5112130"/>
            <a:ext cx="4573811" cy="952476"/>
          </a:xfrm>
          <a:prstGeom prst="rect">
            <a:avLst/>
          </a:prstGeom>
        </p:spPr>
      </p:pic>
      <p:sp>
        <p:nvSpPr>
          <p:cNvPr id="40" name="Text 20">
            <a:extLst>
              <a:ext uri="{FF2B5EF4-FFF2-40B4-BE49-F238E27FC236}">
                <a16:creationId xmlns:a16="http://schemas.microsoft.com/office/drawing/2014/main" id="{48821846-9C42-4C73-942B-046D4D70360E}"/>
              </a:ext>
            </a:extLst>
          </p:cNvPr>
          <p:cNvSpPr txBox="1"/>
          <p:nvPr/>
        </p:nvSpPr>
        <p:spPr>
          <a:xfrm>
            <a:off x="7074509" y="5305054"/>
            <a:ext cx="4272332" cy="33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altLang="ko-KR" sz="2400" b="1" dirty="0">
                <a:solidFill>
                  <a:srgbClr val="1E3A8A"/>
                </a:solidFill>
                <a:latin typeface="+mj-ea"/>
              </a:rPr>
              <a:t>20~30</a:t>
            </a:r>
            <a:r>
              <a:rPr lang="ko-KR" altLang="en-US" sz="2400" b="1" dirty="0">
                <a:solidFill>
                  <a:srgbClr val="1E3A8A"/>
                </a:solidFill>
                <a:latin typeface="+mj-ea"/>
              </a:rPr>
              <a:t>회</a:t>
            </a:r>
            <a:endParaRPr lang="en-US" altLang="ko-KR" sz="36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D0E2CBA9-84C0-436A-9081-911413CD2B15}"/>
              </a:ext>
            </a:extLst>
          </p:cNvPr>
          <p:cNvSpPr txBox="1"/>
          <p:nvPr/>
        </p:nvSpPr>
        <p:spPr>
          <a:xfrm>
            <a:off x="7111624" y="5763421"/>
            <a:ext cx="4197186" cy="158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chemeClr val="accent1"/>
                </a:solidFill>
                <a:latin typeface="+mj-ea"/>
                <a:ea typeface="+mj-ea"/>
              </a:rPr>
              <a:t>실험 </a:t>
            </a:r>
            <a:r>
              <a:rPr lang="en-US" altLang="ko-KR" sz="1000" dirty="0">
                <a:solidFill>
                  <a:schemeClr val="accent1"/>
                </a:solidFill>
                <a:latin typeface="+mj-ea"/>
                <a:ea typeface="+mj-ea"/>
              </a:rPr>
              <a:t>80% </a:t>
            </a:r>
            <a:r>
              <a:rPr lang="ko-KR" altLang="en-US" sz="1000" dirty="0">
                <a:solidFill>
                  <a:schemeClr val="accent1"/>
                </a:solidFill>
                <a:latin typeface="+mj-ea"/>
                <a:ea typeface="+mj-ea"/>
              </a:rPr>
              <a:t>단축</a:t>
            </a:r>
            <a:endParaRPr lang="en-US" sz="1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AC85EFE9-3113-4D6F-AC1C-E0111549C186}"/>
              </a:ext>
            </a:extLst>
          </p:cNvPr>
          <p:cNvSpPr/>
          <p:nvPr/>
        </p:nvSpPr>
        <p:spPr>
          <a:xfrm>
            <a:off x="780897" y="6366183"/>
            <a:ext cx="38405" cy="28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CB425BF6-3C53-4E46-97A3-A9EEE3842F2F}"/>
              </a:ext>
            </a:extLst>
          </p:cNvPr>
          <p:cNvSpPr txBox="1"/>
          <p:nvPr/>
        </p:nvSpPr>
        <p:spPr>
          <a:xfrm>
            <a:off x="903844" y="6366183"/>
            <a:ext cx="1086523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1E3A8A"/>
                </a:solidFill>
                <a:latin typeface="+mj-ea"/>
                <a:ea typeface="+mj-ea"/>
                <a:cs typeface="Noto Sans KR" pitchFamily="34" charset="-120"/>
              </a:rPr>
              <a:t>목적</a:t>
            </a:r>
            <a:r>
              <a:rPr lang="en-US" sz="1400" b="1" dirty="0">
                <a:solidFill>
                  <a:srgbClr val="1E3A8A"/>
                </a:solidFill>
                <a:latin typeface="+mj-ea"/>
                <a:ea typeface="+mj-ea"/>
                <a:cs typeface="Noto Sans KR" pitchFamily="34" charset="-120"/>
              </a:rPr>
              <a:t>:</a:t>
            </a:r>
            <a:r>
              <a:rPr 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물리</a:t>
            </a:r>
            <a:r>
              <a:rPr 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법칙을 이해하는 AI가 실험 파트너가 되어, 최소한의 실험으로 최적의 소재를 </a:t>
            </a:r>
            <a:r>
              <a:rPr lang="en-US" sz="1400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신속하게</a:t>
            </a:r>
            <a:r>
              <a:rPr 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발굴</a:t>
            </a:r>
            <a:r>
              <a:rPr 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이를 활용한 배터리 성능 예측</a:t>
            </a:r>
            <a:r>
              <a:rPr lang="en-US" sz="14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endParaRPr lang="en-US" sz="1400" b="1" dirty="0">
              <a:latin typeface="+mj-ea"/>
              <a:ea typeface="+mj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C3A6374-0AFB-459A-9571-A004F34E4888}"/>
              </a:ext>
            </a:extLst>
          </p:cNvPr>
          <p:cNvCxnSpPr>
            <a:cxnSpLocks/>
          </p:cNvCxnSpPr>
          <p:nvPr/>
        </p:nvCxnSpPr>
        <p:spPr>
          <a:xfrm>
            <a:off x="3036364" y="3034056"/>
            <a:ext cx="6866" cy="5112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6CDD8F9-7E39-41A0-8F67-4EE034EF5D37}"/>
              </a:ext>
            </a:extLst>
          </p:cNvPr>
          <p:cNvCxnSpPr>
            <a:cxnSpLocks/>
          </p:cNvCxnSpPr>
          <p:nvPr/>
        </p:nvCxnSpPr>
        <p:spPr>
          <a:xfrm>
            <a:off x="3036364" y="4506087"/>
            <a:ext cx="6866" cy="5112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8E36C54-D830-4C69-88F7-CCE63F273231}"/>
              </a:ext>
            </a:extLst>
          </p:cNvPr>
          <p:cNvCxnSpPr>
            <a:cxnSpLocks/>
          </p:cNvCxnSpPr>
          <p:nvPr/>
        </p:nvCxnSpPr>
        <p:spPr>
          <a:xfrm>
            <a:off x="9181653" y="2998432"/>
            <a:ext cx="6866" cy="51125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F812C3D-D493-42A0-A5AD-C2086DF82364}"/>
              </a:ext>
            </a:extLst>
          </p:cNvPr>
          <p:cNvCxnSpPr>
            <a:cxnSpLocks/>
          </p:cNvCxnSpPr>
          <p:nvPr/>
        </p:nvCxnSpPr>
        <p:spPr>
          <a:xfrm>
            <a:off x="9181653" y="4558903"/>
            <a:ext cx="6866" cy="51125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D097FFC0-2FEA-40F3-B51E-44E414377CC0}"/>
              </a:ext>
            </a:extLst>
          </p:cNvPr>
          <p:cNvSpPr/>
          <p:nvPr/>
        </p:nvSpPr>
        <p:spPr>
          <a:xfrm>
            <a:off x="5802801" y="3939324"/>
            <a:ext cx="586397" cy="2988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CEB64B-B6C3-4B2D-95F2-95E8111A22C4}"/>
              </a:ext>
            </a:extLst>
          </p:cNvPr>
          <p:cNvSpPr txBox="1"/>
          <p:nvPr/>
        </p:nvSpPr>
        <p:spPr>
          <a:xfrm>
            <a:off x="11581083" y="65888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4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916DA206-5D1F-4489-A384-9D02001CF92F}"/>
              </a:ext>
            </a:extLst>
          </p:cNvPr>
          <p:cNvSpPr txBox="1"/>
          <p:nvPr/>
        </p:nvSpPr>
        <p:spPr>
          <a:xfrm>
            <a:off x="609905" y="381305"/>
            <a:ext cx="10597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</a:t>
            </a:r>
            <a:endParaRPr lang="en-US" sz="4200" dirty="0"/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8BFD41F8-EE37-4C55-A456-F4FB248432BF}"/>
              </a:ext>
            </a:extLst>
          </p:cNvPr>
          <p:cNvSpPr txBox="1"/>
          <p:nvPr/>
        </p:nvSpPr>
        <p:spPr>
          <a:xfrm>
            <a:off x="1600200" y="485546"/>
            <a:ext cx="2213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기획의도</a:t>
            </a:r>
            <a:endParaRPr lang="en-US" sz="3000" dirty="0"/>
          </a:p>
        </p:txBody>
      </p:sp>
      <p:pic>
        <p:nvPicPr>
          <p:cNvPr id="56" name="Image 1" descr="preencoded.png">
            <a:extLst>
              <a:ext uri="{FF2B5EF4-FFF2-40B4-BE49-F238E27FC236}">
                <a16:creationId xmlns:a16="http://schemas.microsoft.com/office/drawing/2014/main" id="{EAE108EC-25B2-4D44-86F9-4D6F1417E6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609905" y="1171346"/>
            <a:ext cx="571500" cy="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7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4E3AB8D2-4A53-4D54-B659-DEE50B70AA82}"/>
              </a:ext>
            </a:extLst>
          </p:cNvPr>
          <p:cNvSpPr txBox="1"/>
          <p:nvPr/>
        </p:nvSpPr>
        <p:spPr>
          <a:xfrm>
            <a:off x="11581083" y="65888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5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34" name="Text 1">
            <a:extLst>
              <a:ext uri="{FF2B5EF4-FFF2-40B4-BE49-F238E27FC236}">
                <a16:creationId xmlns:a16="http://schemas.microsoft.com/office/drawing/2014/main" id="{7722AFAE-761A-4EA8-952B-BEDF8F4EC299}"/>
              </a:ext>
            </a:extLst>
          </p:cNvPr>
          <p:cNvSpPr txBox="1"/>
          <p:nvPr/>
        </p:nvSpPr>
        <p:spPr>
          <a:xfrm>
            <a:off x="609905" y="381305"/>
            <a:ext cx="10597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</a:t>
            </a:r>
            <a:endParaRPr lang="en-US" sz="4200" dirty="0"/>
          </a:p>
        </p:txBody>
      </p:sp>
      <p:sp>
        <p:nvSpPr>
          <p:cNvPr id="135" name="Text 2">
            <a:extLst>
              <a:ext uri="{FF2B5EF4-FFF2-40B4-BE49-F238E27FC236}">
                <a16:creationId xmlns:a16="http://schemas.microsoft.com/office/drawing/2014/main" id="{1565C142-CDB3-4F5D-9C0C-B31D344AFAE2}"/>
              </a:ext>
            </a:extLst>
          </p:cNvPr>
          <p:cNvSpPr txBox="1"/>
          <p:nvPr/>
        </p:nvSpPr>
        <p:spPr>
          <a:xfrm>
            <a:off x="1600200" y="485546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개발목표</a:t>
            </a:r>
            <a:r>
              <a:rPr 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(1</a:t>
            </a:r>
            <a:r>
              <a:rPr lang="ko-KR" alt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</a:t>
            </a:r>
            <a:r>
              <a:rPr lang="en-US" altLang="ko-KR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3000" dirty="0"/>
          </a:p>
        </p:txBody>
      </p:sp>
      <p:pic>
        <p:nvPicPr>
          <p:cNvPr id="136" name="Image 1" descr="preencoded.png">
            <a:extLst>
              <a:ext uri="{FF2B5EF4-FFF2-40B4-BE49-F238E27FC236}">
                <a16:creationId xmlns:a16="http://schemas.microsoft.com/office/drawing/2014/main" id="{6420327B-4933-4D6B-AF76-3DA4D285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09905" y="1171346"/>
            <a:ext cx="571500" cy="57607"/>
          </a:xfrm>
          <a:prstGeom prst="rect">
            <a:avLst/>
          </a:prstGeom>
        </p:spPr>
      </p:pic>
      <p:sp>
        <p:nvSpPr>
          <p:cNvPr id="157" name="Shape 4">
            <a:extLst>
              <a:ext uri="{FF2B5EF4-FFF2-40B4-BE49-F238E27FC236}">
                <a16:creationId xmlns:a16="http://schemas.microsoft.com/office/drawing/2014/main" id="{6F5044EF-CB99-4A91-8D84-F6D30E128DAB}"/>
              </a:ext>
            </a:extLst>
          </p:cNvPr>
          <p:cNvSpPr/>
          <p:nvPr/>
        </p:nvSpPr>
        <p:spPr>
          <a:xfrm>
            <a:off x="1181405" y="1431951"/>
            <a:ext cx="32580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8" name="Text 5">
            <a:extLst>
              <a:ext uri="{FF2B5EF4-FFF2-40B4-BE49-F238E27FC236}">
                <a16:creationId xmlns:a16="http://schemas.microsoft.com/office/drawing/2014/main" id="{CD9FB34F-B16C-4A47-B51F-5CBFD67DEA70}"/>
              </a:ext>
            </a:extLst>
          </p:cNvPr>
          <p:cNvSpPr txBox="1"/>
          <p:nvPr/>
        </p:nvSpPr>
        <p:spPr>
          <a:xfrm>
            <a:off x="1181405" y="1498603"/>
            <a:ext cx="3372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 01</a:t>
            </a:r>
            <a:endParaRPr lang="en-US" sz="1400" dirty="0"/>
          </a:p>
        </p:txBody>
      </p:sp>
      <p:sp>
        <p:nvSpPr>
          <p:cNvPr id="159" name="Text 6">
            <a:extLst>
              <a:ext uri="{FF2B5EF4-FFF2-40B4-BE49-F238E27FC236}">
                <a16:creationId xmlns:a16="http://schemas.microsoft.com/office/drawing/2014/main" id="{75B8A81D-0ADE-44B8-88FF-6C3CBDC28D4D}"/>
              </a:ext>
            </a:extLst>
          </p:cNvPr>
          <p:cNvSpPr txBox="1"/>
          <p:nvPr/>
        </p:nvSpPr>
        <p:spPr>
          <a:xfrm>
            <a:off x="1188719" y="1709884"/>
            <a:ext cx="335767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400" b="1" kern="0" spc="-4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PINN </a:t>
            </a:r>
            <a:r>
              <a:rPr lang="ko-KR" altLang="en-US" sz="2400" b="1" kern="0" spc="-4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소</a:t>
            </a:r>
            <a:r>
              <a:rPr lang="en-US" sz="2400" b="1" kern="0" spc="-4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 물성 예측</a:t>
            </a:r>
            <a:endParaRPr lang="en-US" sz="2400" dirty="0"/>
          </a:p>
        </p:txBody>
      </p:sp>
      <p:sp>
        <p:nvSpPr>
          <p:cNvPr id="170" name="Shape 17">
            <a:extLst>
              <a:ext uri="{FF2B5EF4-FFF2-40B4-BE49-F238E27FC236}">
                <a16:creationId xmlns:a16="http://schemas.microsoft.com/office/drawing/2014/main" id="{6F2C6727-2436-4D99-BF04-D4DF8B8ACAFA}"/>
              </a:ext>
            </a:extLst>
          </p:cNvPr>
          <p:cNvSpPr/>
          <p:nvPr/>
        </p:nvSpPr>
        <p:spPr>
          <a:xfrm>
            <a:off x="6783159" y="1422350"/>
            <a:ext cx="32580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1" name="Text 18">
            <a:extLst>
              <a:ext uri="{FF2B5EF4-FFF2-40B4-BE49-F238E27FC236}">
                <a16:creationId xmlns:a16="http://schemas.microsoft.com/office/drawing/2014/main" id="{6DEA3B74-446C-479A-AF15-602962A50170}"/>
              </a:ext>
            </a:extLst>
          </p:cNvPr>
          <p:cNvSpPr txBox="1"/>
          <p:nvPr/>
        </p:nvSpPr>
        <p:spPr>
          <a:xfrm>
            <a:off x="6940712" y="1451153"/>
            <a:ext cx="3372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 02</a:t>
            </a:r>
            <a:endParaRPr lang="en-US" sz="1400" dirty="0"/>
          </a:p>
        </p:txBody>
      </p:sp>
      <p:sp>
        <p:nvSpPr>
          <p:cNvPr id="181" name="Text 31">
            <a:extLst>
              <a:ext uri="{FF2B5EF4-FFF2-40B4-BE49-F238E27FC236}">
                <a16:creationId xmlns:a16="http://schemas.microsoft.com/office/drawing/2014/main" id="{7E6F56B2-34A9-4998-8204-FD5F13588BC0}"/>
              </a:ext>
            </a:extLst>
          </p:cNvPr>
          <p:cNvSpPr txBox="1"/>
          <p:nvPr/>
        </p:nvSpPr>
        <p:spPr>
          <a:xfrm>
            <a:off x="6783159" y="1751017"/>
            <a:ext cx="335767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기반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퇴화 예측</a:t>
            </a:r>
            <a:endParaRPr lang="en-US" sz="240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E673084-33B7-4E44-8A10-F9A33970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931" y="2427862"/>
            <a:ext cx="432842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양극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소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재 조성 입력 시 형성에너지,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밴드갭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, 열역학 안정성 예측</a:t>
            </a:r>
            <a:b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손실함수에 물리 법칙(SEI 성장 모델,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Arrhenius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온도 의존성) </a:t>
            </a:r>
            <a:b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</a:b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통합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해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물리적으로 타당한 예측</a:t>
            </a:r>
            <a:b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</a:b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소량 데이터(50건 미만)에서도 일반 ML 대비 높은 정확도 달성 </a:t>
            </a:r>
            <a:b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</a:b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기존 대비 다양한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양극재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데이터(NCM/NCA/LFP/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Na-ion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) 활용 </a:t>
            </a:r>
          </a:p>
        </p:txBody>
      </p:sp>
      <p:sp>
        <p:nvSpPr>
          <p:cNvPr id="183" name="Rectangle 1">
            <a:extLst>
              <a:ext uri="{FF2B5EF4-FFF2-40B4-BE49-F238E27FC236}">
                <a16:creationId xmlns:a16="http://schemas.microsoft.com/office/drawing/2014/main" id="{5955291B-411D-45F4-86BA-9F5ABB9EB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286" y="2512500"/>
            <a:ext cx="460094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100" dirty="0">
                <a:latin typeface="+mj-ea"/>
                <a:ea typeface="+mj-ea"/>
              </a:rPr>
              <a:t> 사이클별 전압</a:t>
            </a:r>
            <a:r>
              <a:rPr lang="en-US" altLang="ko-KR" sz="1100" dirty="0">
                <a:latin typeface="+mj-ea"/>
                <a:ea typeface="+mj-ea"/>
              </a:rPr>
              <a:t>/</a:t>
            </a:r>
            <a:r>
              <a:rPr lang="ko-KR" altLang="en-US" sz="1100" dirty="0">
                <a:latin typeface="+mj-ea"/>
                <a:ea typeface="+mj-ea"/>
              </a:rPr>
              <a:t>전류</a:t>
            </a:r>
            <a:r>
              <a:rPr lang="en-US" altLang="ko-KR" sz="1100" dirty="0">
                <a:latin typeface="+mj-ea"/>
                <a:ea typeface="+mj-ea"/>
              </a:rPr>
              <a:t>/</a:t>
            </a:r>
            <a:r>
              <a:rPr lang="ko-KR" altLang="en-US" sz="1100" dirty="0">
                <a:latin typeface="+mj-ea"/>
                <a:ea typeface="+mj-ea"/>
              </a:rPr>
              <a:t>온도 패턴을 학습하여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  SOH(</a:t>
            </a:r>
            <a:r>
              <a:rPr lang="ko-KR" altLang="en-US" sz="1100" dirty="0">
                <a:latin typeface="+mj-ea"/>
                <a:ea typeface="+mj-ea"/>
              </a:rPr>
              <a:t>건강상태</a:t>
            </a:r>
            <a:r>
              <a:rPr lang="en-US" altLang="ko-KR" sz="1100" dirty="0">
                <a:latin typeface="+mj-ea"/>
                <a:ea typeface="+mj-ea"/>
              </a:rPr>
              <a:t>) </a:t>
            </a:r>
            <a:r>
              <a:rPr lang="ko-KR" altLang="en-US" sz="1100" dirty="0">
                <a:latin typeface="+mj-ea"/>
                <a:ea typeface="+mj-ea"/>
              </a:rPr>
              <a:t>추정 및 </a:t>
            </a:r>
            <a:r>
              <a:rPr lang="en-US" altLang="ko-KR" sz="1100" dirty="0">
                <a:latin typeface="+mj-ea"/>
                <a:ea typeface="+mj-ea"/>
              </a:rPr>
              <a:t>RUL(</a:t>
            </a:r>
            <a:r>
              <a:rPr lang="ko-KR" altLang="en-US" sz="1100" dirty="0">
                <a:latin typeface="+mj-ea"/>
                <a:ea typeface="+mj-ea"/>
              </a:rPr>
              <a:t>잔여수명</a:t>
            </a:r>
            <a:r>
              <a:rPr lang="en-US" altLang="ko-KR" sz="1100" dirty="0">
                <a:latin typeface="+mj-ea"/>
                <a:ea typeface="+mj-ea"/>
              </a:rPr>
              <a:t>) </a:t>
            </a:r>
            <a:r>
              <a:rPr lang="ko-KR" altLang="en-US" sz="1100" dirty="0">
                <a:latin typeface="+mj-ea"/>
                <a:ea typeface="+mj-ea"/>
              </a:rPr>
              <a:t>예측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ko-KR" altLang="en-US" sz="1100" dirty="0">
                <a:latin typeface="+mj-ea"/>
                <a:ea typeface="+mj-ea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100" dirty="0">
                <a:latin typeface="+mj-ea"/>
                <a:ea typeface="+mj-ea"/>
              </a:rPr>
              <a:t> PINN </a:t>
            </a:r>
            <a:r>
              <a:rPr lang="ko-KR" altLang="en-US" sz="1100" dirty="0">
                <a:latin typeface="+mj-ea"/>
                <a:ea typeface="+mj-ea"/>
              </a:rPr>
              <a:t>퇴화 모델과 </a:t>
            </a:r>
            <a:r>
              <a:rPr lang="ko-KR" altLang="en-US" sz="1100" dirty="0" err="1">
                <a:latin typeface="+mj-ea"/>
                <a:ea typeface="+mj-ea"/>
              </a:rPr>
              <a:t>앙상블하여</a:t>
            </a:r>
            <a:r>
              <a:rPr lang="ko-KR" altLang="en-US" sz="1100" dirty="0">
                <a:latin typeface="+mj-ea"/>
                <a:ea typeface="+mj-ea"/>
              </a:rPr>
              <a:t> </a:t>
            </a:r>
            <a:r>
              <a:rPr lang="ko-KR" altLang="en-US" sz="1100" dirty="0" err="1">
                <a:latin typeface="+mj-ea"/>
                <a:ea typeface="+mj-ea"/>
              </a:rPr>
              <a:t>외삽</a:t>
            </a:r>
            <a:r>
              <a:rPr lang="ko-KR" altLang="en-US" sz="1100" dirty="0">
                <a:latin typeface="+mj-ea"/>
                <a:ea typeface="+mj-ea"/>
              </a:rPr>
              <a:t> 영역에서도 물리적 일관성 유지 </a:t>
            </a:r>
            <a:br>
              <a:rPr lang="en-US" altLang="ko-KR" sz="1100" dirty="0">
                <a:latin typeface="+mj-ea"/>
                <a:ea typeface="+mj-ea"/>
              </a:rPr>
            </a:br>
            <a:endParaRPr lang="ko-KR" altLang="en-US" sz="1100" dirty="0"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100" dirty="0">
                <a:latin typeface="+mj-ea"/>
                <a:ea typeface="+mj-ea"/>
              </a:rPr>
              <a:t> 1</a:t>
            </a:r>
            <a:r>
              <a:rPr lang="ko-KR" altLang="en-US" sz="1100" dirty="0">
                <a:latin typeface="+mj-ea"/>
                <a:ea typeface="+mj-ea"/>
              </a:rPr>
              <a:t>단계 소재 물성 예측 결과와 연결하여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ko-KR" altLang="en-US" sz="1100" dirty="0">
                <a:latin typeface="+mj-ea"/>
                <a:ea typeface="+mj-ea"/>
              </a:rPr>
              <a:t>　소재 변경 시 수명 변화 시뮬레이션</a:t>
            </a:r>
          </a:p>
        </p:txBody>
      </p:sp>
      <p:sp>
        <p:nvSpPr>
          <p:cNvPr id="186" name="Text 7">
            <a:extLst>
              <a:ext uri="{FF2B5EF4-FFF2-40B4-BE49-F238E27FC236}">
                <a16:creationId xmlns:a16="http://schemas.microsoft.com/office/drawing/2014/main" id="{D4ADA806-8DCA-4403-B792-80CC845E08D5}"/>
              </a:ext>
            </a:extLst>
          </p:cNvPr>
          <p:cNvSpPr txBox="1"/>
          <p:nvPr/>
        </p:nvSpPr>
        <p:spPr>
          <a:xfrm>
            <a:off x="6730509" y="4133383"/>
            <a:ext cx="3372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독립변수 (Input)</a:t>
            </a:r>
            <a:endParaRPr lang="en-US" sz="1000" dirty="0"/>
          </a:p>
        </p:txBody>
      </p:sp>
      <p:sp>
        <p:nvSpPr>
          <p:cNvPr id="187" name="Text 12">
            <a:extLst>
              <a:ext uri="{FF2B5EF4-FFF2-40B4-BE49-F238E27FC236}">
                <a16:creationId xmlns:a16="http://schemas.microsoft.com/office/drawing/2014/main" id="{7A0CA977-BA9D-4A08-AFA4-A1D8C3FA99EA}"/>
              </a:ext>
            </a:extLst>
          </p:cNvPr>
          <p:cNvSpPr txBox="1"/>
          <p:nvPr/>
        </p:nvSpPr>
        <p:spPr>
          <a:xfrm>
            <a:off x="1188719" y="5254501"/>
            <a:ext cx="3372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타겟변수</a:t>
            </a:r>
            <a:r>
              <a:rPr lang="en-US" sz="1000" b="1" kern="0" spc="54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(Output)</a:t>
            </a:r>
            <a:endParaRPr lang="en-US" sz="1000" dirty="0"/>
          </a:p>
        </p:txBody>
      </p:sp>
      <p:sp>
        <p:nvSpPr>
          <p:cNvPr id="188" name="Text 7">
            <a:extLst>
              <a:ext uri="{FF2B5EF4-FFF2-40B4-BE49-F238E27FC236}">
                <a16:creationId xmlns:a16="http://schemas.microsoft.com/office/drawing/2014/main" id="{7D113556-FFB3-46CE-BA79-51C958B6EBC0}"/>
              </a:ext>
            </a:extLst>
          </p:cNvPr>
          <p:cNvSpPr txBox="1"/>
          <p:nvPr/>
        </p:nvSpPr>
        <p:spPr>
          <a:xfrm>
            <a:off x="1188719" y="4103272"/>
            <a:ext cx="3372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독립변수 (Input)</a:t>
            </a:r>
            <a:endParaRPr lang="en-US" sz="1000" dirty="0"/>
          </a:p>
        </p:txBody>
      </p:sp>
      <p:sp>
        <p:nvSpPr>
          <p:cNvPr id="189" name="Text 12">
            <a:extLst>
              <a:ext uri="{FF2B5EF4-FFF2-40B4-BE49-F238E27FC236}">
                <a16:creationId xmlns:a16="http://schemas.microsoft.com/office/drawing/2014/main" id="{2E2AAC1B-194F-4193-89DD-ABAC497DD1DA}"/>
              </a:ext>
            </a:extLst>
          </p:cNvPr>
          <p:cNvSpPr txBox="1"/>
          <p:nvPr/>
        </p:nvSpPr>
        <p:spPr>
          <a:xfrm>
            <a:off x="6730509" y="4860721"/>
            <a:ext cx="3372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타겟변수 (Output)</a:t>
            </a:r>
            <a:endParaRPr lang="en-US" sz="1000" dirty="0"/>
          </a:p>
        </p:txBody>
      </p:sp>
      <p:pic>
        <p:nvPicPr>
          <p:cNvPr id="192" name="Image 7" descr="preencoded.png">
            <a:extLst>
              <a:ext uri="{FF2B5EF4-FFF2-40B4-BE49-F238E27FC236}">
                <a16:creationId xmlns:a16="http://schemas.microsoft.com/office/drawing/2014/main" id="{5C92F7C6-79DC-48DE-B0ED-1F05EAEA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1188719" y="6251300"/>
            <a:ext cx="152705" cy="171907"/>
          </a:xfrm>
          <a:prstGeom prst="rect">
            <a:avLst/>
          </a:prstGeom>
        </p:spPr>
      </p:pic>
      <p:sp>
        <p:nvSpPr>
          <p:cNvPr id="193" name="Text 29">
            <a:extLst>
              <a:ext uri="{FF2B5EF4-FFF2-40B4-BE49-F238E27FC236}">
                <a16:creationId xmlns:a16="http://schemas.microsoft.com/office/drawing/2014/main" id="{E2F2594B-94E4-4800-A9D9-0B276DBE4D46}"/>
              </a:ext>
            </a:extLst>
          </p:cNvPr>
          <p:cNvSpPr txBox="1"/>
          <p:nvPr/>
        </p:nvSpPr>
        <p:spPr>
          <a:xfrm>
            <a:off x="1397783" y="6218834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3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82A2004-9DEB-4284-A087-C5B9129FEAAB}"/>
              </a:ext>
            </a:extLst>
          </p:cNvPr>
          <p:cNvSpPr txBox="1"/>
          <p:nvPr/>
        </p:nvSpPr>
        <p:spPr>
          <a:xfrm>
            <a:off x="1188719" y="4361311"/>
            <a:ext cx="4184159" cy="94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조성: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Ni, Co, Mn, Al 등</a:t>
            </a:r>
            <a:b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altLang="ko-KR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격자상수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밀도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Cathod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crystal_system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nsites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nelements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540D81-0C44-4948-ACDC-15A56A424A7C}"/>
              </a:ext>
            </a:extLst>
          </p:cNvPr>
          <p:cNvSpPr/>
          <p:nvPr/>
        </p:nvSpPr>
        <p:spPr>
          <a:xfrm>
            <a:off x="1132360" y="5493191"/>
            <a:ext cx="14702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Formation Energy</a:t>
            </a:r>
          </a:p>
          <a:p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Band Gap</a:t>
            </a:r>
          </a:p>
          <a:p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이론 용량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886112A-101D-4DC1-8CA4-0DA05B0FECC8}"/>
              </a:ext>
            </a:extLst>
          </p:cNvPr>
          <p:cNvSpPr txBox="1"/>
          <p:nvPr/>
        </p:nvSpPr>
        <p:spPr>
          <a:xfrm>
            <a:off x="6730509" y="4238539"/>
            <a:ext cx="4184159" cy="506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수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전압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전압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충전 시간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저항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09F29CB4-597A-42A6-9ED3-CF44872ACFAB}"/>
              </a:ext>
            </a:extLst>
          </p:cNvPr>
          <p:cNvSpPr txBox="1"/>
          <p:nvPr/>
        </p:nvSpPr>
        <p:spPr>
          <a:xfrm>
            <a:off x="6730508" y="5050370"/>
            <a:ext cx="4184159" cy="506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수명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현재 상태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(SOH)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EACB33-FD89-4ED3-AC73-F531EFBE32D2}"/>
              </a:ext>
            </a:extLst>
          </p:cNvPr>
          <p:cNvSpPr/>
          <p:nvPr/>
        </p:nvSpPr>
        <p:spPr>
          <a:xfrm>
            <a:off x="1313691" y="6493596"/>
            <a:ext cx="5747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Battery Dataset, Materials Project(API), CALCE Battery Data, AFLOW(API)</a:t>
            </a:r>
          </a:p>
        </p:txBody>
      </p:sp>
    </p:spTree>
    <p:extLst>
      <p:ext uri="{BB962C8B-B14F-4D97-AF65-F5344CB8AC3E}">
        <p14:creationId xmlns:p14="http://schemas.microsoft.com/office/powerpoint/2010/main" val="283119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4E3AB8D2-4A53-4D54-B659-DEE50B70AA82}"/>
              </a:ext>
            </a:extLst>
          </p:cNvPr>
          <p:cNvSpPr txBox="1"/>
          <p:nvPr/>
        </p:nvSpPr>
        <p:spPr>
          <a:xfrm>
            <a:off x="11581083" y="65888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6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34" name="Text 1">
            <a:extLst>
              <a:ext uri="{FF2B5EF4-FFF2-40B4-BE49-F238E27FC236}">
                <a16:creationId xmlns:a16="http://schemas.microsoft.com/office/drawing/2014/main" id="{7722AFAE-761A-4EA8-952B-BEDF8F4EC299}"/>
              </a:ext>
            </a:extLst>
          </p:cNvPr>
          <p:cNvSpPr txBox="1"/>
          <p:nvPr/>
        </p:nvSpPr>
        <p:spPr>
          <a:xfrm>
            <a:off x="609905" y="381305"/>
            <a:ext cx="10597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</a:t>
            </a:r>
            <a:endParaRPr lang="en-US" sz="4200" dirty="0"/>
          </a:p>
        </p:txBody>
      </p:sp>
      <p:sp>
        <p:nvSpPr>
          <p:cNvPr id="135" name="Text 2">
            <a:extLst>
              <a:ext uri="{FF2B5EF4-FFF2-40B4-BE49-F238E27FC236}">
                <a16:creationId xmlns:a16="http://schemas.microsoft.com/office/drawing/2014/main" id="{1565C142-CDB3-4F5D-9C0C-B31D344AFAE2}"/>
              </a:ext>
            </a:extLst>
          </p:cNvPr>
          <p:cNvSpPr txBox="1"/>
          <p:nvPr/>
        </p:nvSpPr>
        <p:spPr>
          <a:xfrm>
            <a:off x="1600200" y="485546"/>
            <a:ext cx="2213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목표</a:t>
            </a:r>
            <a:endParaRPr lang="en-US" sz="3000" dirty="0"/>
          </a:p>
        </p:txBody>
      </p:sp>
      <p:pic>
        <p:nvPicPr>
          <p:cNvPr id="136" name="Image 1" descr="preencoded.png">
            <a:extLst>
              <a:ext uri="{FF2B5EF4-FFF2-40B4-BE49-F238E27FC236}">
                <a16:creationId xmlns:a16="http://schemas.microsoft.com/office/drawing/2014/main" id="{6420327B-4933-4D6B-AF76-3DA4D2853B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609905" y="1171346"/>
            <a:ext cx="571500" cy="57607"/>
          </a:xfrm>
          <a:prstGeom prst="rect">
            <a:avLst/>
          </a:prstGeom>
        </p:spPr>
      </p:pic>
      <p:sp>
        <p:nvSpPr>
          <p:cNvPr id="157" name="Shape 4">
            <a:extLst>
              <a:ext uri="{FF2B5EF4-FFF2-40B4-BE49-F238E27FC236}">
                <a16:creationId xmlns:a16="http://schemas.microsoft.com/office/drawing/2014/main" id="{6F5044EF-CB99-4A91-8D84-F6D30E128DAB}"/>
              </a:ext>
            </a:extLst>
          </p:cNvPr>
          <p:cNvSpPr/>
          <p:nvPr/>
        </p:nvSpPr>
        <p:spPr>
          <a:xfrm>
            <a:off x="1181405" y="1431951"/>
            <a:ext cx="32580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E24986-A238-4544-87D3-9DA028C63FA3}"/>
              </a:ext>
            </a:extLst>
          </p:cNvPr>
          <p:cNvSpPr/>
          <p:nvPr/>
        </p:nvSpPr>
        <p:spPr>
          <a:xfrm>
            <a:off x="1139800" y="1494731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개발 스케줄표</a:t>
            </a:r>
            <a:endParaRPr lang="en-US" altLang="ko-KR" dirty="0">
              <a:latin typeface="+mj-ea"/>
              <a:ea typeface="+mj-ea"/>
            </a:endParaRPr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F867BA01-DF9C-4363-9D34-41787AA4B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338317"/>
              </p:ext>
            </p:extLst>
          </p:nvPr>
        </p:nvGraphicFramePr>
        <p:xfrm>
          <a:off x="647700" y="1069975"/>
          <a:ext cx="10896600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5" imgW="10896686" imgH="4714818" progId="Excel.Sheet.12">
                  <p:link updateAutomatic="1"/>
                </p:oleObj>
              </mc:Choice>
              <mc:Fallback>
                <p:oleObj name="Worksheet" r:id="rId5" imgW="10896686" imgH="471481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700" y="1069975"/>
                        <a:ext cx="10896600" cy="471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53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507E346-A9F4-421D-BF13-BB601CBC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2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7C6B0B-3516-439D-823A-942D69D2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3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457</Words>
  <Application>Microsoft Office PowerPoint</Application>
  <PresentationFormat>와이드스크린</PresentationFormat>
  <Paragraphs>82</Paragraphs>
  <Slides>8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Noto Sans KR</vt:lpstr>
      <vt:lpstr>맑은 고딕</vt:lpstr>
      <vt:lpstr>Arial</vt:lpstr>
      <vt:lpstr>Calibri</vt:lpstr>
      <vt:lpstr>Office Theme</vt:lpstr>
      <vt:lpstr>C:\Users\403_21\Downloads\NASA_데이터_기반_배터리_PINN_및_BO_개발_스케줄표-Genspark_AI_Sheets-20260316_0947.xlsx!개발 스케줄표!R1C1:R23C22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403_21</cp:lastModifiedBy>
  <cp:revision>43</cp:revision>
  <dcterms:created xsi:type="dcterms:W3CDTF">2026-03-13T04:46:39Z</dcterms:created>
  <dcterms:modified xsi:type="dcterms:W3CDTF">2026-03-16T02:35:15Z</dcterms:modified>
</cp:coreProperties>
</file>