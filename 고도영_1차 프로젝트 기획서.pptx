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61" r:id="rId5"/>
    <p:sldId id="267" r:id="rId6"/>
    <p:sldId id="266" r:id="rId7"/>
    <p:sldId id="265" r:id="rId8"/>
    <p:sldId id="259" r:id="rId9"/>
    <p:sldId id="260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96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555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303" autoAdjust="0"/>
    <p:restoredTop sz="94610"/>
  </p:normalViewPr>
  <p:slideViewPr>
    <p:cSldViewPr snapToGrid="0" snapToObjects="1">
      <p:cViewPr varScale="1">
        <p:scale>
          <a:sx n="130" d="100"/>
          <a:sy n="130" d="100"/>
        </p:scale>
        <p:origin x="1014" y="336"/>
      </p:cViewPr>
      <p:guideLst>
        <p:guide orient="horz" pos="2096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82458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3FDD0E-E3EC-23BC-BD3C-22480CD863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22CDB5-A7D9-718D-FC13-261F3F9D7B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EDB62F-605D-A620-9D53-7EEAFC6D96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FD278E-B386-031A-FA0C-608D144CED6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020411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6858000" y="3383280"/>
            <a:ext cx="2286000" cy="7315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772400" y="2743200"/>
            <a:ext cx="1371600" cy="7315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48640" y="2278626"/>
            <a:ext cx="1371600" cy="20854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48640" y="256032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256032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프로젝트 기획서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619433" y="33626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ko-KR" sz="14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</a:t>
            </a:r>
            <a:r>
              <a:rPr lang="ko-KR" altLang="en-US" sz="14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기반 </a:t>
            </a:r>
            <a:r>
              <a:rPr lang="en-US" altLang="ko-KR" sz="14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NCM </a:t>
            </a:r>
            <a:r>
              <a:rPr lang="ko-KR" altLang="en-US" sz="1400" dirty="0" err="1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양극재</a:t>
            </a:r>
            <a:r>
              <a:rPr lang="ko-KR" altLang="en-US" sz="14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방전 용량 예측 모델 및 웹서비스 개발</a:t>
            </a:r>
            <a:endParaRPr lang="en-US" sz="1400" dirty="0"/>
          </a:p>
        </p:txBody>
      </p:sp>
      <p:sp>
        <p:nvSpPr>
          <p:cNvPr id="10" name="TextBox 9">
            <a:extLst>
              <a:ext uri="{1E2761F4-FFF2-40B4-BE49-F238E27FC236}">
                <a16:creationId xmlns:a16="http://schemas.microsoft.com/office/drawing/2014/main" xmlns="" id="{0901847A-539D-7E22-21C0-F8397E3E1B84}"/>
              </a:ext>
            </a:extLst>
          </p:cNvPr>
          <p:cNvSpPr txBox="1"/>
          <p:nvPr/>
        </p:nvSpPr>
        <p:spPr>
          <a:xfrm>
            <a:off x="548640" y="3862476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/>
              <a:t>고도영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256032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11480" y="621792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 의도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11480" y="1188720"/>
            <a:ext cx="8321040" cy="0"/>
          </a:xfrm>
          <a:prstGeom prst="line">
            <a:avLst/>
          </a:prstGeom>
          <a:noFill/>
          <a:ln w="1016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106433" y="1313688"/>
            <a:ext cx="1005840" cy="594360"/>
          </a:xfrm>
          <a:prstGeom prst="ellipse">
            <a:avLst/>
          </a:prstGeom>
          <a:solidFill>
            <a:srgbClr val="CADCFC"/>
          </a:solidFill>
          <a:ln w="19050">
            <a:solidFill>
              <a:srgbClr val="1E2761"/>
            </a:solidFill>
            <a:prstDash val="solid"/>
          </a:ln>
        </p:spPr>
        <p:txBody>
          <a:bodyPr anchor="ctr"/>
          <a:lstStyle/>
          <a:p>
            <a:pPr algn="ctr"/>
            <a:r>
              <a:rPr lang="ko-KR" altLang="en-US" sz="1200" b="1" dirty="0" err="1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</a:rPr>
              <a:t>양극재</a:t>
            </a:r>
            <a:endParaRPr lang="ko-KR" altLang="en-US" sz="1200" b="1" dirty="0">
              <a:solidFill>
                <a:srgbClr val="1E2761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9" name="Shape 7"/>
          <p:cNvSpPr/>
          <p:nvPr/>
        </p:nvSpPr>
        <p:spPr>
          <a:xfrm>
            <a:off x="1106433" y="2011680"/>
            <a:ext cx="1005840" cy="594360"/>
          </a:xfrm>
          <a:prstGeom prst="ellipse">
            <a:avLst/>
          </a:prstGeom>
          <a:solidFill>
            <a:srgbClr val="CADCFC"/>
          </a:solidFill>
          <a:ln w="1905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1106433" y="2011680"/>
            <a:ext cx="1005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음극재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106433" y="2724912"/>
            <a:ext cx="1005840" cy="594360"/>
          </a:xfrm>
          <a:prstGeom prst="ellipse">
            <a:avLst/>
          </a:prstGeom>
          <a:solidFill>
            <a:srgbClr val="CADCFC"/>
          </a:solidFill>
          <a:ln w="19050">
            <a:solidFill>
              <a:srgbClr val="1E2761"/>
            </a:solidFill>
            <a:prstDash val="solid"/>
          </a:ln>
        </p:spPr>
        <p:txBody>
          <a:bodyPr anchor="ctr"/>
          <a:lstStyle/>
          <a:p>
            <a:pPr algn="ctr"/>
            <a:r>
              <a:rPr lang="ko-KR" altLang="en-US" sz="1200" b="1" dirty="0" err="1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</a:rPr>
              <a:t>분리막</a:t>
            </a:r>
            <a:endParaRPr lang="ko-KR" altLang="en-US" sz="1200" b="1" dirty="0">
              <a:solidFill>
                <a:srgbClr val="1E2761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1106433" y="3438144"/>
            <a:ext cx="1005840" cy="594360"/>
          </a:xfrm>
          <a:prstGeom prst="ellipse">
            <a:avLst/>
          </a:prstGeom>
          <a:solidFill>
            <a:srgbClr val="CADCFC"/>
          </a:solidFill>
          <a:ln w="19050">
            <a:solidFill>
              <a:srgbClr val="1E2761"/>
            </a:solidFill>
            <a:prstDash val="solid"/>
          </a:ln>
        </p:spPr>
        <p:txBody>
          <a:bodyPr anchor="ctr"/>
          <a:lstStyle/>
          <a:p>
            <a:pPr algn="ctr"/>
            <a:r>
              <a:rPr lang="ko-KR" altLang="en-US" sz="1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</a:rPr>
              <a:t>전해질</a:t>
            </a:r>
          </a:p>
        </p:txBody>
      </p:sp>
      <p:sp>
        <p:nvSpPr>
          <p:cNvPr id="18" name="Shape 16"/>
          <p:cNvSpPr/>
          <p:nvPr/>
        </p:nvSpPr>
        <p:spPr>
          <a:xfrm>
            <a:off x="2999241" y="1677924"/>
            <a:ext cx="1554480" cy="155448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 w="12700">
            <a:noFill/>
            <a:prstDash val="solid"/>
          </a:ln>
        </p:spPr>
        <p:txBody>
          <a:bodyPr anchor="ctr"/>
          <a:lstStyle/>
          <a:p>
            <a:pPr algn="ctr"/>
            <a:r>
              <a:rPr lang="en-US" altLang="ko-KR" b="1" dirty="0">
                <a:latin typeface="+mj-ea"/>
                <a:ea typeface="+mj-ea"/>
              </a:rPr>
              <a:t>2</a:t>
            </a:r>
            <a:r>
              <a:rPr lang="ko-KR" altLang="en-US" b="1" dirty="0" err="1">
                <a:latin typeface="+mj-ea"/>
                <a:ea typeface="+mj-ea"/>
              </a:rPr>
              <a:t>차전지</a:t>
            </a:r>
            <a:endParaRPr lang="ko-KR" altLang="en-US" b="1" dirty="0">
              <a:latin typeface="+mj-ea"/>
              <a:ea typeface="+mj-ea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6912873" y="1325880"/>
            <a:ext cx="1005840" cy="6858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6912873" y="1325880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ESS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912873" y="2176272"/>
            <a:ext cx="1005840" cy="6858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6912873" y="2176272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912873" y="3026664"/>
            <a:ext cx="1005840" cy="6858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6912873" y="3026664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로봇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11480" y="4160520"/>
            <a:ext cx="8321040" cy="0"/>
          </a:xfrm>
          <a:prstGeom prst="line">
            <a:avLst/>
          </a:prstGeom>
          <a:noFill/>
          <a:ln w="1016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411480" y="4206240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배터리</a:t>
            </a:r>
            <a:r>
              <a:rPr lang="en-US" sz="13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소재, </a:t>
            </a:r>
            <a:r>
              <a:rPr lang="en-US" sz="13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중요한가?</a:t>
            </a:r>
            <a:endParaRPr lang="en-US" sz="1300" dirty="0"/>
          </a:p>
        </p:txBody>
      </p:sp>
      <p:grpSp>
        <p:nvGrpSpPr>
          <p:cNvPr id="16" name="그룹 15">
            <a:extLst>
              <a:ext uri="{1E2761F4-FFF2-40B4-BE49-F238E27FC236}">
                <a16:creationId xmlns:a16="http://schemas.microsoft.com/office/drawing/2014/main" xmlns="" id="{1BC1B2EE-C5F4-0661-0DD5-D8CCCDA8FFB6}"/>
              </a:ext>
            </a:extLst>
          </p:cNvPr>
          <p:cNvGrpSpPr/>
          <p:nvPr/>
        </p:nvGrpSpPr>
        <p:grpSpPr>
          <a:xfrm>
            <a:off x="3171930" y="4462272"/>
            <a:ext cx="2697480" cy="371540"/>
            <a:chOff x="384048" y="4462272"/>
            <a:chExt cx="2697480" cy="371540"/>
          </a:xfrm>
        </p:grpSpPr>
        <p:sp>
          <p:nvSpPr>
            <p:cNvPr id="30" name="Shape 28"/>
            <p:cNvSpPr/>
            <p:nvPr/>
          </p:nvSpPr>
          <p:spPr>
            <a:xfrm>
              <a:off x="384048" y="4462272"/>
              <a:ext cx="2697480" cy="347472"/>
            </a:xfrm>
            <a:prstGeom prst="rect">
              <a:avLst/>
            </a:prstGeom>
            <a:solidFill>
              <a:srgbClr val="F5F5F5"/>
            </a:solidFill>
            <a:ln w="6350">
              <a:solidFill>
                <a:srgbClr val="DDDDDD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1" name="Shape 29"/>
            <p:cNvSpPr/>
            <p:nvPr/>
          </p:nvSpPr>
          <p:spPr>
            <a:xfrm>
              <a:off x="384048" y="4462272"/>
              <a:ext cx="54864" cy="347472"/>
            </a:xfrm>
            <a:prstGeom prst="rect">
              <a:avLst/>
            </a:prstGeom>
            <a:solidFill>
              <a:srgbClr val="1E2761"/>
            </a:solidFill>
            <a:ln w="12700">
              <a:solidFill>
                <a:srgbClr val="1E2761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2" name="Text 30"/>
            <p:cNvSpPr/>
            <p:nvPr/>
          </p:nvSpPr>
          <p:spPr>
            <a:xfrm>
              <a:off x="521208" y="4486340"/>
              <a:ext cx="256032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50" dirty="0" err="1">
                  <a:solidFill>
                    <a:srgbClr val="555555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배터리</a:t>
              </a:r>
              <a:r>
                <a:rPr lang="en-US" sz="950" dirty="0">
                  <a:solidFill>
                    <a:srgbClr val="555555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 </a:t>
              </a:r>
              <a:r>
                <a:rPr lang="en-US" sz="950" dirty="0" err="1">
                  <a:solidFill>
                    <a:srgbClr val="555555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원가에서</a:t>
              </a:r>
              <a:r>
                <a:rPr lang="en-US" sz="950" dirty="0">
                  <a:solidFill>
                    <a:srgbClr val="555555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 </a:t>
              </a:r>
              <a:r>
                <a:rPr lang="ko-KR" altLang="en-US" sz="950" dirty="0">
                  <a:solidFill>
                    <a:srgbClr val="555555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소재</a:t>
              </a:r>
              <a:r>
                <a:rPr lang="en-US" sz="950" dirty="0">
                  <a:solidFill>
                    <a:srgbClr val="555555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가 </a:t>
              </a:r>
              <a:r>
                <a:rPr lang="en-US" sz="950" dirty="0" err="1">
                  <a:solidFill>
                    <a:srgbClr val="555555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차지하는</a:t>
              </a:r>
              <a:r>
                <a:rPr lang="en-US" sz="950" dirty="0">
                  <a:solidFill>
                    <a:srgbClr val="555555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 </a:t>
              </a:r>
              <a:r>
                <a:rPr lang="en-US" sz="950" dirty="0" err="1">
                  <a:solidFill>
                    <a:srgbClr val="555555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비중</a:t>
              </a:r>
              <a:r>
                <a:rPr lang="en-US" sz="950" dirty="0">
                  <a:solidFill>
                    <a:srgbClr val="555555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 </a:t>
              </a:r>
              <a:r>
                <a:rPr lang="ko-KR" altLang="en-US" sz="950" dirty="0">
                  <a:solidFill>
                    <a:srgbClr val="1E2761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약 </a:t>
              </a:r>
              <a:r>
                <a:rPr lang="en-US" altLang="ko-KR" sz="950" dirty="0">
                  <a:solidFill>
                    <a:srgbClr val="1E2761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70%</a:t>
              </a:r>
              <a:endParaRPr lang="en-US" sz="950" dirty="0">
                <a:solidFill>
                  <a:srgbClr val="1E2761"/>
                </a:solidFill>
              </a:endParaRPr>
            </a:p>
          </p:txBody>
        </p:sp>
      </p:grpSp>
      <p:grpSp>
        <p:nvGrpSpPr>
          <p:cNvPr id="14" name="그룹 13">
            <a:extLst>
              <a:ext uri="{1E2761F4-FFF2-40B4-BE49-F238E27FC236}">
                <a16:creationId xmlns:a16="http://schemas.microsoft.com/office/drawing/2014/main" xmlns="" id="{A5870FA1-1DF2-1951-C02D-C71E5ABA4AE3}"/>
              </a:ext>
            </a:extLst>
          </p:cNvPr>
          <p:cNvGrpSpPr/>
          <p:nvPr/>
        </p:nvGrpSpPr>
        <p:grpSpPr>
          <a:xfrm>
            <a:off x="336252" y="4460029"/>
            <a:ext cx="2715768" cy="368002"/>
            <a:chOff x="3182112" y="4462272"/>
            <a:chExt cx="2715768" cy="368002"/>
          </a:xfrm>
        </p:grpSpPr>
        <p:grpSp>
          <p:nvGrpSpPr>
            <p:cNvPr id="7" name="그룹 6">
              <a:extLst>
                <a:ext uri="{1E2761F4-FFF2-40B4-BE49-F238E27FC236}">
                  <a16:creationId xmlns:a16="http://schemas.microsoft.com/office/drawing/2014/main" xmlns="" id="{E5700C0F-C5A3-63A3-57DC-0370DCEB5105}"/>
                </a:ext>
              </a:extLst>
            </p:cNvPr>
            <p:cNvGrpSpPr/>
            <p:nvPr/>
          </p:nvGrpSpPr>
          <p:grpSpPr>
            <a:xfrm>
              <a:off x="3182112" y="4462272"/>
              <a:ext cx="2715768" cy="368002"/>
              <a:chOff x="3182112" y="4462272"/>
              <a:chExt cx="2715768" cy="368002"/>
            </a:xfrm>
          </p:grpSpPr>
          <p:sp>
            <p:nvSpPr>
              <p:cNvPr id="33" name="Shape 31"/>
              <p:cNvSpPr/>
              <p:nvPr/>
            </p:nvSpPr>
            <p:spPr>
              <a:xfrm>
                <a:off x="3200400" y="4462272"/>
                <a:ext cx="2697480" cy="347472"/>
              </a:xfrm>
              <a:prstGeom prst="rect">
                <a:avLst/>
              </a:prstGeom>
              <a:solidFill>
                <a:srgbClr val="F5F5F5"/>
              </a:solidFill>
              <a:ln w="6350">
                <a:solidFill>
                  <a:srgbClr val="DDDDDD"/>
                </a:solidFill>
                <a:prstDash val="solid"/>
              </a:ln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35" name="Text 33"/>
              <p:cNvSpPr/>
              <p:nvPr/>
            </p:nvSpPr>
            <p:spPr>
              <a:xfrm>
                <a:off x="3182112" y="4482802"/>
                <a:ext cx="2560320" cy="34747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950" dirty="0">
                    <a:solidFill>
                      <a:srgbClr val="555555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2030년 글로벌 EV </a:t>
                </a:r>
                <a:r>
                  <a:rPr lang="en-US" sz="950" dirty="0" err="1">
                    <a:solidFill>
                      <a:srgbClr val="555555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시장</a:t>
                </a:r>
                <a:r>
                  <a:rPr lang="en-US" sz="950" dirty="0">
                    <a:solidFill>
                      <a:srgbClr val="555555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 </a:t>
                </a:r>
                <a:r>
                  <a:rPr lang="en-US" sz="950" dirty="0" err="1">
                    <a:solidFill>
                      <a:srgbClr val="555555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규모</a:t>
                </a:r>
                <a:r>
                  <a:rPr lang="en-US" sz="950" dirty="0">
                    <a:solidFill>
                      <a:srgbClr val="555555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 </a:t>
                </a:r>
                <a:r>
                  <a:rPr lang="en-US" sz="950" dirty="0">
                    <a:solidFill>
                      <a:srgbClr val="1E2761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800</a:t>
                </a:r>
                <a:r>
                  <a:rPr lang="ko-KR" altLang="en-US" sz="950" dirty="0">
                    <a:solidFill>
                      <a:srgbClr val="1E2761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조</a:t>
                </a:r>
                <a:r>
                  <a:rPr lang="en-US" sz="950" dirty="0">
                    <a:solidFill>
                      <a:srgbClr val="555555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 전망</a:t>
                </a:r>
                <a:endParaRPr lang="en-US" sz="950" dirty="0"/>
              </a:p>
            </p:txBody>
          </p:sp>
        </p:grpSp>
        <p:sp>
          <p:nvSpPr>
            <p:cNvPr id="34" name="Shape 32"/>
            <p:cNvSpPr/>
            <p:nvPr/>
          </p:nvSpPr>
          <p:spPr>
            <a:xfrm>
              <a:off x="3200400" y="4462272"/>
              <a:ext cx="54864" cy="347472"/>
            </a:xfrm>
            <a:prstGeom prst="rect">
              <a:avLst/>
            </a:prstGeom>
            <a:solidFill>
              <a:srgbClr val="1E2761"/>
            </a:solidFill>
            <a:ln w="12700">
              <a:solidFill>
                <a:srgbClr val="1E2761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36" name="Shape 34"/>
          <p:cNvSpPr/>
          <p:nvPr/>
        </p:nvSpPr>
        <p:spPr>
          <a:xfrm>
            <a:off x="6016752" y="4462272"/>
            <a:ext cx="2697480" cy="347472"/>
          </a:xfrm>
          <a:prstGeom prst="rect">
            <a:avLst/>
          </a:prstGeom>
          <a:solidFill>
            <a:srgbClr val="F5F5F5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5"/>
          <p:cNvSpPr/>
          <p:nvPr/>
        </p:nvSpPr>
        <p:spPr>
          <a:xfrm>
            <a:off x="6016752" y="4462272"/>
            <a:ext cx="54864" cy="34747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/>
          <p:nvPr/>
        </p:nvSpPr>
        <p:spPr>
          <a:xfrm>
            <a:off x="5869410" y="4462272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 err="1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소재</a:t>
            </a:r>
            <a:r>
              <a:rPr lang="en-US" sz="950" b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950" b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특성</a:t>
            </a:r>
            <a:r>
              <a:rPr lang="en-US" sz="950" b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9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</a:t>
            </a:r>
            <a:r>
              <a:rPr lang="ko-KR" altLang="en-US" sz="950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용량</a:t>
            </a:r>
            <a:r>
              <a:rPr lang="en-US" sz="950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·수명·안전성 </a:t>
            </a:r>
            <a:r>
              <a:rPr lang="en-US" sz="95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</a:t>
            </a:r>
            <a:endParaRPr lang="en-US" sz="950" dirty="0"/>
          </a:p>
        </p:txBody>
      </p:sp>
      <p:sp>
        <p:nvSpPr>
          <p:cNvPr id="39" name="화살표: 오른쪽 38">
            <a:extLst>
              <a:ext uri="{1E2761F4-FFF2-40B4-BE49-F238E27FC236}">
                <a16:creationId xmlns:a16="http://schemas.microsoft.com/office/drawing/2014/main" xmlns="" id="{ED1D415B-3662-8392-E360-55813A7418CB}"/>
              </a:ext>
            </a:extLst>
          </p:cNvPr>
          <p:cNvSpPr/>
          <p:nvPr/>
        </p:nvSpPr>
        <p:spPr>
          <a:xfrm>
            <a:off x="4590970" y="1838777"/>
            <a:ext cx="2223126" cy="1296785"/>
          </a:xfrm>
          <a:prstGeom prst="rightArrow">
            <a:avLst/>
          </a:prstGeom>
          <a:solidFill>
            <a:srgbClr val="1E276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41" name="직선 화살표 연결선 40">
            <a:extLst>
              <a:ext uri="{1E2761F4-FFF2-40B4-BE49-F238E27FC236}">
                <a16:creationId xmlns:a16="http://schemas.microsoft.com/office/drawing/2014/main" xmlns="" id="{B877D27B-7B55-8A7C-84AC-44B30230C5C6}"/>
              </a:ext>
            </a:extLst>
          </p:cNvPr>
          <p:cNvCxnSpPr>
            <a:cxnSpLocks/>
          </p:cNvCxnSpPr>
          <p:nvPr/>
        </p:nvCxnSpPr>
        <p:spPr>
          <a:xfrm>
            <a:off x="2112273" y="1753362"/>
            <a:ext cx="819345" cy="267462"/>
          </a:xfrm>
          <a:prstGeom prst="straightConnector1">
            <a:avLst/>
          </a:prstGeom>
          <a:noFill/>
          <a:ln w="19050">
            <a:solidFill>
              <a:srgbClr val="1E2761"/>
            </a:solidFill>
            <a:prstDash val="solid"/>
            <a:headEnd type="none" w="med" len="med"/>
            <a:tailEnd type="arrow" w="med" len="med"/>
          </a:ln>
        </p:spPr>
      </p:cxnSp>
      <p:cxnSp>
        <p:nvCxnSpPr>
          <p:cNvPr id="42" name="직선 화살표 연결선 41">
            <a:extLst>
              <a:ext uri="{1E2761F4-FFF2-40B4-BE49-F238E27FC236}">
                <a16:creationId xmlns:a16="http://schemas.microsoft.com/office/drawing/2014/main" xmlns="" id="{D17AB079-4ECE-98CD-49A1-C0BE9FEB6BF7}"/>
              </a:ext>
            </a:extLst>
          </p:cNvPr>
          <p:cNvCxnSpPr>
            <a:cxnSpLocks/>
          </p:cNvCxnSpPr>
          <p:nvPr/>
        </p:nvCxnSpPr>
        <p:spPr>
          <a:xfrm>
            <a:off x="2146935" y="2331721"/>
            <a:ext cx="769053" cy="21335"/>
          </a:xfrm>
          <a:prstGeom prst="straightConnector1">
            <a:avLst/>
          </a:prstGeom>
          <a:noFill/>
          <a:ln w="19050">
            <a:solidFill>
              <a:srgbClr val="1E2761"/>
            </a:solidFill>
            <a:prstDash val="solid"/>
            <a:headEnd type="none" w="med" len="med"/>
            <a:tailEnd type="arrow" w="med" len="med"/>
          </a:ln>
        </p:spPr>
      </p:cxnSp>
      <p:cxnSp>
        <p:nvCxnSpPr>
          <p:cNvPr id="44" name="직선 화살표 연결선 43">
            <a:extLst>
              <a:ext uri="{1E2761F4-FFF2-40B4-BE49-F238E27FC236}">
                <a16:creationId xmlns:a16="http://schemas.microsoft.com/office/drawing/2014/main" xmlns="" id="{4879C562-7989-63C2-D2E7-C73D3A4F2504}"/>
              </a:ext>
            </a:extLst>
          </p:cNvPr>
          <p:cNvCxnSpPr>
            <a:cxnSpLocks/>
          </p:cNvCxnSpPr>
          <p:nvPr/>
        </p:nvCxnSpPr>
        <p:spPr>
          <a:xfrm flipV="1">
            <a:off x="2112273" y="2743201"/>
            <a:ext cx="819345" cy="152401"/>
          </a:xfrm>
          <a:prstGeom prst="straightConnector1">
            <a:avLst/>
          </a:prstGeom>
          <a:noFill/>
          <a:ln w="19050">
            <a:solidFill>
              <a:srgbClr val="1E2761"/>
            </a:solidFill>
            <a:prstDash val="solid"/>
            <a:headEnd type="none" w="med" len="med"/>
            <a:tailEnd type="arrow" w="med" len="med"/>
          </a:ln>
        </p:spPr>
      </p:cxnSp>
      <p:cxnSp>
        <p:nvCxnSpPr>
          <p:cNvPr id="46" name="직선 화살표 연결선 45">
            <a:extLst>
              <a:ext uri="{1E2761F4-FFF2-40B4-BE49-F238E27FC236}">
                <a16:creationId xmlns:a16="http://schemas.microsoft.com/office/drawing/2014/main" xmlns="" id="{7C39CFBA-254F-34AA-3E1D-0AA26D6CB151}"/>
              </a:ext>
            </a:extLst>
          </p:cNvPr>
          <p:cNvCxnSpPr>
            <a:cxnSpLocks/>
          </p:cNvCxnSpPr>
          <p:nvPr/>
        </p:nvCxnSpPr>
        <p:spPr>
          <a:xfrm flipV="1">
            <a:off x="2146935" y="3165347"/>
            <a:ext cx="886968" cy="368808"/>
          </a:xfrm>
          <a:prstGeom prst="straightConnector1">
            <a:avLst/>
          </a:prstGeom>
          <a:noFill/>
          <a:ln w="19050">
            <a:solidFill>
              <a:srgbClr val="1E2761"/>
            </a:solidFill>
            <a:prstDash val="solid"/>
            <a:headEnd type="none" w="med" len="med"/>
            <a:tailEnd type="arrow" w="med" len="med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256032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11480" y="621792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 의도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11480" y="1188720"/>
            <a:ext cx="8321040" cy="0"/>
          </a:xfrm>
          <a:prstGeom prst="line">
            <a:avLst/>
          </a:prstGeom>
          <a:noFill/>
          <a:ln w="1016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411480" y="1261872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</a:t>
            </a:r>
            <a:r>
              <a:rPr lang="en-US" sz="1700" b="1" dirty="0" err="1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기반</a:t>
            </a:r>
            <a:r>
              <a:rPr lang="en-US" sz="17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7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배터리</a:t>
            </a:r>
            <a:r>
              <a:rPr lang="en-US" sz="17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7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소재</a:t>
            </a:r>
            <a:r>
              <a:rPr lang="en-US" sz="17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용량 예측의 필요성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0" y="1719072"/>
            <a:ext cx="0" cy="3063240"/>
          </a:xfrm>
          <a:prstGeom prst="line">
            <a:avLst/>
          </a:prstGeom>
          <a:noFill/>
          <a:ln w="1016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411480" y="1737360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소재 개발 방식의 한계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11480" y="2103120"/>
            <a:ext cx="3931920" cy="0"/>
          </a:xfrm>
          <a:prstGeom prst="line">
            <a:avLst/>
          </a:prstGeom>
          <a:noFill/>
          <a:ln w="1524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411480" y="2176272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</a:t>
            </a:r>
            <a:r>
              <a:rPr lang="en-US" sz="1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광대한 조성 공간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11480" y="2404872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- 도핑 원소 조합 증가로 실험적 탐색 한계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11480" y="2660904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</a:t>
            </a:r>
            <a:r>
              <a:rPr lang="en-US" sz="1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높은 시간·비용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11480" y="2889504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- 단일 실험에 수십 일 </a:t>
            </a:r>
            <a:r>
              <a:rPr lang="en-US" sz="1050" dirty="0" err="1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소요</a:t>
            </a:r>
            <a:r>
              <a:rPr lang="en-US" sz="10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(0.1C </a:t>
            </a:r>
            <a:r>
              <a:rPr lang="ko-KR" altLang="en-US" sz="10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</a:t>
            </a:r>
            <a:r>
              <a:rPr lang="en-US" altLang="ko-KR" sz="10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</a:t>
            </a:r>
            <a:r>
              <a:rPr lang="ko-KR" altLang="en-US" sz="10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사이클 </a:t>
            </a:r>
            <a:r>
              <a:rPr lang="en-US" altLang="ko-KR" sz="10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r>
              <a:rPr lang="ko-KR" altLang="en-US" sz="10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 소요</a:t>
            </a:r>
            <a:r>
              <a:rPr lang="en-US" altLang="ko-KR" sz="10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11480" y="3090672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 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11480" y="3169504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</a:t>
            </a:r>
            <a:r>
              <a:rPr lang="en-US" sz="1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비체계적 설계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11480" y="341228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- 연구자 경험·직관 의존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11480" y="3634712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- 정량적 설계 기준 부재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11480" y="3862389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</a:t>
            </a:r>
            <a:r>
              <a:rPr lang="ko-KR" altLang="en-US" sz="1200" b="1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컴퓨팅 시뮬레이션</a:t>
            </a:r>
            <a:r>
              <a:rPr lang="en-US" sz="1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기반 접근의 한계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11480" y="4098072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- </a:t>
            </a:r>
            <a:r>
              <a:rPr lang="ko-KR" altLang="en-US" sz="10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고성능 컴퓨팅 인프라 필요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11480" y="4320509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- </a:t>
            </a:r>
            <a:r>
              <a:rPr lang="ko-KR" altLang="en-US" sz="10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재료 원자 배열의 정확한 묘사에 의존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754880" y="1737360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</a:t>
            </a:r>
            <a:r>
              <a:rPr lang="en-US" sz="1300" b="1" dirty="0" err="1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기반</a:t>
            </a:r>
            <a:r>
              <a:rPr lang="en-US" sz="13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3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배터리 소재 개발 방식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754880" y="2103120"/>
            <a:ext cx="3931920" cy="0"/>
          </a:xfrm>
          <a:prstGeom prst="line">
            <a:avLst/>
          </a:prstGeom>
          <a:noFill/>
          <a:ln w="1524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4754880" y="2176272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</a:t>
            </a:r>
            <a:r>
              <a:rPr lang="en-US" sz="1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소재 개발 및 탐색 속도 가속화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800601" y="2433168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sz="1050" dirty="0"/>
              <a:t> - </a:t>
            </a:r>
            <a:r>
              <a:rPr lang="ko-KR" altLang="en-US" sz="1050" dirty="0"/>
              <a:t>광범위한 조성 공간에서 유망 후보 물질을 단시간에 선별하여 </a:t>
            </a:r>
            <a:br>
              <a:rPr lang="en-US" altLang="ko-KR" sz="1050" dirty="0"/>
            </a:br>
            <a:r>
              <a:rPr lang="en-US" altLang="ko-KR" sz="1050" dirty="0"/>
              <a:t>   </a:t>
            </a:r>
            <a:r>
              <a:rPr lang="ko-KR" altLang="en-US" sz="1050" dirty="0"/>
              <a:t>실험 횟수를 단축</a:t>
            </a:r>
            <a:endParaRPr lang="en-US" altLang="ko-KR" sz="1050" dirty="0"/>
          </a:p>
        </p:txBody>
      </p:sp>
      <p:sp>
        <p:nvSpPr>
          <p:cNvPr id="25" name="Text 23"/>
          <p:cNvSpPr/>
          <p:nvPr/>
        </p:nvSpPr>
        <p:spPr>
          <a:xfrm>
            <a:off x="4754880" y="3063240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</a:t>
            </a:r>
            <a:r>
              <a:rPr lang="ko-KR" altLang="en-US" sz="1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변수를 통한 메커니즘 규명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709160" y="3300288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55555"/>
                </a:solidFill>
                <a:latin typeface="+mn-ea"/>
                <a:cs typeface="Malgun Gothic" pitchFamily="34" charset="-120"/>
              </a:rPr>
              <a:t>   - </a:t>
            </a:r>
            <a:r>
              <a:rPr lang="ko-KR" altLang="en-US" sz="1050" dirty="0">
                <a:solidFill>
                  <a:srgbClr val="555555"/>
                </a:solidFill>
                <a:latin typeface="+mn-ea"/>
                <a:cs typeface="Malgun Gothic" pitchFamily="34" charset="-120"/>
              </a:rPr>
              <a:t>다양한 변수</a:t>
            </a:r>
            <a:r>
              <a:rPr lang="en-US" altLang="ko-KR" sz="1050" dirty="0">
                <a:solidFill>
                  <a:srgbClr val="555555"/>
                </a:solidFill>
                <a:latin typeface="+mn-ea"/>
                <a:cs typeface="Malgun Gothic" pitchFamily="34" charset="-120"/>
              </a:rPr>
              <a:t>(Feature)</a:t>
            </a:r>
            <a:r>
              <a:rPr lang="ko-KR" altLang="en-US" sz="1050" dirty="0">
                <a:solidFill>
                  <a:srgbClr val="555555"/>
                </a:solidFill>
                <a:latin typeface="+mn-ea"/>
                <a:cs typeface="Malgun Gothic" pitchFamily="34" charset="-120"/>
              </a:rPr>
              <a:t>를 통해 복합적인 인과관계 분석</a:t>
            </a:r>
            <a:endParaRPr lang="en-US" sz="1050" dirty="0">
              <a:latin typeface="+mn-ea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4754880" y="3977640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</a:t>
            </a:r>
            <a:r>
              <a:rPr lang="ko-KR" altLang="en-US" sz="1200" b="1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고정밀</a:t>
            </a:r>
            <a:r>
              <a:rPr lang="ko-KR" altLang="en-US" sz="1200" b="1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성능 예측 및 최적화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677410" y="4251106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- 도핑 원소 선택 </a:t>
            </a:r>
            <a:r>
              <a:rPr lang="en-US" sz="1050" dirty="0" err="1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가이드라인</a:t>
            </a:r>
            <a:r>
              <a:rPr lang="en-US" sz="10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050" dirty="0" err="1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도출</a:t>
            </a:r>
            <a:endParaRPr lang="en-US" sz="1050" dirty="0">
              <a:solidFill>
                <a:srgbClr val="555555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34" name="Text 22">
            <a:extLst>
              <a:ext uri="{1E2761F4-FFF2-40B4-BE49-F238E27FC236}">
                <a16:creationId xmlns:a16="http://schemas.microsoft.com/office/drawing/2014/main" xmlns="" id="{45AFF0DE-7674-413F-D070-468CA0D11D02}"/>
              </a:ext>
            </a:extLst>
          </p:cNvPr>
          <p:cNvSpPr/>
          <p:nvPr/>
        </p:nvSpPr>
        <p:spPr>
          <a:xfrm>
            <a:off x="4818381" y="2828494"/>
            <a:ext cx="397764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sz="1050" dirty="0"/>
              <a:t>- </a:t>
            </a:r>
            <a:r>
              <a:rPr lang="ko-KR" altLang="en-US" sz="1050" dirty="0"/>
              <a:t>기존 시뮬레이션 방식 대비 빠른 속도로 성능 예측</a:t>
            </a:r>
            <a:endParaRPr lang="en-US" altLang="ko-KR" sz="1050" dirty="0"/>
          </a:p>
        </p:txBody>
      </p:sp>
      <p:sp>
        <p:nvSpPr>
          <p:cNvPr id="35" name="Text 24">
            <a:extLst>
              <a:ext uri="{1E2761F4-FFF2-40B4-BE49-F238E27FC236}">
                <a16:creationId xmlns:a16="http://schemas.microsoft.com/office/drawing/2014/main" xmlns="" id="{FADB3C9B-C07E-37D5-1FD7-26B599DD116C}"/>
              </a:ext>
            </a:extLst>
          </p:cNvPr>
          <p:cNvSpPr/>
          <p:nvPr/>
        </p:nvSpPr>
        <p:spPr>
          <a:xfrm>
            <a:off x="4676140" y="3521294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- </a:t>
            </a:r>
            <a:r>
              <a:rPr lang="ko-KR" altLang="en-US" sz="10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기반으로 성능에 미치는 기여도를 정량적으로 파악</a:t>
            </a:r>
            <a:endParaRPr lang="en-US" sz="1050" dirty="0"/>
          </a:p>
        </p:txBody>
      </p:sp>
      <p:sp>
        <p:nvSpPr>
          <p:cNvPr id="36" name="Text 24">
            <a:extLst>
              <a:ext uri="{1E2761F4-FFF2-40B4-BE49-F238E27FC236}">
                <a16:creationId xmlns:a16="http://schemas.microsoft.com/office/drawing/2014/main" xmlns="" id="{3BAA9BDC-F81F-8BF2-0307-1F6DBB14CE3F}"/>
              </a:ext>
            </a:extLst>
          </p:cNvPr>
          <p:cNvSpPr/>
          <p:nvPr/>
        </p:nvSpPr>
        <p:spPr>
          <a:xfrm>
            <a:off x="4674870" y="3726152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- </a:t>
            </a:r>
            <a:r>
              <a:rPr lang="ko-KR" altLang="en-US" sz="10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다양한 기법을 도입해 모델의 예측 근거와 핵심 변수 도출</a:t>
            </a:r>
            <a:endParaRPr lang="en-US" sz="1050" dirty="0"/>
          </a:p>
        </p:txBody>
      </p:sp>
      <p:sp>
        <p:nvSpPr>
          <p:cNvPr id="29" name="Text 24">
            <a:extLst>
              <a:ext uri="{1E2761F4-FFF2-40B4-BE49-F238E27FC236}">
                <a16:creationId xmlns:a16="http://schemas.microsoft.com/office/drawing/2014/main" xmlns="" id="{D4A637F1-1ECC-FF52-E6AE-2C74B457C842}"/>
              </a:ext>
            </a:extLst>
          </p:cNvPr>
          <p:cNvSpPr/>
          <p:nvPr/>
        </p:nvSpPr>
        <p:spPr>
          <a:xfrm>
            <a:off x="4674870" y="4514866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- NCM </a:t>
            </a:r>
            <a:r>
              <a:rPr lang="ko-KR" altLang="en-US" sz="1050" dirty="0" err="1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양극재</a:t>
            </a:r>
            <a:r>
              <a:rPr lang="ko-KR" altLang="en-US" sz="10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방전 용량 예측 시 </a:t>
            </a:r>
            <a:r>
              <a:rPr lang="en-US" altLang="ko-KR" sz="10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</a:t>
            </a:r>
            <a:r>
              <a:rPr lang="en-US" altLang="ko-KR" sz="1050" baseline="400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r>
              <a:rPr lang="en-US" altLang="ko-KR" sz="10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= 0.76</a:t>
            </a:r>
            <a:r>
              <a:rPr lang="ko-KR" altLang="en-US" sz="10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이상의 높은 정확도</a:t>
            </a:r>
            <a:br>
              <a:rPr lang="en-US" altLang="ko-KR" sz="10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</a:br>
            <a:r>
              <a:rPr lang="en-US" altLang="ko-KR" sz="10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(</a:t>
            </a:r>
            <a:r>
              <a:rPr lang="ko-KR" altLang="en-US" sz="10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선행 연구 기준</a:t>
            </a:r>
            <a:r>
              <a:rPr lang="en-US" altLang="ko-KR" sz="10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256032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11480" y="621792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목표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11480" y="1188720"/>
            <a:ext cx="8321040" cy="0"/>
          </a:xfrm>
          <a:prstGeom prst="line">
            <a:avLst/>
          </a:prstGeom>
          <a:noFill/>
          <a:ln w="1016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411480" y="1261872"/>
            <a:ext cx="8321040" cy="47548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11480" y="1261872"/>
            <a:ext cx="54864" cy="47548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594360" y="1261872"/>
            <a:ext cx="8046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목표  </a:t>
            </a: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기반 NCM 양극재 방전 용량 예측 모델 개발 및 웹서비스 구현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11480" y="1796289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세부 목표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11480" y="2052321"/>
            <a:ext cx="3931920" cy="0"/>
          </a:xfrm>
          <a:prstGeom prst="line">
            <a:avLst/>
          </a:prstGeom>
          <a:noFill/>
          <a:ln w="1524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411480" y="266547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</a:t>
            </a:r>
            <a:r>
              <a:rPr lang="en-US" sz="1100" b="1" baseline="30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</a:t>
            </a:r>
            <a:r>
              <a:rPr lang="en-US" sz="11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선행</a:t>
            </a:r>
            <a:r>
              <a:rPr lang="en-US" sz="11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연구 기반 ML 모델 구축 및 개선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39496" y="2940800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sz="950" dirty="0" err="1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GBM·XGBoost·LightGBM·RF·SVM·KRR</a:t>
            </a:r>
            <a:r>
              <a:rPr lang="en-US" altLang="ko-KR" sz="9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6개 </a:t>
            </a:r>
            <a:r>
              <a:rPr lang="en-US" altLang="ko-KR" sz="950" dirty="0" err="1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</a:t>
            </a:r>
            <a:r>
              <a:rPr lang="en-US" altLang="ko-KR" sz="9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950" dirty="0" err="1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</a:t>
            </a:r>
            <a:r>
              <a:rPr lang="en-US" altLang="ko-KR" sz="9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</a:t>
            </a:r>
            <a:r>
              <a:rPr lang="en-US" altLang="ko-KR" sz="950" dirty="0" err="1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LightGBM</a:t>
            </a:r>
            <a:r>
              <a:rPr lang="en-US" altLang="ko-KR" sz="9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9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</a:t>
            </a:r>
            <a:r>
              <a:rPr lang="en-US" altLang="ko-KR" sz="9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endParaRPr lang="en-US" altLang="ko-KR" sz="950" dirty="0"/>
          </a:p>
        </p:txBody>
      </p:sp>
      <p:sp>
        <p:nvSpPr>
          <p:cNvPr id="16" name="Text 14"/>
          <p:cNvSpPr/>
          <p:nvPr/>
        </p:nvSpPr>
        <p:spPr>
          <a:xfrm>
            <a:off x="411480" y="33930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11480" y="269818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11480" y="3173005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SHAP 기반 전기화학적 해석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39496" y="3447454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9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내부 설명</a:t>
            </a:r>
            <a:r>
              <a:rPr lang="en-US" altLang="ko-KR" sz="9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en-US" sz="9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Feature </a:t>
            </a:r>
            <a:r>
              <a:rPr lang="en-US" sz="950" dirty="0" err="1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중요도</a:t>
            </a:r>
            <a:r>
              <a:rPr lang="en-US" sz="9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950" dirty="0" err="1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도출</a:t>
            </a:r>
            <a:r>
              <a:rPr lang="en-US" sz="9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en-US" sz="950" dirty="0" err="1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전기화학적</a:t>
            </a:r>
            <a:r>
              <a:rPr lang="en-US" sz="9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근거 해석 추가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11480" y="400100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411480" y="369728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</a:t>
            </a:r>
            <a:r>
              <a:rPr lang="ko-KR" altLang="en-US" sz="11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웹서비스 구현 및 </a:t>
            </a:r>
            <a:r>
              <a:rPr lang="en-US" altLang="ko-KR" sz="11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r>
              <a:rPr lang="ko-KR" altLang="en-US" sz="11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 프로젝트 연결 계획 수립</a:t>
            </a:r>
            <a:r>
              <a:rPr lang="en-US" sz="11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39495" y="4023246"/>
            <a:ext cx="3864371" cy="4054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/>
              <a:t>2</a:t>
            </a:r>
            <a:r>
              <a:rPr lang="ko-KR" altLang="en-US" sz="950" dirty="0"/>
              <a:t>차 프로젝트 연계 기반 마련</a:t>
            </a:r>
            <a:br>
              <a:rPr lang="en-US" altLang="ko-KR" sz="950" dirty="0"/>
            </a:br>
            <a:r>
              <a:rPr lang="en-US" altLang="ko-KR" sz="950" dirty="0"/>
              <a:t>(SOH/RUL </a:t>
            </a:r>
            <a:r>
              <a:rPr lang="ko-KR" altLang="en-US" sz="950" dirty="0"/>
              <a:t>수명 예측</a:t>
            </a:r>
            <a:r>
              <a:rPr lang="en-US" altLang="ko-KR" sz="950" dirty="0"/>
              <a:t> + VLM </a:t>
            </a:r>
            <a:r>
              <a:rPr lang="ko-KR" altLang="en-US" sz="950" dirty="0"/>
              <a:t>기반 </a:t>
            </a:r>
            <a:r>
              <a:rPr lang="en-US" altLang="ko-KR" sz="950" dirty="0"/>
              <a:t>SEM </a:t>
            </a:r>
            <a:r>
              <a:rPr lang="ko-KR" altLang="en-US" sz="950" dirty="0"/>
              <a:t>이미지 분석 로드맵</a:t>
            </a:r>
            <a:r>
              <a:rPr lang="en-US" altLang="ko-KR" sz="950" dirty="0"/>
              <a:t>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572000" y="1847088"/>
            <a:ext cx="0" cy="2926080"/>
          </a:xfrm>
          <a:prstGeom prst="line">
            <a:avLst/>
          </a:prstGeom>
          <a:noFill/>
          <a:ln w="1016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/>
          <p:nvPr/>
        </p:nvSpPr>
        <p:spPr>
          <a:xfrm>
            <a:off x="4754880" y="1796289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 및 </a:t>
            </a:r>
            <a:r>
              <a:rPr lang="en-US" sz="12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572001" y="2061465"/>
            <a:ext cx="3931920" cy="0"/>
          </a:xfrm>
          <a:prstGeom prst="line">
            <a:avLst/>
          </a:prstGeom>
          <a:noFill/>
          <a:ln w="1524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/>
          <p:nvPr/>
        </p:nvSpPr>
        <p:spPr>
          <a:xfrm>
            <a:off x="4740134" y="4287507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</a:t>
            </a:r>
            <a:r>
              <a:rPr lang="en-US" sz="1000" b="1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000" b="1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셋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740134" y="4512057"/>
            <a:ext cx="3730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</a:t>
            </a:r>
            <a:r>
              <a:rPr lang="en-US" sz="9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900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</a:t>
            </a:r>
            <a:r>
              <a:rPr lang="en-US" sz="9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GitHub CSV(128</a:t>
            </a:r>
            <a:r>
              <a:rPr lang="ko-KR" altLang="en-US" sz="9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</a:t>
            </a:r>
            <a:r>
              <a:rPr lang="en-US" altLang="ko-KR" sz="9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2116330"/>
            <a:ext cx="3730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</a:t>
            </a:r>
            <a:r>
              <a:rPr lang="en-US" sz="1000" b="1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000" b="1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특성 </a:t>
            </a:r>
            <a:r>
              <a:rPr lang="en-US" altLang="ko-KR" sz="1000" b="1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(Features)</a:t>
            </a:r>
            <a:endParaRPr lang="en-US" sz="1000" dirty="0"/>
          </a:p>
        </p:txBody>
      </p:sp>
      <p:sp>
        <p:nvSpPr>
          <p:cNvPr id="37" name="Text 35"/>
          <p:cNvSpPr>
            <a:spLocks/>
          </p:cNvSpPr>
          <p:nvPr/>
        </p:nvSpPr>
        <p:spPr>
          <a:xfrm>
            <a:off x="4754880" y="2326641"/>
            <a:ext cx="3730752" cy="201168"/>
          </a:xfrm>
          <a:prstGeom prst="rect">
            <a:avLst/>
          </a:prstGeom>
          <a:noFill/>
          <a:ln/>
        </p:spPr>
        <p:txBody>
          <a:bodyPr wrap="none" lIns="0" tIns="0" rIns="0" bIns="0" spcCol="36000" rtlCol="0" anchor="ctr"/>
          <a:lstStyle/>
          <a:p>
            <a:pPr marL="0" indent="0">
              <a:buNone/>
            </a:pPr>
            <a:r>
              <a:rPr lang="en-US" sz="900" b="1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조성</a:t>
            </a:r>
            <a:r>
              <a:rPr lang="en-US" sz="900" b="1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: </a:t>
            </a:r>
            <a:r>
              <a:rPr lang="en-US" sz="9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Li, Ni, Co, Mn, M (도핑 원소 함량)</a:t>
            </a:r>
            <a:endParaRPr lang="en-US" sz="900" dirty="0"/>
          </a:p>
        </p:txBody>
      </p:sp>
      <p:sp>
        <p:nvSpPr>
          <p:cNvPr id="38" name="Text 36"/>
          <p:cNvSpPr>
            <a:spLocks/>
          </p:cNvSpPr>
          <p:nvPr/>
        </p:nvSpPr>
        <p:spPr>
          <a:xfrm>
            <a:off x="4749659" y="2552586"/>
            <a:ext cx="3730752" cy="201168"/>
          </a:xfrm>
          <a:prstGeom prst="rect">
            <a:avLst/>
          </a:prstGeom>
          <a:noFill/>
          <a:ln/>
        </p:spPr>
        <p:txBody>
          <a:bodyPr wrap="none" lIns="0" tIns="0" rIns="0" bIns="0" spcCol="36000" rtlCol="0" anchor="ctr"/>
          <a:lstStyle/>
          <a:p>
            <a:pPr marL="0" indent="0">
              <a:buNone/>
            </a:pPr>
            <a:r>
              <a:rPr lang="en-US" sz="900" b="1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격자 </a:t>
            </a:r>
            <a:r>
              <a:rPr lang="en-US" sz="900" b="1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</a:t>
            </a:r>
            <a:r>
              <a:rPr lang="en-US" sz="900" b="1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: </a:t>
            </a:r>
            <a:r>
              <a:rPr lang="en-US" sz="900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LC_a</a:t>
            </a:r>
            <a:r>
              <a:rPr lang="en-US" sz="9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LC_c, CV (셀 부피)</a:t>
            </a:r>
            <a:endParaRPr lang="en-US" sz="900" dirty="0"/>
          </a:p>
        </p:txBody>
      </p:sp>
      <p:sp>
        <p:nvSpPr>
          <p:cNvPr id="39" name="Text 37"/>
          <p:cNvSpPr>
            <a:spLocks/>
          </p:cNvSpPr>
          <p:nvPr/>
        </p:nvSpPr>
        <p:spPr>
          <a:xfrm>
            <a:off x="4746484" y="3132491"/>
            <a:ext cx="3730752" cy="201168"/>
          </a:xfrm>
          <a:prstGeom prst="rect">
            <a:avLst/>
          </a:prstGeom>
          <a:noFill/>
          <a:ln/>
        </p:spPr>
        <p:txBody>
          <a:bodyPr wrap="none" lIns="0" tIns="0" rIns="0" bIns="0" spcCol="36000" rtlCol="0" anchor="ctr"/>
          <a:lstStyle/>
          <a:p>
            <a:pPr marL="0" indent="0">
              <a:buNone/>
            </a:pPr>
            <a:r>
              <a:rPr lang="en-US" sz="900" b="1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 </a:t>
            </a:r>
            <a:r>
              <a:rPr lang="en-US" sz="900" b="1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</a:t>
            </a:r>
            <a:r>
              <a:rPr lang="en-US" sz="900" b="1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9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CD (전류밀도), V_min, V_max</a:t>
            </a:r>
            <a:endParaRPr lang="en-US" sz="900" dirty="0"/>
          </a:p>
        </p:txBody>
      </p:sp>
      <p:sp>
        <p:nvSpPr>
          <p:cNvPr id="40" name="Text 38"/>
          <p:cNvSpPr>
            <a:spLocks/>
          </p:cNvSpPr>
          <p:nvPr/>
        </p:nvSpPr>
        <p:spPr>
          <a:xfrm>
            <a:off x="4749659" y="2778531"/>
            <a:ext cx="3730752" cy="329183"/>
          </a:xfrm>
          <a:prstGeom prst="rect">
            <a:avLst/>
          </a:prstGeom>
          <a:noFill/>
          <a:ln/>
        </p:spPr>
        <p:txBody>
          <a:bodyPr wrap="none" lIns="0" tIns="0" rIns="0" bIns="0" spcCol="36000" rtlCol="0" anchor="ctr"/>
          <a:lstStyle/>
          <a:p>
            <a:pPr marL="0" indent="0">
              <a:buNone/>
            </a:pPr>
            <a:r>
              <a:rPr lang="en-US" sz="900" b="1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도핑 원소 </a:t>
            </a:r>
            <a:r>
              <a:rPr lang="en-US" sz="900" b="1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특성</a:t>
            </a:r>
            <a:r>
              <a:rPr lang="en-US" sz="900" b="1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:  </a:t>
            </a:r>
            <a:r>
              <a:rPr lang="en-US" sz="9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EN_M, EA_dopant, E_ionisation, AR_dopant,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IR_dopant, Mr_dopant, No_electron_M</a:t>
            </a:r>
            <a:endParaRPr lang="en-US" sz="900" dirty="0"/>
          </a:p>
        </p:txBody>
      </p:sp>
      <p:sp>
        <p:nvSpPr>
          <p:cNvPr id="41" name="Text 39"/>
          <p:cNvSpPr>
            <a:spLocks/>
          </p:cNvSpPr>
          <p:nvPr/>
        </p:nvSpPr>
        <p:spPr>
          <a:xfrm>
            <a:off x="4742495" y="3358438"/>
            <a:ext cx="3730752" cy="201168"/>
          </a:xfrm>
          <a:prstGeom prst="rect">
            <a:avLst/>
          </a:prstGeom>
          <a:noFill/>
          <a:ln/>
        </p:spPr>
        <p:txBody>
          <a:bodyPr wrap="none" lIns="0" tIns="0" rIns="0" bIns="0" spcCol="36000" rtlCol="0" anchor="ctr"/>
          <a:lstStyle/>
          <a:p>
            <a:pPr marL="0" indent="0">
              <a:buNone/>
            </a:pPr>
            <a:r>
              <a:rPr lang="ko-KR" altLang="en-US" sz="900" b="1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기타 </a:t>
            </a:r>
            <a:r>
              <a:rPr lang="en-US" altLang="ko-KR" sz="900" b="1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</a:t>
            </a:r>
            <a:r>
              <a:rPr lang="en-US" sz="900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Mr</a:t>
            </a:r>
            <a:r>
              <a:rPr lang="en-US" sz="9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(몰질량), No_iso_dopant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4740134" y="3643377"/>
            <a:ext cx="1097280" cy="231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타겟</a:t>
            </a:r>
            <a:r>
              <a:rPr lang="en-US" sz="1000" b="1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000" b="1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746484" y="3816160"/>
            <a:ext cx="3730752" cy="39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 : </a:t>
            </a:r>
            <a:r>
              <a:rPr lang="en-US" sz="9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 방전 용량 (mAh/g)    </a:t>
            </a:r>
            <a:br>
              <a:rPr lang="en-US" sz="9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</a:br>
            <a:r>
              <a:rPr lang="en-US" sz="900" b="1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EC : </a:t>
            </a:r>
            <a:r>
              <a:rPr lang="en-US" sz="9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50사이클 후 방전 용량 (mAh/g)</a:t>
            </a:r>
            <a:endParaRPr lang="en-US" sz="900" dirty="0"/>
          </a:p>
        </p:txBody>
      </p:sp>
      <p:sp>
        <p:nvSpPr>
          <p:cNvPr id="50" name="TextBox 49">
            <a:extLst>
              <a:ext uri="{1E2761F4-FFF2-40B4-BE49-F238E27FC236}">
                <a16:creationId xmlns:a16="http://schemas.microsoft.com/office/drawing/2014/main" xmlns="" id="{7F1D0AA7-BC7C-4624-9292-B3B7F2711519}"/>
              </a:ext>
            </a:extLst>
          </p:cNvPr>
          <p:cNvSpPr txBox="1"/>
          <p:nvPr/>
        </p:nvSpPr>
        <p:spPr>
          <a:xfrm>
            <a:off x="411480" y="4685045"/>
            <a:ext cx="5845627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700" dirty="0"/>
              <a:t>* G. Wang et al., "ML Approach for Predicting NCM Cathode Capacities," </a:t>
            </a:r>
            <a:r>
              <a:rPr lang="en-US" altLang="ko-KR" sz="700" i="1" dirty="0"/>
              <a:t>ACS Cent. Sci.</a:t>
            </a:r>
            <a:r>
              <a:rPr lang="en-US" altLang="ko-KR" sz="700" dirty="0"/>
              <a:t> (2021).</a:t>
            </a:r>
            <a:endParaRPr lang="ko-KR" altLang="en-US" sz="700" dirty="0"/>
          </a:p>
        </p:txBody>
      </p:sp>
      <p:sp>
        <p:nvSpPr>
          <p:cNvPr id="11" name="Text 19">
            <a:extLst>
              <a:ext uri="{1E2761F4-FFF2-40B4-BE49-F238E27FC236}">
                <a16:creationId xmlns:a16="http://schemas.microsoft.com/office/drawing/2014/main" xmlns="" id="{4F274A65-B9BB-3C47-5C64-F56A33DCE0BF}"/>
              </a:ext>
            </a:extLst>
          </p:cNvPr>
          <p:cNvSpPr/>
          <p:nvPr/>
        </p:nvSpPr>
        <p:spPr>
          <a:xfrm>
            <a:off x="411480" y="2152273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Pearson </a:t>
            </a:r>
            <a:r>
              <a:rPr lang="ko-KR" altLang="en-US" sz="11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상관관계 분석</a:t>
            </a:r>
            <a:endParaRPr lang="en-US" sz="1100" dirty="0"/>
          </a:p>
        </p:txBody>
      </p:sp>
      <p:sp>
        <p:nvSpPr>
          <p:cNvPr id="12" name="Text 20">
            <a:extLst>
              <a:ext uri="{1E2761F4-FFF2-40B4-BE49-F238E27FC236}">
                <a16:creationId xmlns:a16="http://schemas.microsoft.com/office/drawing/2014/main" xmlns="" id="{567D4B4F-AA70-E897-E842-881320EDDF86}"/>
              </a:ext>
            </a:extLst>
          </p:cNvPr>
          <p:cNvSpPr/>
          <p:nvPr/>
        </p:nvSpPr>
        <p:spPr>
          <a:xfrm>
            <a:off x="563880" y="2406133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Feature-target </a:t>
            </a:r>
            <a:r>
              <a:rPr lang="ko-KR" altLang="en-US" sz="9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 파악</a:t>
            </a:r>
            <a:r>
              <a:rPr lang="en-US" altLang="ko-KR" sz="9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9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다중공신성 확인</a:t>
            </a:r>
            <a:r>
              <a:rPr lang="en-US" sz="9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1E2761F4-FFF2-40B4-BE49-F238E27FC236}">
              <a16:creationId xmlns:a16="http://schemas.microsoft.com/office/drawing/2014/main" xmlns="" id="{B1B1DA1A-BBF8-23C8-F297-94E9D9BFBE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1E2761F4-FFF2-40B4-BE49-F238E27FC236}">
                <a16:creationId xmlns:a16="http://schemas.microsoft.com/office/drawing/2014/main" xmlns="" id="{43044485-B236-8533-3C02-9269B3240D91}"/>
              </a:ext>
            </a:extLst>
          </p:cNvPr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>
            <a:extLst>
              <a:ext uri="{1E2761F4-FFF2-40B4-BE49-F238E27FC236}">
                <a16:creationId xmlns:a16="http://schemas.microsoft.com/office/drawing/2014/main" xmlns="" id="{155328A9-4AC5-DF12-D3A2-CC9CC4D70419}"/>
              </a:ext>
            </a:extLst>
          </p:cNvPr>
          <p:cNvSpPr/>
          <p:nvPr/>
        </p:nvSpPr>
        <p:spPr>
          <a:xfrm>
            <a:off x="411480" y="256032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2800" dirty="0"/>
          </a:p>
        </p:txBody>
      </p:sp>
      <p:sp>
        <p:nvSpPr>
          <p:cNvPr id="4" name="Text 2">
            <a:extLst>
              <a:ext uri="{1E2761F4-FFF2-40B4-BE49-F238E27FC236}">
                <a16:creationId xmlns:a16="http://schemas.microsoft.com/office/drawing/2014/main" xmlns="" id="{FD4DDB47-C675-B5AF-E5A3-5C45D4E30091}"/>
              </a:ext>
            </a:extLst>
          </p:cNvPr>
          <p:cNvSpPr/>
          <p:nvPr/>
        </p:nvSpPr>
        <p:spPr>
          <a:xfrm>
            <a:off x="411480" y="621792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</a:t>
            </a:r>
            <a:r>
              <a:rPr lang="en-US" sz="3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3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스케줄표</a:t>
            </a:r>
            <a:endParaRPr lang="en-US" sz="3000" dirty="0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A00C035C-8F43-AAC8-8731-5267C8DB17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8464404"/>
              </p:ext>
            </p:extLst>
          </p:nvPr>
        </p:nvGraphicFramePr>
        <p:xfrm>
          <a:off x="487680" y="1269902"/>
          <a:ext cx="7886700" cy="2684878"/>
        </p:xfrm>
        <a:graphic>
          <a:graphicData uri="http://schemas.openxmlformats.org/drawingml/2006/table">
            <a:tbl>
              <a:tblPr/>
              <a:tblGrid>
                <a:gridCol w="1048800">
                  <a:extLst>
                    <a:ext uri="{9D8B030D-6E8A-4147-A177-3AD203B41FA5}">
                      <a16:colId xmlns:a16="http://schemas.microsoft.com/office/drawing/2014/main" val="2370043651"/>
                    </a:ext>
                  </a:extLst>
                </a:gridCol>
                <a:gridCol w="2421900">
                  <a:extLst>
                    <a:ext uri="{9D8B030D-6E8A-4147-A177-3AD203B41FA5}">
                      <a16:colId xmlns:a16="http://schemas.microsoft.com/office/drawing/2014/main" val="3074369765"/>
                    </a:ext>
                  </a:extLst>
                </a:gridCol>
                <a:gridCol w="220800">
                  <a:extLst>
                    <a:ext uri="{9D8B030D-6E8A-4147-A177-3AD203B41FA5}">
                      <a16:colId xmlns:a16="http://schemas.microsoft.com/office/drawing/2014/main" val="2353389783"/>
                    </a:ext>
                  </a:extLst>
                </a:gridCol>
                <a:gridCol w="220800">
                  <a:extLst>
                    <a:ext uri="{9D8B030D-6E8A-4147-A177-3AD203B41FA5}">
                      <a16:colId xmlns:a16="http://schemas.microsoft.com/office/drawing/2014/main" val="2625267280"/>
                    </a:ext>
                  </a:extLst>
                </a:gridCol>
                <a:gridCol w="220800">
                  <a:extLst>
                    <a:ext uri="{9D8B030D-6E8A-4147-A177-3AD203B41FA5}">
                      <a16:colId xmlns:a16="http://schemas.microsoft.com/office/drawing/2014/main" val="972560609"/>
                    </a:ext>
                  </a:extLst>
                </a:gridCol>
                <a:gridCol w="220800">
                  <a:extLst>
                    <a:ext uri="{9D8B030D-6E8A-4147-A177-3AD203B41FA5}">
                      <a16:colId xmlns:a16="http://schemas.microsoft.com/office/drawing/2014/main" val="3071440504"/>
                    </a:ext>
                  </a:extLst>
                </a:gridCol>
                <a:gridCol w="220800">
                  <a:extLst>
                    <a:ext uri="{9D8B030D-6E8A-4147-A177-3AD203B41FA5}">
                      <a16:colId xmlns:a16="http://schemas.microsoft.com/office/drawing/2014/main" val="2504840755"/>
                    </a:ext>
                  </a:extLst>
                </a:gridCol>
                <a:gridCol w="220800">
                  <a:extLst>
                    <a:ext uri="{9D8B030D-6E8A-4147-A177-3AD203B41FA5}">
                      <a16:colId xmlns:a16="http://schemas.microsoft.com/office/drawing/2014/main" val="2340736184"/>
                    </a:ext>
                  </a:extLst>
                </a:gridCol>
                <a:gridCol w="220800">
                  <a:extLst>
                    <a:ext uri="{9D8B030D-6E8A-4147-A177-3AD203B41FA5}">
                      <a16:colId xmlns:a16="http://schemas.microsoft.com/office/drawing/2014/main" val="402077854"/>
                    </a:ext>
                  </a:extLst>
                </a:gridCol>
                <a:gridCol w="220800">
                  <a:extLst>
                    <a:ext uri="{9D8B030D-6E8A-4147-A177-3AD203B41FA5}">
                      <a16:colId xmlns:a16="http://schemas.microsoft.com/office/drawing/2014/main" val="4040988553"/>
                    </a:ext>
                  </a:extLst>
                </a:gridCol>
                <a:gridCol w="220800">
                  <a:extLst>
                    <a:ext uri="{9D8B030D-6E8A-4147-A177-3AD203B41FA5}">
                      <a16:colId xmlns:a16="http://schemas.microsoft.com/office/drawing/2014/main" val="4218648825"/>
                    </a:ext>
                  </a:extLst>
                </a:gridCol>
                <a:gridCol w="220800">
                  <a:extLst>
                    <a:ext uri="{9D8B030D-6E8A-4147-A177-3AD203B41FA5}">
                      <a16:colId xmlns:a16="http://schemas.microsoft.com/office/drawing/2014/main" val="1074703815"/>
                    </a:ext>
                  </a:extLst>
                </a:gridCol>
                <a:gridCol w="220800">
                  <a:extLst>
                    <a:ext uri="{9D8B030D-6E8A-4147-A177-3AD203B41FA5}">
                      <a16:colId xmlns:a16="http://schemas.microsoft.com/office/drawing/2014/main" val="651889796"/>
                    </a:ext>
                  </a:extLst>
                </a:gridCol>
                <a:gridCol w="220800">
                  <a:extLst>
                    <a:ext uri="{9D8B030D-6E8A-4147-A177-3AD203B41FA5}">
                      <a16:colId xmlns:a16="http://schemas.microsoft.com/office/drawing/2014/main" val="1469319787"/>
                    </a:ext>
                  </a:extLst>
                </a:gridCol>
                <a:gridCol w="220800">
                  <a:extLst>
                    <a:ext uri="{9D8B030D-6E8A-4147-A177-3AD203B41FA5}">
                      <a16:colId xmlns:a16="http://schemas.microsoft.com/office/drawing/2014/main" val="1516236572"/>
                    </a:ext>
                  </a:extLst>
                </a:gridCol>
                <a:gridCol w="220800">
                  <a:extLst>
                    <a:ext uri="{9D8B030D-6E8A-4147-A177-3AD203B41FA5}">
                      <a16:colId xmlns:a16="http://schemas.microsoft.com/office/drawing/2014/main" val="4055739016"/>
                    </a:ext>
                  </a:extLst>
                </a:gridCol>
                <a:gridCol w="220800">
                  <a:extLst>
                    <a:ext uri="{9D8B030D-6E8A-4147-A177-3AD203B41FA5}">
                      <a16:colId xmlns:a16="http://schemas.microsoft.com/office/drawing/2014/main" val="931044802"/>
                    </a:ext>
                  </a:extLst>
                </a:gridCol>
                <a:gridCol w="220800">
                  <a:extLst>
                    <a:ext uri="{9D8B030D-6E8A-4147-A177-3AD203B41FA5}">
                      <a16:colId xmlns:a16="http://schemas.microsoft.com/office/drawing/2014/main" val="347596793"/>
                    </a:ext>
                  </a:extLst>
                </a:gridCol>
                <a:gridCol w="220800">
                  <a:extLst>
                    <a:ext uri="{9D8B030D-6E8A-4147-A177-3AD203B41FA5}">
                      <a16:colId xmlns:a16="http://schemas.microsoft.com/office/drawing/2014/main" val="2250794542"/>
                    </a:ext>
                  </a:extLst>
                </a:gridCol>
                <a:gridCol w="220800">
                  <a:extLst>
                    <a:ext uri="{9D8B030D-6E8A-4147-A177-3AD203B41FA5}">
                      <a16:colId xmlns:a16="http://schemas.microsoft.com/office/drawing/2014/main" val="3870307903"/>
                    </a:ext>
                  </a:extLst>
                </a:gridCol>
                <a:gridCol w="220800">
                  <a:extLst>
                    <a:ext uri="{9D8B030D-6E8A-4147-A177-3AD203B41FA5}">
                      <a16:colId xmlns:a16="http://schemas.microsoft.com/office/drawing/2014/main" val="415819493"/>
                    </a:ext>
                  </a:extLst>
                </a:gridCol>
                <a:gridCol w="220800">
                  <a:extLst>
                    <a:ext uri="{9D8B030D-6E8A-4147-A177-3AD203B41FA5}">
                      <a16:colId xmlns:a16="http://schemas.microsoft.com/office/drawing/2014/main" val="1413199976"/>
                    </a:ext>
                  </a:extLst>
                </a:gridCol>
              </a:tblGrid>
              <a:tr h="207060">
                <a:tc gridSpan="2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프로젝트</a:t>
                      </a:r>
                      <a:r>
                        <a:rPr lang="ko-KR" altLang="en-US" sz="10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ko-KR" altLang="en-US" sz="10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개발일정</a:t>
                      </a:r>
                      <a:endParaRPr lang="ko-KR" altLang="en-US" sz="10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  <a:ea typeface="맑은 고딕" panose="020B0503020000020004" pitchFamily="50" charset="-127"/>
                      </a:endParaRPr>
                    </a:p>
                  </a:txBody>
                  <a:tcPr marL="6902" marR="6902" marT="6902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0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6135038"/>
                  </a:ext>
                </a:extLst>
              </a:tr>
              <a:tr h="138040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6809166"/>
                  </a:ext>
                </a:extLst>
              </a:tr>
              <a:tr h="165648"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맑은 고딕" panose="020B0503020000020004" pitchFamily="50" charset="-127"/>
                        </a:rPr>
                        <a:t>분류</a:t>
                      </a:r>
                    </a:p>
                  </a:txBody>
                  <a:tcPr marL="6902" marR="6902" marT="690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맑은 고딕" panose="020B0503020000020004" pitchFamily="50" charset="-127"/>
                        </a:rPr>
                        <a:t>항목</a:t>
                      </a:r>
                    </a:p>
                  </a:txBody>
                  <a:tcPr marL="6902" marR="6902" marT="690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 gridSpan="5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맑은 고딕" panose="020B0503020000020004" pitchFamily="50" charset="-127"/>
                        </a:rPr>
                        <a:t>Week 1</a:t>
                      </a:r>
                    </a:p>
                  </a:txBody>
                  <a:tcPr marL="6902" marR="6902" marT="690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맑은 고딕" panose="020B0503020000020004" pitchFamily="50" charset="-127"/>
                        </a:rPr>
                        <a:t>Week 2</a:t>
                      </a:r>
                    </a:p>
                  </a:txBody>
                  <a:tcPr marL="6902" marR="6902" marT="690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맑은 고딕" panose="020B0503020000020004" pitchFamily="50" charset="-127"/>
                        </a:rPr>
                        <a:t>Week 3</a:t>
                      </a:r>
                    </a:p>
                  </a:txBody>
                  <a:tcPr marL="6902" marR="6902" marT="690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맑은 고딕" panose="020B0503020000020004" pitchFamily="50" charset="-127"/>
                        </a:rPr>
                        <a:t>Week 4</a:t>
                      </a:r>
                    </a:p>
                  </a:txBody>
                  <a:tcPr marL="6902" marR="6902" marT="690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121640"/>
                  </a:ext>
                </a:extLst>
              </a:tr>
              <a:tr h="14494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6902" marR="6902" marT="690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6902" marR="6902" marT="690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6902" marR="6902" marT="690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6902" marR="6902" marT="690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6902" marR="6902" marT="690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</a:p>
                  </a:txBody>
                  <a:tcPr marL="6902" marR="6902" marT="690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</a:t>
                      </a:r>
                    </a:p>
                  </a:txBody>
                  <a:tcPr marL="6902" marR="6902" marT="690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6902" marR="6902" marT="690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</a:t>
                      </a:r>
                    </a:p>
                  </a:txBody>
                  <a:tcPr marL="6902" marR="6902" marT="690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</a:t>
                      </a:r>
                    </a:p>
                  </a:txBody>
                  <a:tcPr marL="6902" marR="6902" marT="690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</a:t>
                      </a:r>
                    </a:p>
                  </a:txBody>
                  <a:tcPr marL="6902" marR="6902" marT="690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</a:t>
                      </a:r>
                    </a:p>
                  </a:txBody>
                  <a:tcPr marL="6902" marR="6902" marT="690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</a:t>
                      </a:r>
                    </a:p>
                  </a:txBody>
                  <a:tcPr marL="6902" marR="6902" marT="690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</a:t>
                      </a:r>
                    </a:p>
                  </a:txBody>
                  <a:tcPr marL="6902" marR="6902" marT="690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</a:t>
                      </a:r>
                    </a:p>
                  </a:txBody>
                  <a:tcPr marL="6902" marR="6902" marT="690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</a:t>
                      </a:r>
                    </a:p>
                  </a:txBody>
                  <a:tcPr marL="6902" marR="6902" marT="690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</a:t>
                      </a:r>
                    </a:p>
                  </a:txBody>
                  <a:tcPr marL="6902" marR="6902" marT="690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</a:t>
                      </a:r>
                    </a:p>
                  </a:txBody>
                  <a:tcPr marL="6902" marR="6902" marT="690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19</a:t>
                      </a:r>
                    </a:p>
                  </a:txBody>
                  <a:tcPr marL="6902" marR="6902" marT="690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</a:t>
                      </a:r>
                    </a:p>
                  </a:txBody>
                  <a:tcPr marL="6902" marR="6902" marT="690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157398"/>
                  </a:ext>
                </a:extLst>
              </a:tr>
              <a:tr h="144942">
                <a:tc rowSpan="4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Pearson </a:t>
                      </a: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분석</a:t>
                      </a:r>
                    </a:p>
                  </a:txBody>
                  <a:tcPr marL="6902" marR="6902" marT="690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MinMaxScaler</a:t>
                      </a: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정규화</a:t>
                      </a:r>
                    </a:p>
                  </a:txBody>
                  <a:tcPr marL="6902" marR="6902" marT="690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B084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B084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6825316"/>
                  </a:ext>
                </a:extLst>
              </a:tr>
              <a:tr h="14494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train/test 8:2 </a:t>
                      </a: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분리 </a:t>
                      </a: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· </a:t>
                      </a:r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Oracle DB </a:t>
                      </a: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저장</a:t>
                      </a:r>
                    </a:p>
                  </a:txBody>
                  <a:tcPr marL="6902" marR="6902" marT="690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B084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B084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27383988"/>
                  </a:ext>
                </a:extLst>
              </a:tr>
              <a:tr h="14494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Pearson </a:t>
                      </a: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상관관계 분석</a:t>
                      </a:r>
                    </a:p>
                  </a:txBody>
                  <a:tcPr marL="6902" marR="6902" marT="690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B084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B084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B084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5869300"/>
                  </a:ext>
                </a:extLst>
              </a:tr>
              <a:tr h="14494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상관쌍 식별 </a:t>
                      </a: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· </a:t>
                      </a: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다중공선성 확인</a:t>
                      </a:r>
                    </a:p>
                  </a:txBody>
                  <a:tcPr marL="6902" marR="6902" marT="690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B084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B084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8432724"/>
                  </a:ext>
                </a:extLst>
              </a:tr>
              <a:tr h="144942">
                <a:tc rowSpan="3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ML </a:t>
                      </a: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모델</a:t>
                      </a:r>
                      <a:b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</a:b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구축</a:t>
                      </a: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·</a:t>
                      </a: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개선</a:t>
                      </a:r>
                    </a:p>
                  </a:txBody>
                  <a:tcPr marL="6902" marR="6902" marT="690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GBM ·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XGBoost</a:t>
                      </a: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·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LightGBM</a:t>
                      </a: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· RF · SVM · KRR 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학습 </a:t>
                      </a:r>
                    </a:p>
                  </a:txBody>
                  <a:tcPr marL="6902" marR="6902" marT="690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A9DB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A9DB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A9DB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6620243"/>
                  </a:ext>
                </a:extLst>
              </a:tr>
              <a:tr h="14494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5-fold CV + GridSearchCV </a:t>
                      </a: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하이퍼파라미터 튜닝</a:t>
                      </a:r>
                    </a:p>
                  </a:txBody>
                  <a:tcPr marL="6902" marR="6902" marT="690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A9DB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A9DB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3043360"/>
                  </a:ext>
                </a:extLst>
              </a:tr>
              <a:tr h="14494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RMSE · MAE · R² </a:t>
                      </a: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성능 비교표 작성</a:t>
                      </a:r>
                    </a:p>
                  </a:txBody>
                  <a:tcPr marL="6902" marR="6902" marT="690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A9DB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A9DB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A9DB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2684003"/>
                  </a:ext>
                </a:extLst>
              </a:tr>
              <a:tr h="144942">
                <a:tc rowSpan="4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SHAP </a:t>
                      </a: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해석</a:t>
                      </a:r>
                    </a:p>
                  </a:txBody>
                  <a:tcPr marL="6902" marR="6902" marT="690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SHAP Summary plot — IC/EC </a:t>
                      </a: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피처 중요도 순위</a:t>
                      </a:r>
                    </a:p>
                  </a:txBody>
                  <a:tcPr marL="6902" marR="6902" marT="690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A7D6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A7D6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A7D6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59379637"/>
                  </a:ext>
                </a:extLst>
              </a:tr>
              <a:tr h="14494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SHAP Dependency plot — </a:t>
                      </a: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주요 피처 개별 영향도</a:t>
                      </a:r>
                    </a:p>
                  </a:txBody>
                  <a:tcPr marL="6902" marR="6902" marT="690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A7D6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A7D6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0101728"/>
                  </a:ext>
                </a:extLst>
              </a:tr>
              <a:tr h="14494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SHAP Waterfall plot — 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개별 샘플 예측 설명</a:t>
                      </a:r>
                    </a:p>
                  </a:txBody>
                  <a:tcPr marL="6902" marR="6902" marT="690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A7D6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A7D6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A7D6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04359524"/>
                  </a:ext>
                </a:extLst>
              </a:tr>
              <a:tr h="14494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전기화학적 근거 해석</a:t>
                      </a:r>
                    </a:p>
                  </a:txBody>
                  <a:tcPr marL="6902" marR="6902" marT="690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A7D6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A7D6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0589047"/>
                  </a:ext>
                </a:extLst>
              </a:tr>
              <a:tr h="144942">
                <a:tc rowSpan="3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웹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/2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차 연계</a:t>
                      </a:r>
                    </a:p>
                  </a:txBody>
                  <a:tcPr marL="6902" marR="6902" marT="690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웹서비스 </a:t>
                      </a: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UI </a:t>
                      </a: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구현</a:t>
                      </a:r>
                    </a:p>
                  </a:txBody>
                  <a:tcPr marL="6902" marR="6902" marT="690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A6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4194417"/>
                  </a:ext>
                </a:extLst>
              </a:tr>
              <a:tr h="14494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차 로드맵 설계 </a:t>
                      </a: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: SOH/RUL </a:t>
                      </a: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수명예측 </a:t>
                      </a:r>
                    </a:p>
                  </a:txBody>
                  <a:tcPr marL="6902" marR="6902" marT="690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7697985"/>
                  </a:ext>
                </a:extLst>
              </a:tr>
              <a:tr h="14494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차 로드맵 설계 </a:t>
                      </a: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: VLM</a:t>
                      </a: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기반 </a:t>
                      </a: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SEM </a:t>
                      </a: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이미지 분석</a:t>
                      </a:r>
                    </a:p>
                  </a:txBody>
                  <a:tcPr marL="6902" marR="6902" marT="6902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A6A6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6902" marR="6902" marT="6902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A6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48946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850123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274320" y="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01  메인 대시보드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74320" y="658622"/>
            <a:ext cx="1280160" cy="4114800"/>
          </a:xfrm>
          <a:prstGeom prst="rect">
            <a:avLst/>
          </a:prstGeom>
          <a:solidFill>
            <a:srgbClr val="EEEEEE"/>
          </a:solidFill>
          <a:ln w="1270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274320" y="518922"/>
            <a:ext cx="1280160" cy="457200"/>
          </a:xfrm>
          <a:prstGeom prst="rect">
            <a:avLst/>
          </a:prstGeom>
          <a:solidFill>
            <a:srgbClr val="333333"/>
          </a:solidFill>
          <a:ln w="1270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274320" y="518922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NCM Predict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274320" y="976122"/>
            <a:ext cx="1280160" cy="438912"/>
          </a:xfrm>
          <a:prstGeom prst="rect">
            <a:avLst/>
          </a:prstGeom>
          <a:solidFill>
            <a:srgbClr val="333333"/>
          </a:solidFill>
          <a:ln w="1270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274320" y="97612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대시보드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74320" y="1479042"/>
            <a:ext cx="1280160" cy="438912"/>
          </a:xfrm>
          <a:prstGeom prst="rect">
            <a:avLst/>
          </a:prstGeom>
          <a:solidFill>
            <a:srgbClr val="EEEEEE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274320" y="147904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33333"/>
                </a:solidFill>
              </a:rPr>
              <a:t>소재 예측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274320" y="1981962"/>
            <a:ext cx="1280160" cy="438912"/>
          </a:xfrm>
          <a:prstGeom prst="rect">
            <a:avLst/>
          </a:prstGeom>
          <a:solidFill>
            <a:srgbClr val="EEEEEE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274320" y="198196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33333"/>
                </a:solidFill>
              </a:rPr>
              <a:t>결과 분석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4320" y="2484882"/>
            <a:ext cx="1280160" cy="438912"/>
          </a:xfrm>
          <a:prstGeom prst="rect">
            <a:avLst/>
          </a:prstGeom>
          <a:solidFill>
            <a:srgbClr val="EEEEEE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274320" y="248488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33333"/>
                </a:solidFill>
              </a:rPr>
              <a:t>시나리오 비교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691640" y="537210"/>
            <a:ext cx="7178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33333"/>
                </a:solidFill>
              </a:rPr>
              <a:t>대시보드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691640" y="793242"/>
            <a:ext cx="7178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6666"/>
                </a:solidFill>
              </a:rPr>
              <a:t>최근 예측 이력 및 주요 지표 요약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1691640" y="1040130"/>
            <a:ext cx="166420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1783080" y="1113282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66666"/>
                </a:solidFill>
              </a:rPr>
              <a:t>총 예측 횟수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783080" y="1296162"/>
            <a:ext cx="1481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1783080" y="1625346"/>
            <a:ext cx="14813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999999"/>
                </a:solidFill>
              </a:rPr>
              <a:t>회 (누적)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1691640" y="1040130"/>
            <a:ext cx="1664208" cy="36576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5"/>
          <p:cNvSpPr/>
          <p:nvPr/>
        </p:nvSpPr>
        <p:spPr>
          <a:xfrm>
            <a:off x="3419856" y="1040130"/>
            <a:ext cx="166420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/>
          <p:nvPr/>
        </p:nvSpPr>
        <p:spPr>
          <a:xfrm>
            <a:off x="3511296" y="1113282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 err="1">
                <a:solidFill>
                  <a:srgbClr val="666666"/>
                </a:solidFill>
              </a:rPr>
              <a:t>평균</a:t>
            </a:r>
            <a:r>
              <a:rPr lang="en-US" sz="750" dirty="0">
                <a:solidFill>
                  <a:srgbClr val="666666"/>
                </a:solidFill>
              </a:rPr>
              <a:t> IC/EC </a:t>
            </a:r>
            <a:r>
              <a:rPr lang="en-US" sz="750" dirty="0" err="1">
                <a:solidFill>
                  <a:srgbClr val="666666"/>
                </a:solidFill>
              </a:rPr>
              <a:t>예측값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3511296" y="1296162"/>
            <a:ext cx="1481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3511296" y="1625346"/>
            <a:ext cx="14813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999999"/>
                </a:solidFill>
              </a:rPr>
              <a:t>mAh/g</a:t>
            </a:r>
            <a:r>
              <a:rPr lang="ko-KR" altLang="en-US" sz="700" dirty="0">
                <a:solidFill>
                  <a:srgbClr val="999999"/>
                </a:solidFill>
              </a:rPr>
              <a:t>　　　　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3419856" y="1040130"/>
            <a:ext cx="1664208" cy="36576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30"/>
          <p:cNvSpPr/>
          <p:nvPr/>
        </p:nvSpPr>
        <p:spPr>
          <a:xfrm>
            <a:off x="5148072" y="1040130"/>
            <a:ext cx="166420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5239512" y="1113282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66666"/>
                </a:solidFill>
              </a:rPr>
              <a:t>최고 R²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5239512" y="1296162"/>
            <a:ext cx="1481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5239512" y="1625346"/>
            <a:ext cx="14813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700" dirty="0">
                <a:solidFill>
                  <a:srgbClr val="999999"/>
                </a:solidFill>
              </a:rPr>
              <a:t>기</a:t>
            </a:r>
            <a:r>
              <a:rPr lang="en-US" sz="700" dirty="0">
                <a:solidFill>
                  <a:srgbClr val="999999"/>
                </a:solidFill>
              </a:rPr>
              <a:t>준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5148072" y="1040130"/>
            <a:ext cx="1664208" cy="36576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5"/>
          <p:cNvSpPr/>
          <p:nvPr/>
        </p:nvSpPr>
        <p:spPr>
          <a:xfrm>
            <a:off x="6876288" y="1040130"/>
            <a:ext cx="166420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/>
          <p:nvPr/>
        </p:nvSpPr>
        <p:spPr>
          <a:xfrm>
            <a:off x="6967728" y="1113282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66666"/>
                </a:solidFill>
              </a:rPr>
              <a:t>저장된 시나리오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6967728" y="1296162"/>
            <a:ext cx="1481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67728" y="1625346"/>
            <a:ext cx="14813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999999"/>
                </a:solidFill>
              </a:rPr>
              <a:t>개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6876288" y="1040130"/>
            <a:ext cx="1664208" cy="36576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40"/>
          <p:cNvSpPr/>
          <p:nvPr/>
        </p:nvSpPr>
        <p:spPr>
          <a:xfrm>
            <a:off x="1691640" y="1954530"/>
            <a:ext cx="466344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/>
          <p:nvPr/>
        </p:nvSpPr>
        <p:spPr>
          <a:xfrm>
            <a:off x="1764792" y="1991106"/>
            <a:ext cx="45171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333333"/>
                </a:solidFill>
              </a:rPr>
              <a:t>최근 예측 이력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1691640" y="2210562"/>
            <a:ext cx="4663440" cy="0"/>
          </a:xfrm>
          <a:prstGeom prst="line">
            <a:avLst/>
          </a:prstGeom>
          <a:noFill/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43"/>
          <p:cNvSpPr/>
          <p:nvPr/>
        </p:nvSpPr>
        <p:spPr>
          <a:xfrm>
            <a:off x="1737360" y="2210562"/>
            <a:ext cx="822960" cy="228600"/>
          </a:xfrm>
          <a:prstGeom prst="rect">
            <a:avLst/>
          </a:prstGeom>
          <a:solidFill>
            <a:srgbClr val="EEEEEE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4"/>
          <p:cNvSpPr/>
          <p:nvPr/>
        </p:nvSpPr>
        <p:spPr>
          <a:xfrm>
            <a:off x="1737360" y="221056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333333"/>
                </a:solidFill>
              </a:rPr>
              <a:t>소재명</a:t>
            </a:r>
            <a:endParaRPr lang="en-US" sz="650" dirty="0"/>
          </a:p>
        </p:txBody>
      </p:sp>
      <p:sp>
        <p:nvSpPr>
          <p:cNvPr id="47" name="Shape 45"/>
          <p:cNvSpPr/>
          <p:nvPr/>
        </p:nvSpPr>
        <p:spPr>
          <a:xfrm>
            <a:off x="2562860" y="2210562"/>
            <a:ext cx="411480" cy="228600"/>
          </a:xfrm>
          <a:prstGeom prst="rect">
            <a:avLst/>
          </a:prstGeom>
          <a:solidFill>
            <a:srgbClr val="EEEEEE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6"/>
          <p:cNvSpPr/>
          <p:nvPr/>
        </p:nvSpPr>
        <p:spPr>
          <a:xfrm>
            <a:off x="2562860" y="2210562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333333"/>
                </a:solidFill>
              </a:rPr>
              <a:t>Ni</a:t>
            </a:r>
            <a:endParaRPr lang="en-US" sz="650" dirty="0"/>
          </a:p>
        </p:txBody>
      </p:sp>
      <p:sp>
        <p:nvSpPr>
          <p:cNvPr id="49" name="Shape 47"/>
          <p:cNvSpPr/>
          <p:nvPr/>
        </p:nvSpPr>
        <p:spPr>
          <a:xfrm>
            <a:off x="2974340" y="2210562"/>
            <a:ext cx="411480" cy="228600"/>
          </a:xfrm>
          <a:prstGeom prst="rect">
            <a:avLst/>
          </a:prstGeom>
          <a:solidFill>
            <a:srgbClr val="EEEEEE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Text 48"/>
          <p:cNvSpPr/>
          <p:nvPr/>
        </p:nvSpPr>
        <p:spPr>
          <a:xfrm>
            <a:off x="2974340" y="2210562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333333"/>
                </a:solidFill>
              </a:rPr>
              <a:t>Co</a:t>
            </a:r>
            <a:endParaRPr lang="en-US" sz="650" dirty="0"/>
          </a:p>
        </p:txBody>
      </p:sp>
      <p:sp>
        <p:nvSpPr>
          <p:cNvPr id="51" name="Shape 49"/>
          <p:cNvSpPr/>
          <p:nvPr/>
        </p:nvSpPr>
        <p:spPr>
          <a:xfrm>
            <a:off x="3385820" y="2210562"/>
            <a:ext cx="411480" cy="228600"/>
          </a:xfrm>
          <a:prstGeom prst="rect">
            <a:avLst/>
          </a:prstGeom>
          <a:solidFill>
            <a:srgbClr val="EEEEEE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50"/>
          <p:cNvSpPr/>
          <p:nvPr/>
        </p:nvSpPr>
        <p:spPr>
          <a:xfrm>
            <a:off x="3385820" y="2210562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333333"/>
                </a:solidFill>
              </a:rPr>
              <a:t>Mn</a:t>
            </a:r>
            <a:endParaRPr lang="en-US" sz="650" dirty="0"/>
          </a:p>
        </p:txBody>
      </p:sp>
      <p:sp>
        <p:nvSpPr>
          <p:cNvPr id="53" name="Shape 51"/>
          <p:cNvSpPr/>
          <p:nvPr/>
        </p:nvSpPr>
        <p:spPr>
          <a:xfrm>
            <a:off x="3797300" y="2210562"/>
            <a:ext cx="411480" cy="228600"/>
          </a:xfrm>
          <a:prstGeom prst="rect">
            <a:avLst/>
          </a:prstGeom>
          <a:solidFill>
            <a:srgbClr val="EEEEEE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2"/>
          <p:cNvSpPr/>
          <p:nvPr/>
        </p:nvSpPr>
        <p:spPr>
          <a:xfrm>
            <a:off x="3797300" y="2210562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333333"/>
                </a:solidFill>
              </a:rPr>
              <a:t>도핑</a:t>
            </a:r>
            <a:endParaRPr lang="en-US" sz="650" dirty="0"/>
          </a:p>
        </p:txBody>
      </p:sp>
      <p:sp>
        <p:nvSpPr>
          <p:cNvPr id="55" name="Shape 53"/>
          <p:cNvSpPr/>
          <p:nvPr/>
        </p:nvSpPr>
        <p:spPr>
          <a:xfrm>
            <a:off x="4208780" y="2210562"/>
            <a:ext cx="548640" cy="228600"/>
          </a:xfrm>
          <a:prstGeom prst="rect">
            <a:avLst/>
          </a:prstGeom>
          <a:solidFill>
            <a:srgbClr val="EEEEEE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Text 54"/>
          <p:cNvSpPr/>
          <p:nvPr/>
        </p:nvSpPr>
        <p:spPr>
          <a:xfrm>
            <a:off x="4208780" y="221056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333333"/>
                </a:solidFill>
              </a:rPr>
              <a:t>IC 예측</a:t>
            </a:r>
            <a:endParaRPr lang="en-US" sz="650" dirty="0"/>
          </a:p>
        </p:txBody>
      </p:sp>
      <p:sp>
        <p:nvSpPr>
          <p:cNvPr id="57" name="Shape 55"/>
          <p:cNvSpPr/>
          <p:nvPr/>
        </p:nvSpPr>
        <p:spPr>
          <a:xfrm>
            <a:off x="4757420" y="2210562"/>
            <a:ext cx="548640" cy="228600"/>
          </a:xfrm>
          <a:prstGeom prst="rect">
            <a:avLst/>
          </a:prstGeom>
          <a:solidFill>
            <a:srgbClr val="EEEEEE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6"/>
          <p:cNvSpPr/>
          <p:nvPr/>
        </p:nvSpPr>
        <p:spPr>
          <a:xfrm>
            <a:off x="4757420" y="221056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333333"/>
                </a:solidFill>
              </a:rPr>
              <a:t>EC 예측</a:t>
            </a:r>
            <a:endParaRPr lang="en-US" sz="650" dirty="0"/>
          </a:p>
        </p:txBody>
      </p:sp>
      <p:sp>
        <p:nvSpPr>
          <p:cNvPr id="59" name="Shape 57"/>
          <p:cNvSpPr/>
          <p:nvPr/>
        </p:nvSpPr>
        <p:spPr>
          <a:xfrm>
            <a:off x="5306060" y="2210562"/>
            <a:ext cx="502920" cy="228600"/>
          </a:xfrm>
          <a:prstGeom prst="rect">
            <a:avLst/>
          </a:prstGeom>
          <a:solidFill>
            <a:srgbClr val="EEEEEE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Text 58"/>
          <p:cNvSpPr/>
          <p:nvPr/>
        </p:nvSpPr>
        <p:spPr>
          <a:xfrm>
            <a:off x="5306060" y="221056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333333"/>
                </a:solidFill>
              </a:rPr>
              <a:t>모델</a:t>
            </a:r>
            <a:endParaRPr lang="en-US" sz="650" dirty="0"/>
          </a:p>
        </p:txBody>
      </p:sp>
      <p:sp>
        <p:nvSpPr>
          <p:cNvPr id="61" name="Shape 59"/>
          <p:cNvSpPr/>
          <p:nvPr/>
        </p:nvSpPr>
        <p:spPr>
          <a:xfrm>
            <a:off x="5808980" y="2210562"/>
            <a:ext cx="502920" cy="228600"/>
          </a:xfrm>
          <a:prstGeom prst="rect">
            <a:avLst/>
          </a:prstGeom>
          <a:solidFill>
            <a:srgbClr val="EEEEEE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 60"/>
          <p:cNvSpPr/>
          <p:nvPr/>
        </p:nvSpPr>
        <p:spPr>
          <a:xfrm>
            <a:off x="5808980" y="221056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333333"/>
                </a:solidFill>
              </a:rPr>
              <a:t>일시</a:t>
            </a:r>
            <a:endParaRPr lang="en-US" sz="650" dirty="0"/>
          </a:p>
        </p:txBody>
      </p:sp>
      <p:sp>
        <p:nvSpPr>
          <p:cNvPr id="63" name="Shape 61"/>
          <p:cNvSpPr/>
          <p:nvPr/>
        </p:nvSpPr>
        <p:spPr>
          <a:xfrm>
            <a:off x="1737360" y="2439162"/>
            <a:ext cx="82296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Text 62"/>
          <p:cNvSpPr/>
          <p:nvPr/>
        </p:nvSpPr>
        <p:spPr>
          <a:xfrm>
            <a:off x="1737360" y="243916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333333"/>
                </a:solidFill>
              </a:rPr>
              <a:t>NCM811</a:t>
            </a:r>
            <a:endParaRPr lang="en-US" sz="700" dirty="0"/>
          </a:p>
        </p:txBody>
      </p:sp>
      <p:sp>
        <p:nvSpPr>
          <p:cNvPr id="65" name="Shape 63"/>
          <p:cNvSpPr/>
          <p:nvPr/>
        </p:nvSpPr>
        <p:spPr>
          <a:xfrm>
            <a:off x="2562860" y="2439162"/>
            <a:ext cx="41148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Text 64"/>
          <p:cNvSpPr/>
          <p:nvPr/>
        </p:nvSpPr>
        <p:spPr>
          <a:xfrm>
            <a:off x="2562860" y="243916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333333"/>
                </a:solidFill>
              </a:rPr>
              <a:t>0.80</a:t>
            </a:r>
            <a:endParaRPr lang="en-US" sz="700" dirty="0"/>
          </a:p>
        </p:txBody>
      </p:sp>
      <p:sp>
        <p:nvSpPr>
          <p:cNvPr id="67" name="Shape 65"/>
          <p:cNvSpPr/>
          <p:nvPr/>
        </p:nvSpPr>
        <p:spPr>
          <a:xfrm>
            <a:off x="2974340" y="2439162"/>
            <a:ext cx="41148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8" name="Text 66"/>
          <p:cNvSpPr/>
          <p:nvPr/>
        </p:nvSpPr>
        <p:spPr>
          <a:xfrm>
            <a:off x="2974340" y="243916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333333"/>
                </a:solidFill>
              </a:rPr>
              <a:t>0.10</a:t>
            </a:r>
            <a:endParaRPr lang="en-US" sz="700" dirty="0"/>
          </a:p>
        </p:txBody>
      </p:sp>
      <p:sp>
        <p:nvSpPr>
          <p:cNvPr id="69" name="Shape 67"/>
          <p:cNvSpPr/>
          <p:nvPr/>
        </p:nvSpPr>
        <p:spPr>
          <a:xfrm>
            <a:off x="3385820" y="2439162"/>
            <a:ext cx="41148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0" name="Text 68"/>
          <p:cNvSpPr/>
          <p:nvPr/>
        </p:nvSpPr>
        <p:spPr>
          <a:xfrm>
            <a:off x="3385820" y="243916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333333"/>
                </a:solidFill>
              </a:rPr>
              <a:t>0.10</a:t>
            </a:r>
            <a:endParaRPr lang="en-US" sz="700" dirty="0"/>
          </a:p>
        </p:txBody>
      </p:sp>
      <p:sp>
        <p:nvSpPr>
          <p:cNvPr id="71" name="Shape 69"/>
          <p:cNvSpPr/>
          <p:nvPr/>
        </p:nvSpPr>
        <p:spPr>
          <a:xfrm>
            <a:off x="3797300" y="2439162"/>
            <a:ext cx="41148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2" name="Text 70"/>
          <p:cNvSpPr/>
          <p:nvPr/>
        </p:nvSpPr>
        <p:spPr>
          <a:xfrm>
            <a:off x="3797300" y="243916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333333"/>
                </a:solidFill>
              </a:rPr>
              <a:t>Al</a:t>
            </a:r>
            <a:endParaRPr lang="en-US" sz="700" dirty="0"/>
          </a:p>
        </p:txBody>
      </p:sp>
      <p:sp>
        <p:nvSpPr>
          <p:cNvPr id="73" name="Shape 71"/>
          <p:cNvSpPr/>
          <p:nvPr/>
        </p:nvSpPr>
        <p:spPr>
          <a:xfrm>
            <a:off x="4208780" y="2439162"/>
            <a:ext cx="54864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4" name="Text 72"/>
          <p:cNvSpPr/>
          <p:nvPr/>
        </p:nvSpPr>
        <p:spPr>
          <a:xfrm>
            <a:off x="4208780" y="243916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333333"/>
                </a:solidFill>
              </a:rPr>
              <a:t>183.2</a:t>
            </a:r>
            <a:endParaRPr lang="en-US" sz="700" dirty="0"/>
          </a:p>
        </p:txBody>
      </p:sp>
      <p:sp>
        <p:nvSpPr>
          <p:cNvPr id="75" name="Shape 73"/>
          <p:cNvSpPr/>
          <p:nvPr/>
        </p:nvSpPr>
        <p:spPr>
          <a:xfrm>
            <a:off x="4757420" y="2439162"/>
            <a:ext cx="54864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6" name="Text 74"/>
          <p:cNvSpPr/>
          <p:nvPr/>
        </p:nvSpPr>
        <p:spPr>
          <a:xfrm>
            <a:off x="4757420" y="243916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333333"/>
                </a:solidFill>
              </a:rPr>
              <a:t>171.4</a:t>
            </a:r>
            <a:endParaRPr lang="en-US" sz="700" dirty="0"/>
          </a:p>
        </p:txBody>
      </p:sp>
      <p:sp>
        <p:nvSpPr>
          <p:cNvPr id="77" name="Shape 75"/>
          <p:cNvSpPr/>
          <p:nvPr/>
        </p:nvSpPr>
        <p:spPr>
          <a:xfrm>
            <a:off x="5306060" y="2439162"/>
            <a:ext cx="50292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8" name="Text 76"/>
          <p:cNvSpPr/>
          <p:nvPr/>
        </p:nvSpPr>
        <p:spPr>
          <a:xfrm>
            <a:off x="5306060" y="2439162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333333"/>
                </a:solidFill>
              </a:rPr>
              <a:t>LGBM</a:t>
            </a:r>
            <a:endParaRPr lang="en-US" sz="700" dirty="0"/>
          </a:p>
        </p:txBody>
      </p:sp>
      <p:sp>
        <p:nvSpPr>
          <p:cNvPr id="79" name="Shape 77"/>
          <p:cNvSpPr/>
          <p:nvPr/>
        </p:nvSpPr>
        <p:spPr>
          <a:xfrm>
            <a:off x="5808980" y="2439162"/>
            <a:ext cx="50292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0" name="Text 78"/>
          <p:cNvSpPr/>
          <p:nvPr/>
        </p:nvSpPr>
        <p:spPr>
          <a:xfrm>
            <a:off x="5808980" y="2439162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333333"/>
                </a:solidFill>
              </a:rPr>
              <a:t>25.03.10</a:t>
            </a:r>
            <a:endParaRPr lang="en-US" sz="700" dirty="0"/>
          </a:p>
        </p:txBody>
      </p:sp>
      <p:sp>
        <p:nvSpPr>
          <p:cNvPr id="81" name="Shape 79"/>
          <p:cNvSpPr/>
          <p:nvPr/>
        </p:nvSpPr>
        <p:spPr>
          <a:xfrm>
            <a:off x="1737360" y="2695194"/>
            <a:ext cx="822960" cy="237744"/>
          </a:xfrm>
          <a:prstGeom prst="rect">
            <a:avLst/>
          </a:prstGeom>
          <a:solidFill>
            <a:srgbClr val="F8F8F8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2" name="Text 80"/>
          <p:cNvSpPr/>
          <p:nvPr/>
        </p:nvSpPr>
        <p:spPr>
          <a:xfrm>
            <a:off x="1737360" y="269519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333333"/>
                </a:solidFill>
              </a:rPr>
              <a:t>NCM622</a:t>
            </a:r>
            <a:endParaRPr lang="en-US" sz="700" dirty="0"/>
          </a:p>
        </p:txBody>
      </p:sp>
      <p:sp>
        <p:nvSpPr>
          <p:cNvPr id="83" name="Shape 81"/>
          <p:cNvSpPr/>
          <p:nvPr/>
        </p:nvSpPr>
        <p:spPr>
          <a:xfrm>
            <a:off x="2562860" y="2695194"/>
            <a:ext cx="411480" cy="237744"/>
          </a:xfrm>
          <a:prstGeom prst="rect">
            <a:avLst/>
          </a:prstGeom>
          <a:solidFill>
            <a:srgbClr val="F8F8F8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4" name="Text 82"/>
          <p:cNvSpPr/>
          <p:nvPr/>
        </p:nvSpPr>
        <p:spPr>
          <a:xfrm>
            <a:off x="2562860" y="2695194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333333"/>
                </a:solidFill>
              </a:rPr>
              <a:t>0.60</a:t>
            </a:r>
            <a:endParaRPr lang="en-US" sz="700" dirty="0"/>
          </a:p>
        </p:txBody>
      </p:sp>
      <p:sp>
        <p:nvSpPr>
          <p:cNvPr id="85" name="Shape 83"/>
          <p:cNvSpPr/>
          <p:nvPr/>
        </p:nvSpPr>
        <p:spPr>
          <a:xfrm>
            <a:off x="2974340" y="2695194"/>
            <a:ext cx="411480" cy="237744"/>
          </a:xfrm>
          <a:prstGeom prst="rect">
            <a:avLst/>
          </a:prstGeom>
          <a:solidFill>
            <a:srgbClr val="F8F8F8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6" name="Text 84"/>
          <p:cNvSpPr/>
          <p:nvPr/>
        </p:nvSpPr>
        <p:spPr>
          <a:xfrm>
            <a:off x="2974340" y="2695194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333333"/>
                </a:solidFill>
              </a:rPr>
              <a:t>0.20</a:t>
            </a:r>
            <a:endParaRPr lang="en-US" sz="700" dirty="0"/>
          </a:p>
        </p:txBody>
      </p:sp>
      <p:sp>
        <p:nvSpPr>
          <p:cNvPr id="87" name="Shape 85"/>
          <p:cNvSpPr/>
          <p:nvPr/>
        </p:nvSpPr>
        <p:spPr>
          <a:xfrm>
            <a:off x="3385820" y="2695194"/>
            <a:ext cx="411480" cy="237744"/>
          </a:xfrm>
          <a:prstGeom prst="rect">
            <a:avLst/>
          </a:prstGeom>
          <a:solidFill>
            <a:srgbClr val="F8F8F8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8" name="Text 86"/>
          <p:cNvSpPr/>
          <p:nvPr/>
        </p:nvSpPr>
        <p:spPr>
          <a:xfrm>
            <a:off x="3385820" y="2695194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333333"/>
                </a:solidFill>
              </a:rPr>
              <a:t>0.20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3797300" y="2695194"/>
            <a:ext cx="411480" cy="237744"/>
          </a:xfrm>
          <a:prstGeom prst="rect">
            <a:avLst/>
          </a:prstGeom>
          <a:solidFill>
            <a:srgbClr val="F8F8F8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0" name="Text 88"/>
          <p:cNvSpPr/>
          <p:nvPr/>
        </p:nvSpPr>
        <p:spPr>
          <a:xfrm>
            <a:off x="3797300" y="2695194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333333"/>
                </a:solidFill>
              </a:rPr>
              <a:t>Ti</a:t>
            </a:r>
            <a:endParaRPr lang="en-US" sz="700" dirty="0"/>
          </a:p>
        </p:txBody>
      </p:sp>
      <p:sp>
        <p:nvSpPr>
          <p:cNvPr id="91" name="Shape 89"/>
          <p:cNvSpPr/>
          <p:nvPr/>
        </p:nvSpPr>
        <p:spPr>
          <a:xfrm>
            <a:off x="4208780" y="2695194"/>
            <a:ext cx="548640" cy="237744"/>
          </a:xfrm>
          <a:prstGeom prst="rect">
            <a:avLst/>
          </a:prstGeom>
          <a:solidFill>
            <a:srgbClr val="F8F8F8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2" name="Text 90"/>
          <p:cNvSpPr/>
          <p:nvPr/>
        </p:nvSpPr>
        <p:spPr>
          <a:xfrm>
            <a:off x="4208780" y="269519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333333"/>
                </a:solidFill>
              </a:rPr>
              <a:t>175.8</a:t>
            </a:r>
            <a:endParaRPr lang="en-US" sz="700" dirty="0"/>
          </a:p>
        </p:txBody>
      </p:sp>
      <p:sp>
        <p:nvSpPr>
          <p:cNvPr id="93" name="Shape 91"/>
          <p:cNvSpPr/>
          <p:nvPr/>
        </p:nvSpPr>
        <p:spPr>
          <a:xfrm>
            <a:off x="4757420" y="2695194"/>
            <a:ext cx="548640" cy="237744"/>
          </a:xfrm>
          <a:prstGeom prst="rect">
            <a:avLst/>
          </a:prstGeom>
          <a:solidFill>
            <a:srgbClr val="F8F8F8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4" name="Text 92"/>
          <p:cNvSpPr/>
          <p:nvPr/>
        </p:nvSpPr>
        <p:spPr>
          <a:xfrm>
            <a:off x="4757420" y="269519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333333"/>
                </a:solidFill>
              </a:rPr>
              <a:t>164.1</a:t>
            </a:r>
            <a:endParaRPr lang="en-US" sz="700" dirty="0"/>
          </a:p>
        </p:txBody>
      </p:sp>
      <p:sp>
        <p:nvSpPr>
          <p:cNvPr id="95" name="Shape 93"/>
          <p:cNvSpPr/>
          <p:nvPr/>
        </p:nvSpPr>
        <p:spPr>
          <a:xfrm>
            <a:off x="5306060" y="2695194"/>
            <a:ext cx="502920" cy="237744"/>
          </a:xfrm>
          <a:prstGeom prst="rect">
            <a:avLst/>
          </a:prstGeom>
          <a:solidFill>
            <a:srgbClr val="F8F8F8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6" name="Text 94"/>
          <p:cNvSpPr/>
          <p:nvPr/>
        </p:nvSpPr>
        <p:spPr>
          <a:xfrm>
            <a:off x="5306060" y="2695194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333333"/>
                </a:solidFill>
              </a:rPr>
              <a:t>GBM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5808980" y="2695194"/>
            <a:ext cx="502920" cy="237744"/>
          </a:xfrm>
          <a:prstGeom prst="rect">
            <a:avLst/>
          </a:prstGeom>
          <a:solidFill>
            <a:srgbClr val="F8F8F8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8" name="Text 96"/>
          <p:cNvSpPr/>
          <p:nvPr/>
        </p:nvSpPr>
        <p:spPr>
          <a:xfrm>
            <a:off x="5808980" y="2695194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333333"/>
                </a:solidFill>
              </a:rPr>
              <a:t>25.03.09</a:t>
            </a:r>
            <a:endParaRPr lang="en-US" sz="700" dirty="0"/>
          </a:p>
        </p:txBody>
      </p:sp>
      <p:sp>
        <p:nvSpPr>
          <p:cNvPr id="99" name="Shape 97"/>
          <p:cNvSpPr/>
          <p:nvPr/>
        </p:nvSpPr>
        <p:spPr>
          <a:xfrm>
            <a:off x="1737360" y="2951226"/>
            <a:ext cx="82296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0" name="Text 98"/>
          <p:cNvSpPr/>
          <p:nvPr/>
        </p:nvSpPr>
        <p:spPr>
          <a:xfrm>
            <a:off x="1737360" y="295122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333333"/>
                </a:solidFill>
              </a:rPr>
              <a:t>NCM523</a:t>
            </a:r>
            <a:endParaRPr lang="en-US" sz="700" dirty="0"/>
          </a:p>
        </p:txBody>
      </p:sp>
      <p:sp>
        <p:nvSpPr>
          <p:cNvPr id="101" name="Shape 99"/>
          <p:cNvSpPr/>
          <p:nvPr/>
        </p:nvSpPr>
        <p:spPr>
          <a:xfrm>
            <a:off x="2562860" y="2951226"/>
            <a:ext cx="41148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2" name="Text 100"/>
          <p:cNvSpPr/>
          <p:nvPr/>
        </p:nvSpPr>
        <p:spPr>
          <a:xfrm>
            <a:off x="2562860" y="2951226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333333"/>
                </a:solidFill>
              </a:rPr>
              <a:t>0.50</a:t>
            </a:r>
            <a:endParaRPr lang="en-US" sz="700" dirty="0"/>
          </a:p>
        </p:txBody>
      </p:sp>
      <p:sp>
        <p:nvSpPr>
          <p:cNvPr id="103" name="Shape 101"/>
          <p:cNvSpPr/>
          <p:nvPr/>
        </p:nvSpPr>
        <p:spPr>
          <a:xfrm>
            <a:off x="2974340" y="2951226"/>
            <a:ext cx="41148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4" name="Text 102"/>
          <p:cNvSpPr/>
          <p:nvPr/>
        </p:nvSpPr>
        <p:spPr>
          <a:xfrm>
            <a:off x="2974340" y="2951226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333333"/>
                </a:solidFill>
              </a:rPr>
              <a:t>0.20</a:t>
            </a:r>
            <a:endParaRPr lang="en-US" sz="700" dirty="0"/>
          </a:p>
        </p:txBody>
      </p:sp>
      <p:sp>
        <p:nvSpPr>
          <p:cNvPr id="105" name="Shape 103"/>
          <p:cNvSpPr/>
          <p:nvPr/>
        </p:nvSpPr>
        <p:spPr>
          <a:xfrm>
            <a:off x="3385820" y="2951226"/>
            <a:ext cx="41148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6" name="Text 104"/>
          <p:cNvSpPr/>
          <p:nvPr/>
        </p:nvSpPr>
        <p:spPr>
          <a:xfrm>
            <a:off x="3385820" y="2951226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333333"/>
                </a:solidFill>
              </a:rPr>
              <a:t>0.30</a:t>
            </a:r>
            <a:endParaRPr lang="en-US" sz="700" dirty="0"/>
          </a:p>
        </p:txBody>
      </p:sp>
      <p:sp>
        <p:nvSpPr>
          <p:cNvPr id="107" name="Shape 105"/>
          <p:cNvSpPr/>
          <p:nvPr/>
        </p:nvSpPr>
        <p:spPr>
          <a:xfrm>
            <a:off x="3797300" y="2951226"/>
            <a:ext cx="41148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8" name="Text 106"/>
          <p:cNvSpPr/>
          <p:nvPr/>
        </p:nvSpPr>
        <p:spPr>
          <a:xfrm>
            <a:off x="3797300" y="2951226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333333"/>
                </a:solidFill>
              </a:rPr>
              <a:t>Mg</a:t>
            </a:r>
            <a:endParaRPr lang="en-US" sz="700" dirty="0"/>
          </a:p>
        </p:txBody>
      </p:sp>
      <p:sp>
        <p:nvSpPr>
          <p:cNvPr id="109" name="Shape 107"/>
          <p:cNvSpPr/>
          <p:nvPr/>
        </p:nvSpPr>
        <p:spPr>
          <a:xfrm>
            <a:off x="4208780" y="2951226"/>
            <a:ext cx="54864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0" name="Text 108"/>
          <p:cNvSpPr/>
          <p:nvPr/>
        </p:nvSpPr>
        <p:spPr>
          <a:xfrm>
            <a:off x="4208780" y="295122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333333"/>
                </a:solidFill>
              </a:rPr>
              <a:t>168.3</a:t>
            </a:r>
            <a:endParaRPr lang="en-US" sz="700" dirty="0"/>
          </a:p>
        </p:txBody>
      </p:sp>
      <p:sp>
        <p:nvSpPr>
          <p:cNvPr id="111" name="Shape 109"/>
          <p:cNvSpPr/>
          <p:nvPr/>
        </p:nvSpPr>
        <p:spPr>
          <a:xfrm>
            <a:off x="4757420" y="2951226"/>
            <a:ext cx="54864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2" name="Text 110"/>
          <p:cNvSpPr/>
          <p:nvPr/>
        </p:nvSpPr>
        <p:spPr>
          <a:xfrm>
            <a:off x="4757420" y="295122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333333"/>
                </a:solidFill>
              </a:rPr>
              <a:t>155.2</a:t>
            </a:r>
            <a:endParaRPr lang="en-US" sz="700" dirty="0"/>
          </a:p>
        </p:txBody>
      </p:sp>
      <p:sp>
        <p:nvSpPr>
          <p:cNvPr id="113" name="Shape 111"/>
          <p:cNvSpPr/>
          <p:nvPr/>
        </p:nvSpPr>
        <p:spPr>
          <a:xfrm>
            <a:off x="5306060" y="2951226"/>
            <a:ext cx="50292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4" name="Text 112"/>
          <p:cNvSpPr/>
          <p:nvPr/>
        </p:nvSpPr>
        <p:spPr>
          <a:xfrm>
            <a:off x="5306060" y="295122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333333"/>
                </a:solidFill>
              </a:rPr>
              <a:t>XGB</a:t>
            </a:r>
            <a:endParaRPr lang="en-US" sz="700" dirty="0"/>
          </a:p>
        </p:txBody>
      </p:sp>
      <p:sp>
        <p:nvSpPr>
          <p:cNvPr id="115" name="Shape 113"/>
          <p:cNvSpPr/>
          <p:nvPr/>
        </p:nvSpPr>
        <p:spPr>
          <a:xfrm>
            <a:off x="5808980" y="2951226"/>
            <a:ext cx="50292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6" name="Text 114"/>
          <p:cNvSpPr/>
          <p:nvPr/>
        </p:nvSpPr>
        <p:spPr>
          <a:xfrm>
            <a:off x="5808980" y="295122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333333"/>
                </a:solidFill>
              </a:rPr>
              <a:t>25.03.08</a:t>
            </a:r>
            <a:endParaRPr lang="en-US" sz="700" dirty="0"/>
          </a:p>
        </p:txBody>
      </p:sp>
      <p:sp>
        <p:nvSpPr>
          <p:cNvPr id="117" name="Shape 115"/>
          <p:cNvSpPr/>
          <p:nvPr/>
        </p:nvSpPr>
        <p:spPr>
          <a:xfrm>
            <a:off x="6446520" y="1954530"/>
            <a:ext cx="242316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8" name="Text 116"/>
          <p:cNvSpPr/>
          <p:nvPr/>
        </p:nvSpPr>
        <p:spPr>
          <a:xfrm>
            <a:off x="6519672" y="1991106"/>
            <a:ext cx="22768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333333"/>
                </a:solidFill>
              </a:rPr>
              <a:t>모델별 예측 성능</a:t>
            </a:r>
            <a:endParaRPr lang="en-US" sz="800" dirty="0"/>
          </a:p>
        </p:txBody>
      </p:sp>
      <p:sp>
        <p:nvSpPr>
          <p:cNvPr id="119" name="Shape 117"/>
          <p:cNvSpPr/>
          <p:nvPr/>
        </p:nvSpPr>
        <p:spPr>
          <a:xfrm>
            <a:off x="6446520" y="2210562"/>
            <a:ext cx="2423160" cy="0"/>
          </a:xfrm>
          <a:prstGeom prst="line">
            <a:avLst/>
          </a:prstGeom>
          <a:noFill/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0" name="Shape 118"/>
          <p:cNvSpPr/>
          <p:nvPr/>
        </p:nvSpPr>
        <p:spPr>
          <a:xfrm>
            <a:off x="6675120" y="2607503"/>
            <a:ext cx="384048" cy="1495867"/>
          </a:xfrm>
          <a:prstGeom prst="rect">
            <a:avLst/>
          </a:prstGeom>
          <a:solidFill>
            <a:srgbClr val="D8D8D8"/>
          </a:solidFill>
          <a:ln w="1270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1" name="Text 119"/>
          <p:cNvSpPr/>
          <p:nvPr/>
        </p:nvSpPr>
        <p:spPr>
          <a:xfrm>
            <a:off x="6675120" y="2442911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33333"/>
                </a:solidFill>
              </a:rPr>
              <a:t>0.82</a:t>
            </a:r>
            <a:endParaRPr lang="en-US" sz="650" dirty="0"/>
          </a:p>
        </p:txBody>
      </p:sp>
      <p:sp>
        <p:nvSpPr>
          <p:cNvPr id="122" name="Text 120"/>
          <p:cNvSpPr/>
          <p:nvPr/>
        </p:nvSpPr>
        <p:spPr>
          <a:xfrm>
            <a:off x="6675120" y="4149090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666666"/>
                </a:solidFill>
              </a:rPr>
              <a:t>LGBM</a:t>
            </a:r>
            <a:endParaRPr lang="en-US" sz="650" dirty="0"/>
          </a:p>
        </p:txBody>
      </p:sp>
      <p:sp>
        <p:nvSpPr>
          <p:cNvPr id="123" name="Shape 121"/>
          <p:cNvSpPr/>
          <p:nvPr/>
        </p:nvSpPr>
        <p:spPr>
          <a:xfrm>
            <a:off x="7196328" y="2716957"/>
            <a:ext cx="384048" cy="1386413"/>
          </a:xfrm>
          <a:prstGeom prst="rect">
            <a:avLst/>
          </a:prstGeom>
          <a:solidFill>
            <a:srgbClr val="D8D8D8"/>
          </a:solidFill>
          <a:ln w="1270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4" name="Text 122"/>
          <p:cNvSpPr/>
          <p:nvPr/>
        </p:nvSpPr>
        <p:spPr>
          <a:xfrm>
            <a:off x="7196328" y="2552365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33333"/>
                </a:solidFill>
              </a:rPr>
              <a:t>0.76</a:t>
            </a:r>
            <a:endParaRPr lang="en-US" sz="650" dirty="0"/>
          </a:p>
        </p:txBody>
      </p:sp>
      <p:sp>
        <p:nvSpPr>
          <p:cNvPr id="125" name="Text 123"/>
          <p:cNvSpPr/>
          <p:nvPr/>
        </p:nvSpPr>
        <p:spPr>
          <a:xfrm>
            <a:off x="7196328" y="4149090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666666"/>
                </a:solidFill>
              </a:rPr>
              <a:t>GBM</a:t>
            </a:r>
            <a:endParaRPr lang="en-US" sz="650" dirty="0"/>
          </a:p>
        </p:txBody>
      </p:sp>
      <p:sp>
        <p:nvSpPr>
          <p:cNvPr id="126" name="Shape 124"/>
          <p:cNvSpPr/>
          <p:nvPr/>
        </p:nvSpPr>
        <p:spPr>
          <a:xfrm>
            <a:off x="7717536" y="2662230"/>
            <a:ext cx="384048" cy="1441140"/>
          </a:xfrm>
          <a:prstGeom prst="rect">
            <a:avLst/>
          </a:prstGeom>
          <a:solidFill>
            <a:srgbClr val="D8D8D8"/>
          </a:solidFill>
          <a:ln w="1270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7" name="Text 125"/>
          <p:cNvSpPr/>
          <p:nvPr/>
        </p:nvSpPr>
        <p:spPr>
          <a:xfrm>
            <a:off x="7717536" y="2497638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33333"/>
                </a:solidFill>
              </a:rPr>
              <a:t>0.79</a:t>
            </a:r>
            <a:endParaRPr lang="en-US" sz="650" dirty="0"/>
          </a:p>
        </p:txBody>
      </p:sp>
      <p:sp>
        <p:nvSpPr>
          <p:cNvPr id="128" name="Text 126"/>
          <p:cNvSpPr/>
          <p:nvPr/>
        </p:nvSpPr>
        <p:spPr>
          <a:xfrm>
            <a:off x="7717536" y="4149090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666666"/>
                </a:solidFill>
              </a:rPr>
              <a:t>XGB</a:t>
            </a:r>
            <a:endParaRPr lang="en-US" sz="650" dirty="0"/>
          </a:p>
        </p:txBody>
      </p:sp>
      <p:sp>
        <p:nvSpPr>
          <p:cNvPr id="129" name="Shape 127"/>
          <p:cNvSpPr/>
          <p:nvPr/>
        </p:nvSpPr>
        <p:spPr>
          <a:xfrm>
            <a:off x="8238744" y="2808168"/>
            <a:ext cx="384048" cy="1295202"/>
          </a:xfrm>
          <a:prstGeom prst="rect">
            <a:avLst/>
          </a:prstGeom>
          <a:solidFill>
            <a:srgbClr val="D8D8D8"/>
          </a:solidFill>
          <a:ln w="1270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0" name="Text 128"/>
          <p:cNvSpPr/>
          <p:nvPr/>
        </p:nvSpPr>
        <p:spPr>
          <a:xfrm>
            <a:off x="8238744" y="2643576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33333"/>
                </a:solidFill>
              </a:rPr>
              <a:t>0.71</a:t>
            </a:r>
            <a:endParaRPr lang="en-US" sz="650" dirty="0"/>
          </a:p>
        </p:txBody>
      </p:sp>
      <p:sp>
        <p:nvSpPr>
          <p:cNvPr id="131" name="Text 129"/>
          <p:cNvSpPr/>
          <p:nvPr/>
        </p:nvSpPr>
        <p:spPr>
          <a:xfrm>
            <a:off x="8238744" y="4149090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666666"/>
                </a:solidFill>
              </a:rPr>
              <a:t>RF</a:t>
            </a:r>
            <a:endParaRPr lang="en-US" sz="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274320" y="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02  소재 예측 입력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74320" y="506222"/>
            <a:ext cx="1280160" cy="4114800"/>
          </a:xfrm>
          <a:prstGeom prst="rect">
            <a:avLst/>
          </a:prstGeom>
          <a:solidFill>
            <a:srgbClr val="EEEEEE"/>
          </a:solidFill>
          <a:ln w="1270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274320" y="506222"/>
            <a:ext cx="1280160" cy="457200"/>
          </a:xfrm>
          <a:prstGeom prst="rect">
            <a:avLst/>
          </a:prstGeom>
          <a:solidFill>
            <a:srgbClr val="333333"/>
          </a:solidFill>
          <a:ln w="1270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274320" y="506222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NCM Predict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274320" y="963422"/>
            <a:ext cx="1280160" cy="438912"/>
          </a:xfrm>
          <a:prstGeom prst="rect">
            <a:avLst/>
          </a:prstGeom>
          <a:solidFill>
            <a:srgbClr val="EEEEEE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274320" y="96342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33333"/>
                </a:solidFill>
              </a:rPr>
              <a:t>대시보드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74320" y="1466342"/>
            <a:ext cx="1280160" cy="438912"/>
          </a:xfrm>
          <a:prstGeom prst="rect">
            <a:avLst/>
          </a:prstGeom>
          <a:solidFill>
            <a:srgbClr val="333333"/>
          </a:solidFill>
          <a:ln w="1270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274320" y="146634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소재 예측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274320" y="1969262"/>
            <a:ext cx="1280160" cy="438912"/>
          </a:xfrm>
          <a:prstGeom prst="rect">
            <a:avLst/>
          </a:prstGeom>
          <a:solidFill>
            <a:srgbClr val="EEEEEE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274320" y="196926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33333"/>
                </a:solidFill>
              </a:rPr>
              <a:t>결과 분석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4320" y="2472182"/>
            <a:ext cx="1280160" cy="438912"/>
          </a:xfrm>
          <a:prstGeom prst="rect">
            <a:avLst/>
          </a:prstGeom>
          <a:solidFill>
            <a:srgbClr val="EEEEEE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274320" y="247218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33333"/>
                </a:solidFill>
              </a:rPr>
              <a:t>시나리오 비교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691640" y="524510"/>
            <a:ext cx="7178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33333"/>
                </a:solidFill>
              </a:rPr>
              <a:t>소재 예측 입력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691640" y="800100"/>
            <a:ext cx="356616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1764792" y="881126"/>
            <a:ext cx="34198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333333"/>
                </a:solidFill>
              </a:rPr>
              <a:t>조성 입력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691640" y="1100582"/>
            <a:ext cx="3566160" cy="0"/>
          </a:xfrm>
          <a:prstGeom prst="line">
            <a:avLst/>
          </a:prstGeom>
          <a:noFill/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1828800" y="118287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6666"/>
                </a:solidFill>
              </a:rPr>
              <a:t>Ni 함량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2971800" y="1237742"/>
            <a:ext cx="1920240" cy="91440"/>
          </a:xfrm>
          <a:prstGeom prst="rect">
            <a:avLst/>
          </a:prstGeom>
          <a:solidFill>
            <a:srgbClr val="AAAAAA"/>
          </a:solidFill>
          <a:ln w="1270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2971800" y="1237742"/>
            <a:ext cx="1536192" cy="9144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/>
          <p:nvPr/>
        </p:nvSpPr>
        <p:spPr>
          <a:xfrm>
            <a:off x="4937760" y="118287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333333"/>
                </a:solidFill>
              </a:rPr>
              <a:t>0.80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828800" y="165836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6666"/>
                </a:solidFill>
              </a:rPr>
              <a:t>Co 함량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2971800" y="1713230"/>
            <a:ext cx="1920240" cy="91440"/>
          </a:xfrm>
          <a:prstGeom prst="rect">
            <a:avLst/>
          </a:prstGeom>
          <a:solidFill>
            <a:srgbClr val="AAAAAA"/>
          </a:solidFill>
          <a:ln w="1270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9"/>
          <p:cNvSpPr/>
          <p:nvPr/>
        </p:nvSpPr>
        <p:spPr>
          <a:xfrm>
            <a:off x="2971800" y="1713230"/>
            <a:ext cx="192024" cy="9144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4937760" y="1658366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333333"/>
                </a:solidFill>
              </a:rPr>
              <a:t>0.10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1828800" y="2133854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6666"/>
                </a:solidFill>
              </a:rPr>
              <a:t>Mn 함량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2971800" y="2188718"/>
            <a:ext cx="1920240" cy="91440"/>
          </a:xfrm>
          <a:prstGeom prst="rect">
            <a:avLst/>
          </a:prstGeom>
          <a:solidFill>
            <a:srgbClr val="AAAAAA"/>
          </a:solidFill>
          <a:ln w="1270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4"/>
          <p:cNvSpPr/>
          <p:nvPr/>
        </p:nvSpPr>
        <p:spPr>
          <a:xfrm>
            <a:off x="2971800" y="2188718"/>
            <a:ext cx="192024" cy="9144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/>
          <p:nvPr/>
        </p:nvSpPr>
        <p:spPr>
          <a:xfrm>
            <a:off x="4937760" y="2133854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333333"/>
                </a:solidFill>
              </a:rPr>
              <a:t>0.10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1828800" y="2600198"/>
            <a:ext cx="3291840" cy="0"/>
          </a:xfrm>
          <a:prstGeom prst="line">
            <a:avLst/>
          </a:prstGeom>
          <a:noFill/>
          <a:ln w="6350">
            <a:solidFill>
              <a:srgbClr val="AAAAAA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8"/>
          <p:cNvSpPr/>
          <p:nvPr/>
        </p:nvSpPr>
        <p:spPr>
          <a:xfrm>
            <a:off x="1828800" y="269163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6666"/>
                </a:solidFill>
              </a:rPr>
              <a:t>도핑 원소 (M)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1828800" y="2901950"/>
            <a:ext cx="713232" cy="256032"/>
          </a:xfrm>
          <a:prstGeom prst="rect">
            <a:avLst/>
          </a:prstGeom>
          <a:solidFill>
            <a:srgbClr val="333333"/>
          </a:solidFill>
          <a:ln w="1270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40"/>
          <p:cNvSpPr/>
          <p:nvPr/>
        </p:nvSpPr>
        <p:spPr>
          <a:xfrm>
            <a:off x="1828800" y="2901950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FFFFFF"/>
                </a:solidFill>
              </a:rPr>
              <a:t>Al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2633472" y="2901950"/>
            <a:ext cx="713232" cy="256032"/>
          </a:xfrm>
          <a:prstGeom prst="rect">
            <a:avLst/>
          </a:prstGeom>
          <a:solidFill>
            <a:srgbClr val="EEEEEE"/>
          </a:solidFill>
          <a:ln w="1270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2"/>
          <p:cNvSpPr/>
          <p:nvPr/>
        </p:nvSpPr>
        <p:spPr>
          <a:xfrm>
            <a:off x="2633472" y="2901950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333333"/>
                </a:solidFill>
              </a:rPr>
              <a:t>Ti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3438144" y="2901950"/>
            <a:ext cx="713232" cy="256032"/>
          </a:xfrm>
          <a:prstGeom prst="rect">
            <a:avLst/>
          </a:prstGeom>
          <a:solidFill>
            <a:srgbClr val="EEEEEE"/>
          </a:solidFill>
          <a:ln w="1270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4"/>
          <p:cNvSpPr/>
          <p:nvPr/>
        </p:nvSpPr>
        <p:spPr>
          <a:xfrm>
            <a:off x="3438144" y="2901950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333333"/>
                </a:solidFill>
              </a:rPr>
              <a:t>Mg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4242816" y="2901950"/>
            <a:ext cx="713232" cy="256032"/>
          </a:xfrm>
          <a:prstGeom prst="rect">
            <a:avLst/>
          </a:prstGeom>
          <a:solidFill>
            <a:srgbClr val="EEEEEE"/>
          </a:solidFill>
          <a:ln w="1270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6"/>
          <p:cNvSpPr/>
          <p:nvPr/>
        </p:nvSpPr>
        <p:spPr>
          <a:xfrm>
            <a:off x="4242816" y="2901950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333333"/>
                </a:solidFill>
              </a:rPr>
              <a:t>Zr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1828800" y="3221990"/>
            <a:ext cx="713232" cy="256032"/>
          </a:xfrm>
          <a:prstGeom prst="rect">
            <a:avLst/>
          </a:prstGeom>
          <a:solidFill>
            <a:srgbClr val="EEEEEE"/>
          </a:solidFill>
          <a:ln w="1270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Text 48"/>
          <p:cNvSpPr/>
          <p:nvPr/>
        </p:nvSpPr>
        <p:spPr>
          <a:xfrm>
            <a:off x="1828800" y="3221990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333333"/>
                </a:solidFill>
              </a:rPr>
              <a:t>Mo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2633472" y="3221990"/>
            <a:ext cx="713232" cy="256032"/>
          </a:xfrm>
          <a:prstGeom prst="rect">
            <a:avLst/>
          </a:prstGeom>
          <a:solidFill>
            <a:srgbClr val="EEEEEE"/>
          </a:solidFill>
          <a:ln w="1270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50"/>
          <p:cNvSpPr/>
          <p:nvPr/>
        </p:nvSpPr>
        <p:spPr>
          <a:xfrm>
            <a:off x="2633472" y="3221990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333333"/>
                </a:solidFill>
              </a:rPr>
              <a:t>W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3438144" y="3221990"/>
            <a:ext cx="713232" cy="256032"/>
          </a:xfrm>
          <a:prstGeom prst="rect">
            <a:avLst/>
          </a:prstGeom>
          <a:solidFill>
            <a:srgbClr val="EEEEEE"/>
          </a:solidFill>
          <a:ln w="1270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2"/>
          <p:cNvSpPr/>
          <p:nvPr/>
        </p:nvSpPr>
        <p:spPr>
          <a:xfrm>
            <a:off x="3438144" y="3221990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333333"/>
                </a:solidFill>
              </a:rPr>
              <a:t>Nb</a:t>
            </a:r>
            <a:endParaRPr lang="en-US" sz="750" dirty="0"/>
          </a:p>
        </p:txBody>
      </p:sp>
      <p:sp>
        <p:nvSpPr>
          <p:cNvPr id="55" name="Text 53"/>
          <p:cNvSpPr/>
          <p:nvPr/>
        </p:nvSpPr>
        <p:spPr>
          <a:xfrm>
            <a:off x="1828800" y="3518662"/>
            <a:ext cx="14630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66666"/>
                </a:solidFill>
              </a:rPr>
              <a:t>도핑 함량 (M)</a:t>
            </a:r>
            <a:endParaRPr lang="en-US" sz="700" dirty="0"/>
          </a:p>
        </p:txBody>
      </p:sp>
      <p:sp>
        <p:nvSpPr>
          <p:cNvPr id="56" name="Shape 54"/>
          <p:cNvSpPr/>
          <p:nvPr/>
        </p:nvSpPr>
        <p:spPr>
          <a:xfrm>
            <a:off x="1828800" y="3683254"/>
            <a:ext cx="146304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5"/>
          <p:cNvSpPr/>
          <p:nvPr/>
        </p:nvSpPr>
        <p:spPr>
          <a:xfrm>
            <a:off x="1901952" y="3587750"/>
            <a:ext cx="1316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1828800" y="3990086"/>
            <a:ext cx="3291840" cy="0"/>
          </a:xfrm>
          <a:prstGeom prst="line">
            <a:avLst/>
          </a:prstGeom>
          <a:noFill/>
          <a:ln w="6350">
            <a:solidFill>
              <a:srgbClr val="AAAAAA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Text 57"/>
          <p:cNvSpPr/>
          <p:nvPr/>
        </p:nvSpPr>
        <p:spPr>
          <a:xfrm>
            <a:off x="1828800" y="404495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6666"/>
                </a:solidFill>
              </a:rPr>
              <a:t>실험 조건</a:t>
            </a:r>
            <a:endParaRPr lang="en-US" sz="750" dirty="0"/>
          </a:p>
        </p:txBody>
      </p:sp>
      <p:sp>
        <p:nvSpPr>
          <p:cNvPr id="60" name="Text 58"/>
          <p:cNvSpPr/>
          <p:nvPr/>
        </p:nvSpPr>
        <p:spPr>
          <a:xfrm>
            <a:off x="1828800" y="4182110"/>
            <a:ext cx="16459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 err="1">
                <a:solidFill>
                  <a:srgbClr val="666666"/>
                </a:solidFill>
              </a:rPr>
              <a:t>전류밀도</a:t>
            </a:r>
            <a:r>
              <a:rPr lang="en-US" sz="700" dirty="0">
                <a:solidFill>
                  <a:srgbClr val="666666"/>
                </a:solidFill>
              </a:rPr>
              <a:t> </a:t>
            </a:r>
            <a:endParaRPr lang="en-US" sz="700" dirty="0"/>
          </a:p>
        </p:txBody>
      </p:sp>
      <p:sp>
        <p:nvSpPr>
          <p:cNvPr id="61" name="Shape 59"/>
          <p:cNvSpPr/>
          <p:nvPr/>
        </p:nvSpPr>
        <p:spPr>
          <a:xfrm>
            <a:off x="1828800" y="4346702"/>
            <a:ext cx="164592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 60"/>
          <p:cNvSpPr/>
          <p:nvPr/>
        </p:nvSpPr>
        <p:spPr>
          <a:xfrm>
            <a:off x="1901952" y="4346702"/>
            <a:ext cx="1499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3611880" y="4182110"/>
            <a:ext cx="16459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66666"/>
                </a:solidFill>
              </a:rPr>
              <a:t>V_max</a:t>
            </a:r>
            <a:endParaRPr lang="en-US" sz="700" dirty="0"/>
          </a:p>
        </p:txBody>
      </p:sp>
      <p:sp>
        <p:nvSpPr>
          <p:cNvPr id="64" name="Shape 62"/>
          <p:cNvSpPr/>
          <p:nvPr/>
        </p:nvSpPr>
        <p:spPr>
          <a:xfrm>
            <a:off x="3611880" y="4346702"/>
            <a:ext cx="164592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Text 63"/>
          <p:cNvSpPr/>
          <p:nvPr/>
        </p:nvSpPr>
        <p:spPr>
          <a:xfrm>
            <a:off x="3685032" y="4346702"/>
            <a:ext cx="1499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5394960" y="812800"/>
            <a:ext cx="338328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Text 65"/>
          <p:cNvSpPr/>
          <p:nvPr/>
        </p:nvSpPr>
        <p:spPr>
          <a:xfrm>
            <a:off x="5468112" y="881126"/>
            <a:ext cx="32369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333333"/>
                </a:solidFill>
              </a:rPr>
              <a:t>입력값 미리보기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5394960" y="1100582"/>
            <a:ext cx="3383280" cy="0"/>
          </a:xfrm>
          <a:prstGeom prst="line">
            <a:avLst/>
          </a:prstGeom>
          <a:noFill/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9" name="Shape 67"/>
          <p:cNvSpPr/>
          <p:nvPr/>
        </p:nvSpPr>
        <p:spPr>
          <a:xfrm>
            <a:off x="5532120" y="1146302"/>
            <a:ext cx="3090672" cy="1463040"/>
          </a:xfrm>
          <a:prstGeom prst="rect">
            <a:avLst/>
          </a:prstGeom>
          <a:solidFill>
            <a:srgbClr val="D8D8D8"/>
          </a:solidFill>
          <a:ln w="1270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0" name="Shape 68"/>
          <p:cNvSpPr/>
          <p:nvPr/>
        </p:nvSpPr>
        <p:spPr>
          <a:xfrm>
            <a:off x="5532120" y="1146302"/>
            <a:ext cx="3090672" cy="1463040"/>
          </a:xfrm>
          <a:prstGeom prst="line">
            <a:avLst/>
          </a:prstGeom>
          <a:noFill/>
          <a:ln w="1270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1" name="Shape 69"/>
          <p:cNvSpPr/>
          <p:nvPr/>
        </p:nvSpPr>
        <p:spPr>
          <a:xfrm>
            <a:off x="8622792" y="1146302"/>
            <a:ext cx="0" cy="1463040"/>
          </a:xfrm>
          <a:prstGeom prst="line">
            <a:avLst/>
          </a:prstGeom>
          <a:noFill/>
          <a:ln w="1270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2" name="Text 70"/>
          <p:cNvSpPr/>
          <p:nvPr/>
        </p:nvSpPr>
        <p:spPr>
          <a:xfrm>
            <a:off x="5532120" y="1758950"/>
            <a:ext cx="3090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6666"/>
                </a:solidFill>
              </a:rPr>
              <a:t>조성 비율 시각화 (Ni 80% / Co 10% / Mn 10%)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5394960" y="267335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33333"/>
                </a:solidFill>
              </a:rPr>
              <a:t>Ni 80%  ·  Co 10%  ·  Mn 10%</a:t>
            </a:r>
            <a:endParaRPr lang="en-US" sz="800" dirty="0"/>
          </a:p>
        </p:txBody>
      </p:sp>
      <p:sp>
        <p:nvSpPr>
          <p:cNvPr id="74" name="Text 72"/>
          <p:cNvSpPr/>
          <p:nvPr/>
        </p:nvSpPr>
        <p:spPr>
          <a:xfrm>
            <a:off x="5394960" y="290195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66666"/>
                </a:solidFill>
              </a:rPr>
              <a:t>도핑: Al  ·  함량: 0.02  ·  CD: 0.1C  ·  V_max: 4.3V</a:t>
            </a:r>
            <a:endParaRPr lang="en-US" sz="750" dirty="0"/>
          </a:p>
        </p:txBody>
      </p:sp>
      <p:sp>
        <p:nvSpPr>
          <p:cNvPr id="75" name="Shape 73"/>
          <p:cNvSpPr/>
          <p:nvPr/>
        </p:nvSpPr>
        <p:spPr>
          <a:xfrm>
            <a:off x="5394960" y="3915410"/>
            <a:ext cx="33832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6" name="Text 74"/>
          <p:cNvSpPr/>
          <p:nvPr/>
        </p:nvSpPr>
        <p:spPr>
          <a:xfrm>
            <a:off x="5468112" y="3990086"/>
            <a:ext cx="32369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333333"/>
                </a:solidFill>
              </a:rPr>
              <a:t>예측 모델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5394960" y="4209542"/>
            <a:ext cx="3383280" cy="0"/>
          </a:xfrm>
          <a:prstGeom prst="line">
            <a:avLst/>
          </a:prstGeom>
          <a:noFill/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8" name="Shape 76"/>
          <p:cNvSpPr/>
          <p:nvPr/>
        </p:nvSpPr>
        <p:spPr>
          <a:xfrm>
            <a:off x="5468620" y="4246880"/>
            <a:ext cx="237744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9" name="Text 77"/>
          <p:cNvSpPr/>
          <p:nvPr/>
        </p:nvSpPr>
        <p:spPr>
          <a:xfrm>
            <a:off x="5516372" y="4246880"/>
            <a:ext cx="2304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33333"/>
                </a:solidFill>
              </a:rPr>
              <a:t> ▾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5394960" y="4764278"/>
            <a:ext cx="3383280" cy="347472"/>
          </a:xfrm>
          <a:prstGeom prst="rect">
            <a:avLst/>
          </a:prstGeom>
          <a:solidFill>
            <a:srgbClr val="333333"/>
          </a:solidFill>
          <a:ln w="1270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1" name="Text 79"/>
          <p:cNvSpPr/>
          <p:nvPr/>
        </p:nvSpPr>
        <p:spPr>
          <a:xfrm>
            <a:off x="5394960" y="4775707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▶  예측 실행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274320" y="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03  예측 결과 &amp; SHAP 분석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74320" y="512572"/>
            <a:ext cx="1280160" cy="4114800"/>
          </a:xfrm>
          <a:prstGeom prst="rect">
            <a:avLst/>
          </a:prstGeom>
          <a:solidFill>
            <a:srgbClr val="EEEEEE"/>
          </a:solidFill>
          <a:ln w="1270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274320" y="512572"/>
            <a:ext cx="1280160" cy="457200"/>
          </a:xfrm>
          <a:prstGeom prst="rect">
            <a:avLst/>
          </a:prstGeom>
          <a:solidFill>
            <a:srgbClr val="333333"/>
          </a:solidFill>
          <a:ln w="1270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274320" y="512572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NCM Predict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274320" y="969772"/>
            <a:ext cx="1280160" cy="438912"/>
          </a:xfrm>
          <a:prstGeom prst="rect">
            <a:avLst/>
          </a:prstGeom>
          <a:solidFill>
            <a:srgbClr val="EEEEEE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274320" y="96977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33333"/>
                </a:solidFill>
              </a:rPr>
              <a:t>대시보드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74320" y="1472692"/>
            <a:ext cx="1280160" cy="438912"/>
          </a:xfrm>
          <a:prstGeom prst="rect">
            <a:avLst/>
          </a:prstGeom>
          <a:solidFill>
            <a:srgbClr val="EEEEEE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274320" y="147269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33333"/>
                </a:solidFill>
              </a:rPr>
              <a:t>소재 예측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274320" y="1975612"/>
            <a:ext cx="1280160" cy="438912"/>
          </a:xfrm>
          <a:prstGeom prst="rect">
            <a:avLst/>
          </a:prstGeom>
          <a:solidFill>
            <a:srgbClr val="333333"/>
          </a:solidFill>
          <a:ln w="1270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274320" y="197561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결과 분석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4320" y="2478532"/>
            <a:ext cx="1280160" cy="438912"/>
          </a:xfrm>
          <a:prstGeom prst="rect">
            <a:avLst/>
          </a:prstGeom>
          <a:solidFill>
            <a:srgbClr val="EEEEEE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274320" y="247853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33333"/>
                </a:solidFill>
              </a:rPr>
              <a:t>시나리오 비교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691640" y="530860"/>
            <a:ext cx="7178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33333"/>
                </a:solidFill>
              </a:rPr>
              <a:t>예측 결과  —  NCM811 (Al 도핑, 0.02)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691640" y="850900"/>
            <a:ext cx="3474720" cy="960120"/>
          </a:xfrm>
          <a:prstGeom prst="rect">
            <a:avLst/>
          </a:prstGeom>
          <a:solidFill>
            <a:srgbClr val="FFFFFF"/>
          </a:solidFill>
          <a:ln w="190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1691640" y="850900"/>
            <a:ext cx="3474720" cy="5486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1801368" y="942340"/>
            <a:ext cx="3255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</a:rPr>
              <a:t>초기 방전 용량 (IC)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801368" y="114350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3703320" y="130810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</a:rPr>
              <a:t>mAh/g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801368" y="1554988"/>
            <a:ext cx="32552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99999"/>
                </a:solidFill>
              </a:rPr>
              <a:t>논문 기준 RMSE: 16.66 이하 목표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5303520" y="850900"/>
            <a:ext cx="3474720" cy="960120"/>
          </a:xfrm>
          <a:prstGeom prst="rect">
            <a:avLst/>
          </a:prstGeom>
          <a:solidFill>
            <a:srgbClr val="FFFFFF"/>
          </a:solidFill>
          <a:ln w="190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5303520" y="850900"/>
            <a:ext cx="3474720" cy="5486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5413248" y="942340"/>
            <a:ext cx="3255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</a:rPr>
              <a:t>50사이클 후 방전 용량 (EC)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5413248" y="114350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7315200" y="130810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</a:rPr>
              <a:t>mAh/g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413248" y="1554988"/>
            <a:ext cx="32552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99999"/>
                </a:solidFill>
              </a:rPr>
              <a:t>용량 유지율: 93.6%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1691640" y="1884172"/>
            <a:ext cx="347472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2"/>
          <p:cNvSpPr/>
          <p:nvPr/>
        </p:nvSpPr>
        <p:spPr>
          <a:xfrm>
            <a:off x="1764792" y="1920748"/>
            <a:ext cx="3328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333333"/>
                </a:solidFill>
              </a:rPr>
              <a:t>SHAP Waterfall  —  IC 예측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1691640" y="2140204"/>
            <a:ext cx="3474720" cy="0"/>
          </a:xfrm>
          <a:prstGeom prst="line">
            <a:avLst/>
          </a:prstGeom>
          <a:noFill/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/>
          <p:nvPr/>
        </p:nvSpPr>
        <p:spPr>
          <a:xfrm>
            <a:off x="1783080" y="21950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33333"/>
                </a:solidFill>
              </a:rPr>
              <a:t>V_max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3337560" y="2231644"/>
            <a:ext cx="1828800" cy="201168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/>
          <p:nvPr/>
        </p:nvSpPr>
        <p:spPr>
          <a:xfrm>
            <a:off x="4892040" y="2195068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333333"/>
                </a:solidFill>
              </a:rPr>
              <a:t>+18.4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1783080" y="253339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33333"/>
                </a:solidFill>
              </a:rPr>
              <a:t>Ni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3337560" y="2569972"/>
            <a:ext cx="1411357" cy="201168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4892040" y="2533396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333333"/>
                </a:solidFill>
              </a:rPr>
              <a:t>+14.2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1783080" y="287172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33333"/>
                </a:solidFill>
              </a:rPr>
              <a:t>EN_M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2512612" y="2908300"/>
            <a:ext cx="824948" cy="201168"/>
          </a:xfrm>
          <a:prstGeom prst="rect">
            <a:avLst/>
          </a:prstGeom>
          <a:solidFill>
            <a:srgbClr val="999999"/>
          </a:solidFill>
          <a:ln w="1270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2"/>
          <p:cNvSpPr/>
          <p:nvPr/>
        </p:nvSpPr>
        <p:spPr>
          <a:xfrm>
            <a:off x="4892040" y="287172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333333"/>
                </a:solidFill>
              </a:rPr>
              <a:t>-8.3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1783080" y="321005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33333"/>
                </a:solidFill>
              </a:rPr>
              <a:t>LC_c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3337560" y="3246628"/>
            <a:ext cx="606287" cy="201168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5"/>
          <p:cNvSpPr/>
          <p:nvPr/>
        </p:nvSpPr>
        <p:spPr>
          <a:xfrm>
            <a:off x="4892040" y="3210052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333333"/>
                </a:solidFill>
              </a:rPr>
              <a:t>+6.1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1783080" y="35483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33333"/>
                </a:solidFill>
              </a:rPr>
              <a:t>M(도핑)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2771030" y="3584956"/>
            <a:ext cx="566530" cy="201168"/>
          </a:xfrm>
          <a:prstGeom prst="rect">
            <a:avLst/>
          </a:prstGeom>
          <a:solidFill>
            <a:srgbClr val="999999"/>
          </a:solidFill>
          <a:ln w="1270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Text 48"/>
          <p:cNvSpPr/>
          <p:nvPr/>
        </p:nvSpPr>
        <p:spPr>
          <a:xfrm>
            <a:off x="4892040" y="354838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333333"/>
                </a:solidFill>
              </a:rPr>
              <a:t>-5.7</a:t>
            </a:r>
            <a:endParaRPr lang="en-US" sz="750" dirty="0"/>
          </a:p>
        </p:txBody>
      </p:sp>
      <p:sp>
        <p:nvSpPr>
          <p:cNvPr id="51" name="Text 49"/>
          <p:cNvSpPr/>
          <p:nvPr/>
        </p:nvSpPr>
        <p:spPr>
          <a:xfrm>
            <a:off x="1783080" y="388670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33333"/>
                </a:solidFill>
              </a:rPr>
              <a:t>Li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3337560" y="3923284"/>
            <a:ext cx="417443" cy="201168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Text 51"/>
          <p:cNvSpPr/>
          <p:nvPr/>
        </p:nvSpPr>
        <p:spPr>
          <a:xfrm>
            <a:off x="4892040" y="3886708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333333"/>
                </a:solidFill>
              </a:rPr>
              <a:t>+4.2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5303520" y="1884172"/>
            <a:ext cx="356616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Text 53"/>
          <p:cNvSpPr/>
          <p:nvPr/>
        </p:nvSpPr>
        <p:spPr>
          <a:xfrm>
            <a:off x="5376672" y="1920748"/>
            <a:ext cx="34198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333333"/>
                </a:solidFill>
              </a:rPr>
              <a:t>SHAP Summary  —  피처 중요도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5303520" y="2140204"/>
            <a:ext cx="3566160" cy="0"/>
          </a:xfrm>
          <a:prstGeom prst="line">
            <a:avLst/>
          </a:prstGeom>
          <a:noFill/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5"/>
          <p:cNvSpPr/>
          <p:nvPr/>
        </p:nvSpPr>
        <p:spPr>
          <a:xfrm>
            <a:off x="5394960" y="21950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33333"/>
                </a:solidFill>
              </a:rPr>
              <a:t>V_max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6355080" y="2231644"/>
            <a:ext cx="2286000" cy="201168"/>
          </a:xfrm>
          <a:prstGeom prst="rect">
            <a:avLst/>
          </a:prstGeom>
          <a:solidFill>
            <a:srgbClr val="D8D8D8"/>
          </a:solidFill>
          <a:ln w="1270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Text 57"/>
          <p:cNvSpPr/>
          <p:nvPr/>
        </p:nvSpPr>
        <p:spPr>
          <a:xfrm>
            <a:off x="5394960" y="253339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33333"/>
                </a:solidFill>
              </a:rPr>
              <a:t>Ni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6355080" y="2569972"/>
            <a:ext cx="1828800" cy="201168"/>
          </a:xfrm>
          <a:prstGeom prst="rect">
            <a:avLst/>
          </a:prstGeom>
          <a:solidFill>
            <a:srgbClr val="D8D8D8"/>
          </a:solidFill>
          <a:ln w="1270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Text 59"/>
          <p:cNvSpPr/>
          <p:nvPr/>
        </p:nvSpPr>
        <p:spPr>
          <a:xfrm>
            <a:off x="5394960" y="287172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33333"/>
                </a:solidFill>
              </a:rPr>
              <a:t>M(도핑)</a:t>
            </a:r>
            <a:endParaRPr lang="en-US" sz="750" dirty="0"/>
          </a:p>
        </p:txBody>
      </p:sp>
      <p:sp>
        <p:nvSpPr>
          <p:cNvPr id="62" name="Shape 60"/>
          <p:cNvSpPr/>
          <p:nvPr/>
        </p:nvSpPr>
        <p:spPr>
          <a:xfrm>
            <a:off x="6355080" y="2908300"/>
            <a:ext cx="1485900" cy="201168"/>
          </a:xfrm>
          <a:prstGeom prst="rect">
            <a:avLst/>
          </a:prstGeom>
          <a:solidFill>
            <a:srgbClr val="D8D8D8"/>
          </a:solidFill>
          <a:ln w="1270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Text 61"/>
          <p:cNvSpPr/>
          <p:nvPr/>
        </p:nvSpPr>
        <p:spPr>
          <a:xfrm>
            <a:off x="5394960" y="32100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33333"/>
                </a:solidFill>
              </a:rPr>
              <a:t>EN_M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6355080" y="3246628"/>
            <a:ext cx="1257300" cy="201168"/>
          </a:xfrm>
          <a:prstGeom prst="rect">
            <a:avLst/>
          </a:prstGeom>
          <a:solidFill>
            <a:srgbClr val="D8D8D8"/>
          </a:solidFill>
          <a:ln w="1270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Text 63"/>
          <p:cNvSpPr/>
          <p:nvPr/>
        </p:nvSpPr>
        <p:spPr>
          <a:xfrm>
            <a:off x="5394960" y="35483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33333"/>
                </a:solidFill>
              </a:rPr>
              <a:t>LC_c</a:t>
            </a:r>
            <a:endParaRPr lang="en-US" sz="750" dirty="0"/>
          </a:p>
        </p:txBody>
      </p:sp>
      <p:sp>
        <p:nvSpPr>
          <p:cNvPr id="66" name="Shape 64"/>
          <p:cNvSpPr/>
          <p:nvPr/>
        </p:nvSpPr>
        <p:spPr>
          <a:xfrm>
            <a:off x="6355080" y="3584956"/>
            <a:ext cx="1028700" cy="201168"/>
          </a:xfrm>
          <a:prstGeom prst="rect">
            <a:avLst/>
          </a:prstGeom>
          <a:solidFill>
            <a:srgbClr val="D8D8D8"/>
          </a:solidFill>
          <a:ln w="1270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Text 65"/>
          <p:cNvSpPr/>
          <p:nvPr/>
        </p:nvSpPr>
        <p:spPr>
          <a:xfrm>
            <a:off x="5394960" y="38867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33333"/>
                </a:solidFill>
              </a:rPr>
              <a:t>Li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6355080" y="3923284"/>
            <a:ext cx="800100" cy="201168"/>
          </a:xfrm>
          <a:prstGeom prst="rect">
            <a:avLst/>
          </a:prstGeom>
          <a:solidFill>
            <a:srgbClr val="D8D8D8"/>
          </a:solidFill>
          <a:ln w="1270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274320" y="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04  시나리오 비교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74320" y="518922"/>
            <a:ext cx="1280160" cy="4114800"/>
          </a:xfrm>
          <a:prstGeom prst="rect">
            <a:avLst/>
          </a:prstGeom>
          <a:solidFill>
            <a:srgbClr val="EEEEEE"/>
          </a:solidFill>
          <a:ln w="1270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274320" y="518922"/>
            <a:ext cx="1280160" cy="457200"/>
          </a:xfrm>
          <a:prstGeom prst="rect">
            <a:avLst/>
          </a:prstGeom>
          <a:solidFill>
            <a:srgbClr val="333333"/>
          </a:solidFill>
          <a:ln w="1270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274320" y="518922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NCM Predict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274320" y="976122"/>
            <a:ext cx="1280160" cy="438912"/>
          </a:xfrm>
          <a:prstGeom prst="rect">
            <a:avLst/>
          </a:prstGeom>
          <a:solidFill>
            <a:srgbClr val="EEEEEE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274320" y="97612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33333"/>
                </a:solidFill>
              </a:rPr>
              <a:t>대시보드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74320" y="1479042"/>
            <a:ext cx="1280160" cy="438912"/>
          </a:xfrm>
          <a:prstGeom prst="rect">
            <a:avLst/>
          </a:prstGeom>
          <a:solidFill>
            <a:srgbClr val="EEEEEE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274320" y="147904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33333"/>
                </a:solidFill>
              </a:rPr>
              <a:t>소재 예측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274320" y="1981962"/>
            <a:ext cx="1280160" cy="438912"/>
          </a:xfrm>
          <a:prstGeom prst="rect">
            <a:avLst/>
          </a:prstGeom>
          <a:solidFill>
            <a:srgbClr val="EEEEEE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274320" y="198196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33333"/>
                </a:solidFill>
              </a:rPr>
              <a:t>결과 분석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4320" y="2484882"/>
            <a:ext cx="1280160" cy="438912"/>
          </a:xfrm>
          <a:prstGeom prst="rect">
            <a:avLst/>
          </a:prstGeom>
          <a:solidFill>
            <a:srgbClr val="333333"/>
          </a:solidFill>
          <a:ln w="1270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274320" y="248488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시나리오 비교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691640" y="537210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33333"/>
                </a:solidFill>
              </a:rPr>
              <a:t>시나리오 비교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726680" y="537210"/>
            <a:ext cx="1005840" cy="256032"/>
          </a:xfrm>
          <a:prstGeom prst="rect">
            <a:avLst/>
          </a:prstGeom>
          <a:solidFill>
            <a:srgbClr val="EEEEEE"/>
          </a:solidFill>
          <a:ln w="1270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7726680" y="53721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33333"/>
                </a:solidFill>
              </a:rPr>
              <a:t>+ 시나리오 추가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691640" y="884682"/>
            <a:ext cx="230428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1691640" y="884682"/>
            <a:ext cx="2304288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1764792" y="884682"/>
            <a:ext cx="2157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NCM811 (Al)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783080" y="1287018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99999"/>
                </a:solidFill>
              </a:rPr>
              <a:t>Ni / Co / Mn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1783080" y="145161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33333"/>
                </a:solidFill>
              </a:rPr>
              <a:t>0.8 / 0.1 / 0.1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783080" y="172593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99999"/>
                </a:solidFill>
              </a:rPr>
              <a:t>도핑 원소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1783080" y="1890522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33333"/>
                </a:solidFill>
              </a:rPr>
              <a:t>Al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783080" y="2164842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99999"/>
                </a:solidFill>
              </a:rPr>
              <a:t>IC 예측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1783080" y="2329434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33333"/>
                </a:solidFill>
              </a:rPr>
              <a:t>183.2 mAh/g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783080" y="2603754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99999"/>
                </a:solidFill>
              </a:rPr>
              <a:t>EC 예측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1783080" y="2768346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33333"/>
                </a:solidFill>
              </a:rPr>
              <a:t>171.4 mAh/g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096512" y="884682"/>
            <a:ext cx="230428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3"/>
          <p:cNvSpPr/>
          <p:nvPr/>
        </p:nvSpPr>
        <p:spPr>
          <a:xfrm>
            <a:off x="4096512" y="884682"/>
            <a:ext cx="2304288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/>
          <p:nvPr/>
        </p:nvSpPr>
        <p:spPr>
          <a:xfrm>
            <a:off x="4169664" y="884682"/>
            <a:ext cx="2157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NCM622 (Ti)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4187952" y="1287018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99999"/>
                </a:solidFill>
              </a:rPr>
              <a:t>Ni / Co / Mn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4187952" y="145161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33333"/>
                </a:solidFill>
              </a:rPr>
              <a:t>0.6 / 0.2 / 0.2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4187952" y="172593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99999"/>
                </a:solidFill>
              </a:rPr>
              <a:t>도핑 원소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4187952" y="1890522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33333"/>
                </a:solidFill>
              </a:rPr>
              <a:t>Ti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4187952" y="2164842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99999"/>
                </a:solidFill>
              </a:rPr>
              <a:t>IC 예측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4187952" y="2329434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33333"/>
                </a:solidFill>
              </a:rPr>
              <a:t>175.8 mAh/g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4187952" y="2603754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99999"/>
                </a:solidFill>
              </a:rPr>
              <a:t>EC 예측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4187952" y="2768346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33333"/>
                </a:solidFill>
              </a:rPr>
              <a:t>164.1 mAh/g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501384" y="884682"/>
            <a:ext cx="230428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44"/>
          <p:cNvSpPr/>
          <p:nvPr/>
        </p:nvSpPr>
        <p:spPr>
          <a:xfrm>
            <a:off x="6501384" y="884682"/>
            <a:ext cx="2304288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5"/>
          <p:cNvSpPr/>
          <p:nvPr/>
        </p:nvSpPr>
        <p:spPr>
          <a:xfrm>
            <a:off x="6574536" y="884682"/>
            <a:ext cx="2157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NCM523 (Mg)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6592824" y="1287018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99999"/>
                </a:solidFill>
              </a:rPr>
              <a:t>Ni / Co / Mn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6592824" y="145161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33333"/>
                </a:solidFill>
              </a:rPr>
              <a:t>0.5 / 0.2 / 0.3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6592824" y="172593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99999"/>
                </a:solidFill>
              </a:rPr>
              <a:t>도핑 원소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6592824" y="1890522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33333"/>
                </a:solidFill>
              </a:rPr>
              <a:t>Mg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6592824" y="2164842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99999"/>
                </a:solidFill>
              </a:rPr>
              <a:t>IC 예측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6592824" y="2329434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33333"/>
                </a:solidFill>
              </a:rPr>
              <a:t>168.3 mAh/g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6592824" y="2603754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99999"/>
                </a:solidFill>
              </a:rPr>
              <a:t>EC 예측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6592824" y="2768346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33333"/>
                </a:solidFill>
              </a:rPr>
              <a:t>155.2 mAh/g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1694942" y="3234436"/>
            <a:ext cx="70317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333333"/>
                </a:solidFill>
              </a:rPr>
              <a:t>IC / EC 예측값 비교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1691640" y="3396742"/>
            <a:ext cx="7178040" cy="0"/>
          </a:xfrm>
          <a:prstGeom prst="line">
            <a:avLst/>
          </a:prstGeom>
          <a:noFill/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Shape 57"/>
          <p:cNvSpPr/>
          <p:nvPr/>
        </p:nvSpPr>
        <p:spPr>
          <a:xfrm>
            <a:off x="1764792" y="3426968"/>
            <a:ext cx="7031736" cy="1554480"/>
          </a:xfrm>
          <a:prstGeom prst="rect">
            <a:avLst/>
          </a:prstGeom>
          <a:solidFill>
            <a:srgbClr val="D8D8D8"/>
          </a:solidFill>
          <a:ln w="1270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Shape 58"/>
          <p:cNvSpPr/>
          <p:nvPr/>
        </p:nvSpPr>
        <p:spPr>
          <a:xfrm>
            <a:off x="1764792" y="3426968"/>
            <a:ext cx="7031736" cy="1554480"/>
          </a:xfrm>
          <a:prstGeom prst="line">
            <a:avLst/>
          </a:prstGeom>
          <a:noFill/>
          <a:ln w="1270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Shape 59"/>
          <p:cNvSpPr/>
          <p:nvPr/>
        </p:nvSpPr>
        <p:spPr>
          <a:xfrm>
            <a:off x="8796528" y="3426968"/>
            <a:ext cx="0" cy="1554480"/>
          </a:xfrm>
          <a:prstGeom prst="line">
            <a:avLst/>
          </a:prstGeom>
          <a:noFill/>
          <a:ln w="1270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 60"/>
          <p:cNvSpPr/>
          <p:nvPr/>
        </p:nvSpPr>
        <p:spPr>
          <a:xfrm>
            <a:off x="1764792" y="4085336"/>
            <a:ext cx="70317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6666"/>
                </a:solidFill>
              </a:rPr>
              <a:t>시나리오별 IC / EC 예측값 비교 </a:t>
            </a:r>
            <a:r>
              <a:rPr lang="en-US" sz="800" dirty="0" err="1">
                <a:solidFill>
                  <a:srgbClr val="666666"/>
                </a:solidFill>
              </a:rPr>
              <a:t>차트</a:t>
            </a:r>
            <a:r>
              <a:rPr lang="en-US" sz="800" dirty="0">
                <a:solidFill>
                  <a:srgbClr val="666666"/>
                </a:solidFill>
              </a:rPr>
              <a:t> 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1512</TotalTime>
  <Words>1404</Words>
  <Application>Microsoft Office PowerPoint</Application>
  <PresentationFormat>화면 슬라이드 쇼(16:9)</PresentationFormat>
  <Paragraphs>594</Paragraphs>
  <Slides>9</Slides>
  <Notes>9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4" baseType="lpstr">
      <vt:lpstr>맑은 고딕</vt:lpstr>
      <vt:lpstr>맑은 고딕</vt:lpstr>
      <vt:lpstr>Aptos Narrow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1차 프로젝트 기획서 - NCM 양극재 용량 예측 가상검증 시스템</dc:title>
  <dc:subject>PptxGenJS Presentation</dc:subject>
  <dc:creator>PptxGenJS</dc:creator>
  <cp:lastModifiedBy>고도영 고도영</cp:lastModifiedBy>
  <cp:revision>15</cp:revision>
  <dcterms:created xsi:type="dcterms:W3CDTF">2026-03-19T06:16:36Z</dcterms:created>
  <dcterms:modified xsi:type="dcterms:W3CDTF">2026-03-23T01:58:26Z</dcterms:modified>
</cp:coreProperties>
</file>