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B3E2D"/>
    <a:srgbClr val="5D6D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96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6856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00B7F-DE1D-0CA3-B59C-4668122A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6D2F55-4430-AC80-4081-1A770F1E1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E32395-5C97-3234-7462-14650D55A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8D24A-65C9-2C33-5167-40460E4617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356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20BCE51E-61CA-00CD-476A-6DACF1EF4016}"/>
              </a:ext>
            </a:extLst>
          </p:cNvPr>
          <p:cNvSpPr/>
          <p:nvPr/>
        </p:nvSpPr>
        <p:spPr>
          <a:xfrm>
            <a:off x="663676" y="718984"/>
            <a:ext cx="7546369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NCM 양극재의</a:t>
            </a:r>
            <a:endParaRPr lang="en-US" sz="3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방전 용량 예측 모델 개발을 위한</a:t>
            </a:r>
            <a:endParaRPr lang="en-US" sz="3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 서비스</a:t>
            </a:r>
            <a:endParaRPr 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8DA69D-7DDF-1F1B-81B9-EA31485FD105}"/>
              </a:ext>
            </a:extLst>
          </p:cNvPr>
          <p:cNvSpPr txBox="1"/>
          <p:nvPr/>
        </p:nvSpPr>
        <p:spPr>
          <a:xfrm>
            <a:off x="3906907" y="3281516"/>
            <a:ext cx="105990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+mj-ea"/>
                <a:ea typeface="+mj-ea"/>
              </a:rPr>
              <a:t>2026.03.25</a:t>
            </a:r>
          </a:p>
          <a:p>
            <a:pPr algn="ctr"/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ko-KR" altLang="en-US" sz="1400" dirty="0">
                <a:latin typeface="+mj-ea"/>
                <a:ea typeface="+mj-ea"/>
              </a:rPr>
              <a:t>고도영</a:t>
            </a:r>
          </a:p>
        </p:txBody>
      </p:sp>
    </p:spTree>
    <p:extLst>
      <p:ext uri="{BB962C8B-B14F-4D97-AF65-F5344CB8AC3E}">
        <p14:creationId xmlns:p14="http://schemas.microsoft.com/office/powerpoint/2010/main" val="41614435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프로젝트 기획서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012555" y="193745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기획의도(1)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3158" y="996258"/>
            <a:ext cx="4160520" cy="2304288"/>
          </a:xfrm>
          <a:prstGeom prst="rect">
            <a:avLst/>
          </a:prstGeom>
          <a:solidFill>
            <a:srgbClr val="F5F5F5"/>
          </a:solidFill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Shape 5"/>
          <p:cNvSpPr/>
          <p:nvPr/>
        </p:nvSpPr>
        <p:spPr>
          <a:xfrm>
            <a:off x="393158" y="996258"/>
            <a:ext cx="416052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93158" y="996258"/>
            <a:ext cx="4160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 소재 개발 프로세스</a:t>
            </a:r>
            <a:endParaRPr lang="en-US" sz="1200" dirty="0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2E882931-59FB-C6B1-CD6B-7CA8FFF54574}"/>
              </a:ext>
            </a:extLst>
          </p:cNvPr>
          <p:cNvGrpSpPr/>
          <p:nvPr/>
        </p:nvGrpSpPr>
        <p:grpSpPr>
          <a:xfrm>
            <a:off x="644618" y="1416882"/>
            <a:ext cx="658368" cy="457200"/>
            <a:chOff x="384048" y="1591056"/>
            <a:chExt cx="658368" cy="457200"/>
          </a:xfrm>
        </p:grpSpPr>
        <p:sp>
          <p:nvSpPr>
            <p:cNvPr id="9" name="Shape 7"/>
            <p:cNvSpPr/>
            <p:nvPr/>
          </p:nvSpPr>
          <p:spPr>
            <a:xfrm>
              <a:off x="384048" y="1591056"/>
              <a:ext cx="658368" cy="457200"/>
            </a:xfrm>
            <a:prstGeom prst="roundRect">
              <a:avLst>
                <a:gd name="adj" fmla="val 10000"/>
              </a:avLst>
            </a:prstGeom>
            <a:solidFill>
              <a:srgbClr val="2E5FA3"/>
            </a:solidFill>
            <a:ln w="12700">
              <a:solidFill>
                <a:srgbClr val="2E5FA3"/>
              </a:solidFill>
              <a:prstDash val="solid"/>
            </a:ln>
          </p:spPr>
          <p:txBody>
            <a:bodyPr/>
            <a:lstStyle/>
            <a:p>
              <a:pPr algn="dist"/>
              <a:endParaRPr lang="ko-KR" alt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384048" y="1618488"/>
              <a:ext cx="658368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설계</a:t>
              </a:r>
              <a:endParaRPr lang="en-US" sz="900" dirty="0"/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719BF530-88C2-6F50-5688-8858C410648C}"/>
              </a:ext>
            </a:extLst>
          </p:cNvPr>
          <p:cNvGrpSpPr/>
          <p:nvPr/>
        </p:nvGrpSpPr>
        <p:grpSpPr>
          <a:xfrm>
            <a:off x="1547435" y="1416882"/>
            <a:ext cx="796626" cy="457200"/>
            <a:chOff x="1137879" y="1591056"/>
            <a:chExt cx="796626" cy="457200"/>
          </a:xfrm>
        </p:grpSpPr>
        <p:sp>
          <p:nvSpPr>
            <p:cNvPr id="13" name="Shape 11"/>
            <p:cNvSpPr/>
            <p:nvPr/>
          </p:nvSpPr>
          <p:spPr>
            <a:xfrm>
              <a:off x="1207008" y="1591056"/>
              <a:ext cx="658368" cy="457200"/>
            </a:xfrm>
            <a:prstGeom prst="roundRect">
              <a:avLst>
                <a:gd name="adj" fmla="val 10000"/>
              </a:avLst>
            </a:prstGeom>
            <a:solidFill>
              <a:srgbClr val="2E5FA3"/>
            </a:solidFill>
            <a:ln w="12700">
              <a:solidFill>
                <a:srgbClr val="2E5FA3"/>
              </a:solidFill>
              <a:prstDash val="solid"/>
            </a:ln>
          </p:spPr>
          <p:txBody>
            <a:bodyPr/>
            <a:lstStyle/>
            <a:p>
              <a:pPr algn="dist"/>
              <a:endParaRPr lang="ko-KR" alt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1137879" y="1591056"/>
              <a:ext cx="796626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 err="1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소재</a:t>
              </a: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</a:t>
              </a:r>
              <a:r>
                <a:rPr lang="en-US" sz="900" b="1" dirty="0" err="1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합성</a:t>
              </a:r>
              <a:endParaRPr lang="en-US" sz="900" dirty="0"/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088601A8-2043-A9AE-5928-DE60F0668ECD}"/>
              </a:ext>
            </a:extLst>
          </p:cNvPr>
          <p:cNvGrpSpPr/>
          <p:nvPr/>
        </p:nvGrpSpPr>
        <p:grpSpPr>
          <a:xfrm>
            <a:off x="2588510" y="1416882"/>
            <a:ext cx="796626" cy="457200"/>
            <a:chOff x="2253447" y="1591056"/>
            <a:chExt cx="796626" cy="457200"/>
          </a:xfrm>
        </p:grpSpPr>
        <p:sp>
          <p:nvSpPr>
            <p:cNvPr id="17" name="Shape 15"/>
            <p:cNvSpPr/>
            <p:nvPr/>
          </p:nvSpPr>
          <p:spPr>
            <a:xfrm>
              <a:off x="2322576" y="1591056"/>
              <a:ext cx="658368" cy="457200"/>
            </a:xfrm>
            <a:prstGeom prst="roundRect">
              <a:avLst>
                <a:gd name="adj" fmla="val 10000"/>
              </a:avLst>
            </a:prstGeom>
            <a:solidFill>
              <a:srgbClr val="2E5FA3"/>
            </a:solidFill>
            <a:ln w="12700">
              <a:solidFill>
                <a:srgbClr val="2E5FA3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2253447" y="1650492"/>
              <a:ext cx="796626" cy="35661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전극 제조</a:t>
              </a:r>
              <a:endParaRPr lang="en-US" sz="900" dirty="0"/>
            </a:p>
          </p:txBody>
        </p:sp>
      </p:grpSp>
      <p:sp>
        <p:nvSpPr>
          <p:cNvPr id="21" name="Shape 19"/>
          <p:cNvSpPr/>
          <p:nvPr/>
        </p:nvSpPr>
        <p:spPr>
          <a:xfrm>
            <a:off x="3629585" y="1420077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Text 20"/>
          <p:cNvSpPr/>
          <p:nvPr/>
        </p:nvSpPr>
        <p:spPr>
          <a:xfrm>
            <a:off x="3621782" y="1484921"/>
            <a:ext cx="658368" cy="333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셀 평가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886" y="2221554"/>
            <a:ext cx="1810512" cy="804672"/>
          </a:xfrm>
          <a:prstGeom prst="rect">
            <a:avLst/>
          </a:prstGeom>
          <a:solidFill>
            <a:srgbClr val="EBF5FB"/>
          </a:solidFill>
          <a:ln w="1016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94326" y="2258130"/>
            <a:ext cx="16276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①  </a:t>
            </a:r>
            <a:r>
              <a:rPr lang="en-US" sz="10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실험 시간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26" y="2477586"/>
            <a:ext cx="162763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수십 사이클 충·방전 반복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</a:t>
            </a:r>
            <a:r>
              <a:rPr lang="ko-KR" alt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및 테스트</a:t>
            </a: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 수 주 이상 소요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14566" y="2221554"/>
            <a:ext cx="1810512" cy="804672"/>
          </a:xfrm>
          <a:prstGeom prst="rect">
            <a:avLst/>
          </a:prstGeom>
          <a:solidFill>
            <a:srgbClr val="FDEDEC"/>
          </a:solidFill>
          <a:ln w="1016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2606006" y="2258130"/>
            <a:ext cx="16276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②  </a:t>
            </a:r>
            <a:r>
              <a:rPr lang="en-US" sz="10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샘플 편차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606006" y="2477586"/>
            <a:ext cx="162763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</a:t>
            </a:r>
            <a:r>
              <a:rPr lang="en-US" sz="950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조건에서도</a:t>
            </a: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</a:t>
            </a: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차이 발생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</a:t>
            </a:r>
            <a:r>
              <a:rPr lang="ko-KR" alt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정확한 원인 분석 불가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93158" y="3435531"/>
            <a:ext cx="4160520" cy="1207008"/>
          </a:xfrm>
          <a:prstGeom prst="rect">
            <a:avLst/>
          </a:prstGeom>
          <a:solidFill>
            <a:srgbClr val="FFFFFF"/>
          </a:solidFill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393158" y="3435531"/>
            <a:ext cx="41605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393158" y="3435531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Wang et al., ACS Central Science, 2021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4618" y="3686254"/>
            <a:ext cx="365760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5000"/>
              </a:lnSpc>
            </a:pPr>
            <a:r>
              <a:rPr lang="en-US" sz="1000" dirty="0">
                <a:solidFill>
                  <a:srgbClr val="333333"/>
                </a:solidFill>
                <a:ea typeface="맑은 고딕" pitchFamily="34" charset="-122"/>
                <a:cs typeface="맑은 고딕" pitchFamily="34" charset="-120"/>
              </a:rPr>
              <a:t>“It is estimated that an experimental cyclic test of </a:t>
            </a:r>
            <a:r>
              <a:rPr lang="en-US" sz="1050" b="1" dirty="0">
                <a:solidFill>
                  <a:srgbClr val="333333"/>
                </a:solidFill>
                <a:ea typeface="맑은 고딕" pitchFamily="34" charset="-122"/>
                <a:cs typeface="맑은 고딕" pitchFamily="34" charset="-120"/>
              </a:rPr>
              <a:t>25 cycles </a:t>
            </a:r>
            <a:r>
              <a:rPr lang="en-US" sz="1000" dirty="0">
                <a:solidFill>
                  <a:srgbClr val="333333"/>
                </a:solidFill>
                <a:ea typeface="맑은 고딕" pitchFamily="34" charset="-122"/>
                <a:cs typeface="맑은 고딕" pitchFamily="34" charset="-120"/>
              </a:rPr>
              <a:t>for a newly assembled Li-ion battery with a discharge rate of </a:t>
            </a:r>
            <a:r>
              <a:rPr lang="en-US" sz="1050" b="1" dirty="0">
                <a:solidFill>
                  <a:srgbClr val="333333"/>
                </a:solidFill>
                <a:ea typeface="맑은 고딕" pitchFamily="34" charset="-122"/>
                <a:cs typeface="맑은 고딕" pitchFamily="34" charset="-120"/>
              </a:rPr>
              <a:t>0.1C</a:t>
            </a:r>
            <a:r>
              <a:rPr lang="en-US" sz="1000" dirty="0">
                <a:solidFill>
                  <a:srgbClr val="333333"/>
                </a:solidFill>
                <a:ea typeface="맑은 고딕" pitchFamily="34" charset="-122"/>
                <a:cs typeface="맑은 고딕" pitchFamily="34" charset="-120"/>
              </a:rPr>
              <a:t> (1 C denotes the discharge current density that would full discharge the battery within 1 h) can take up to </a:t>
            </a:r>
            <a:r>
              <a:rPr lang="en-US" sz="1050" b="1" dirty="0">
                <a:solidFill>
                  <a:srgbClr val="333333"/>
                </a:solidFill>
                <a:ea typeface="맑은 고딕" pitchFamily="34" charset="-122"/>
                <a:cs typeface="맑은 고딕" pitchFamily="34" charset="-120"/>
              </a:rPr>
              <a:t>20 days</a:t>
            </a:r>
            <a:r>
              <a:rPr lang="en-US" sz="1000" dirty="0">
                <a:solidFill>
                  <a:srgbClr val="333333"/>
                </a:solidFill>
                <a:ea typeface="맑은 고딕" pitchFamily="34" charset="-122"/>
                <a:cs typeface="맑은 고딕" pitchFamily="34" charset="-120"/>
              </a:rPr>
              <a:t> to complete.”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93158" y="4642539"/>
            <a:ext cx="416052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393158" y="4642539"/>
            <a:ext cx="4160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chemeClr val="bg1"/>
                </a:solidFill>
              </a:rPr>
              <a:t>테스트에 긴 시간 소요</a:t>
            </a:r>
            <a:r>
              <a:rPr lang="en-US" altLang="ko-KR" sz="1000" b="1" dirty="0">
                <a:solidFill>
                  <a:schemeClr val="bg1"/>
                </a:solidFill>
              </a:rPr>
              <a:t>, </a:t>
            </a:r>
            <a:r>
              <a:rPr lang="ko-KR" altLang="en-US" sz="1000" b="1" dirty="0">
                <a:solidFill>
                  <a:schemeClr val="bg1"/>
                </a:solidFill>
              </a:rPr>
              <a:t>원인 파악하기 어려움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40615" y="1126887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셀 성능 판단을 위해 </a:t>
            </a:r>
            <a:br>
              <a:rPr lang="en-US" altLang="ko-KR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ko-KR" altLang="en-US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수십 사이클 충</a:t>
            </a:r>
            <a:r>
              <a:rPr lang="en-US" altLang="ko-KR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방전 반복 필요</a:t>
            </a:r>
            <a:endParaRPr lang="en-US" sz="1600" dirty="0">
              <a:solidFill>
                <a:srgbClr val="002060"/>
              </a:solidFill>
            </a:endParaRPr>
          </a:p>
        </p:txBody>
      </p:sp>
      <p:sp>
        <p:nvSpPr>
          <p:cNvPr id="45" name="Text 43"/>
          <p:cNvSpPr/>
          <p:nvPr/>
        </p:nvSpPr>
        <p:spPr>
          <a:xfrm>
            <a:off x="4754880" y="2479572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</a:t>
            </a:r>
            <a:r>
              <a:rPr lang="en-US" altLang="ko-KR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검증에 수 주 이상 소요</a:t>
            </a:r>
            <a:endParaRPr lang="en-US" sz="1600" dirty="0">
              <a:solidFill>
                <a:srgbClr val="002060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4723130" y="3657108"/>
            <a:ext cx="4114800" cy="10835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주를 반복해야 얻는 결과</a:t>
            </a:r>
            <a:r>
              <a:rPr lang="en-US" altLang="ko-KR" sz="1600" b="1" dirty="0">
                <a:solidFill>
                  <a:srgbClr val="0020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altLang="ko-KR" sz="1600" b="1" dirty="0">
                <a:solidFill>
                  <a:srgbClr val="E07B3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altLang="ko-KR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</a:t>
            </a:r>
            <a:r>
              <a:rPr lang="ko-KR" alt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예측과 해석이 먼저 필요하다</a:t>
            </a:r>
            <a:r>
              <a:rPr lang="en-US" altLang="ko-KR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”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57" name="화살표: 오른쪽 56">
            <a:extLst>
              <a:ext uri="{FF2B5EF4-FFF2-40B4-BE49-F238E27FC236}">
                <a16:creationId xmlns:a16="http://schemas.microsoft.com/office/drawing/2014/main" id="{E1F459C4-70F1-7A01-F9B9-3B710B6DEB38}"/>
              </a:ext>
            </a:extLst>
          </p:cNvPr>
          <p:cNvSpPr/>
          <p:nvPr/>
        </p:nvSpPr>
        <p:spPr>
          <a:xfrm>
            <a:off x="1338831" y="1565128"/>
            <a:ext cx="248350" cy="19786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075EB12A-C514-8A08-BEE8-5F89B96BE0AF}"/>
              </a:ext>
            </a:extLst>
          </p:cNvPr>
          <p:cNvSpPr/>
          <p:nvPr/>
        </p:nvSpPr>
        <p:spPr>
          <a:xfrm>
            <a:off x="2348501" y="1564747"/>
            <a:ext cx="248350" cy="19786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010870BC-B806-9A32-A9BC-6B73CF0A3C4D}"/>
              </a:ext>
            </a:extLst>
          </p:cNvPr>
          <p:cNvSpPr/>
          <p:nvPr/>
        </p:nvSpPr>
        <p:spPr>
          <a:xfrm>
            <a:off x="3356057" y="1564747"/>
            <a:ext cx="248350" cy="19786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화살표: 아래쪽 59">
            <a:extLst>
              <a:ext uri="{FF2B5EF4-FFF2-40B4-BE49-F238E27FC236}">
                <a16:creationId xmlns:a16="http://schemas.microsoft.com/office/drawing/2014/main" id="{44FC73B8-1EDF-C26E-1CED-4246709810B6}"/>
              </a:ext>
            </a:extLst>
          </p:cNvPr>
          <p:cNvSpPr/>
          <p:nvPr/>
        </p:nvSpPr>
        <p:spPr>
          <a:xfrm>
            <a:off x="6527464" y="1948569"/>
            <a:ext cx="523875" cy="523494"/>
          </a:xfrm>
          <a:prstGeom prst="downArrow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화살표: 아래쪽 60">
            <a:extLst>
              <a:ext uri="{FF2B5EF4-FFF2-40B4-BE49-F238E27FC236}">
                <a16:creationId xmlns:a16="http://schemas.microsoft.com/office/drawing/2014/main" id="{46E22220-D720-2D2F-2ECA-A95F57F34445}"/>
              </a:ext>
            </a:extLst>
          </p:cNvPr>
          <p:cNvSpPr/>
          <p:nvPr/>
        </p:nvSpPr>
        <p:spPr>
          <a:xfrm>
            <a:off x="6495038" y="2031135"/>
            <a:ext cx="523875" cy="467352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화살표: 아래쪽 61">
            <a:extLst>
              <a:ext uri="{FF2B5EF4-FFF2-40B4-BE49-F238E27FC236}">
                <a16:creationId xmlns:a16="http://schemas.microsoft.com/office/drawing/2014/main" id="{DDE8DC14-A0EE-3340-555D-0697F630EA76}"/>
              </a:ext>
            </a:extLst>
          </p:cNvPr>
          <p:cNvSpPr/>
          <p:nvPr/>
        </p:nvSpPr>
        <p:spPr>
          <a:xfrm>
            <a:off x="6495037" y="3311295"/>
            <a:ext cx="523875" cy="467352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프로젝트 기획서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014853" y="19380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기획의도(2)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754880" y="1096300"/>
            <a:ext cx="4114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</a:t>
            </a: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600" b="1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단계에서</a:t>
            </a: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</a:t>
            </a: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미리 예측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불필요한 </a:t>
            </a:r>
            <a:r>
              <a:rPr lang="en-US" sz="1600" b="1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</a:t>
            </a: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</a:t>
            </a:r>
            <a:r>
              <a:rPr lang="en-US" altLang="ko-KR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600" b="1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</a:t>
            </a: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제거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754880" y="2344783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</a:rPr>
              <a:t>단</a:t>
            </a:r>
            <a:r>
              <a:rPr lang="en-US" altLang="ko-KR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</a:rPr>
              <a:t>, </a:t>
            </a:r>
            <a:r>
              <a:rPr lang="ko-KR" altLang="en-US" sz="1600" b="1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</a:rPr>
              <a:t>예측값</a:t>
            </a:r>
            <a:r>
              <a:rPr lang="en-US" altLang="ko-KR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</a:rPr>
              <a:t>(</a:t>
            </a:r>
            <a:r>
              <a:rPr lang="ko-KR" alt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</a:rPr>
              <a:t>숫자</a:t>
            </a:r>
            <a:r>
              <a:rPr lang="en-US" altLang="ko-KR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</a:rPr>
              <a:t>)</a:t>
            </a:r>
            <a:r>
              <a:rPr lang="ko-KR" alt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</a:rPr>
              <a:t>만으로는 </a:t>
            </a:r>
            <a:br>
              <a:rPr lang="en-US" altLang="ko-KR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</a:rPr>
            </a:br>
            <a:r>
              <a:rPr lang="ko-KR" alt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</a:rPr>
              <a:t>원인 파악이 어렵다</a:t>
            </a:r>
            <a:endParaRPr lang="en-US" sz="1600" b="1" dirty="0">
              <a:solidFill>
                <a:srgbClr val="1F3864"/>
              </a:solidFill>
              <a:latin typeface="맑은 고딕" pitchFamily="34" charset="0"/>
              <a:ea typeface="맑은 고딕" pitchFamily="34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4754880" y="3565834"/>
            <a:ext cx="41148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altLang="ko-KR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</a:t>
            </a:r>
            <a:r>
              <a:rPr lang="ko-KR" alt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</a:t>
            </a:r>
            <a:r>
              <a:rPr lang="en-US" altLang="ko-KR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</a:t>
            </a:r>
            <a:r>
              <a:rPr lang="ko-KR" alt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</a:t>
            </a:r>
            <a:r>
              <a:rPr lang="en-US" altLang="ko-KR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</a:t>
            </a:r>
            <a:r>
              <a:rPr lang="ko-KR" alt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해석 </a:t>
            </a:r>
            <a:br>
              <a:rPr lang="en-US" altLang="ko-KR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altLang="ko-KR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</a:t>
            </a:r>
            <a:r>
              <a:rPr lang="ko-KR" alt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 개발 지원 서비스 구현</a:t>
            </a:r>
            <a:r>
              <a:rPr lang="en-US" altLang="ko-KR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”</a:t>
            </a:r>
            <a:endParaRPr lang="en-US" sz="1600" dirty="0">
              <a:solidFill>
                <a:srgbClr val="FF0000"/>
              </a:solidFill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652D838B-712A-A423-E197-005B3AA87D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8824" y="3409543"/>
            <a:ext cx="4160520" cy="1645920"/>
          </a:xfrm>
          <a:prstGeom prst="rect">
            <a:avLst/>
          </a:prstGeom>
        </p:spPr>
      </p:pic>
      <p:sp>
        <p:nvSpPr>
          <p:cNvPr id="56" name="화살표: 아래쪽 55">
            <a:extLst>
              <a:ext uri="{FF2B5EF4-FFF2-40B4-BE49-F238E27FC236}">
                <a16:creationId xmlns:a16="http://schemas.microsoft.com/office/drawing/2014/main" id="{AE7A3D3E-54C9-DE9B-F6F6-746CF865177D}"/>
              </a:ext>
            </a:extLst>
          </p:cNvPr>
          <p:cNvSpPr/>
          <p:nvPr/>
        </p:nvSpPr>
        <p:spPr>
          <a:xfrm>
            <a:off x="6495038" y="1919246"/>
            <a:ext cx="523875" cy="467352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화살표: 아래쪽 56">
            <a:extLst>
              <a:ext uri="{FF2B5EF4-FFF2-40B4-BE49-F238E27FC236}">
                <a16:creationId xmlns:a16="http://schemas.microsoft.com/office/drawing/2014/main" id="{3AD9B2C3-A793-008B-18D2-1F5DE3F4227D}"/>
              </a:ext>
            </a:extLst>
          </p:cNvPr>
          <p:cNvSpPr/>
          <p:nvPr/>
        </p:nvSpPr>
        <p:spPr>
          <a:xfrm>
            <a:off x="6497215" y="3209544"/>
            <a:ext cx="523875" cy="467352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 4">
            <a:extLst>
              <a:ext uri="{FF2B5EF4-FFF2-40B4-BE49-F238E27FC236}">
                <a16:creationId xmlns:a16="http://schemas.microsoft.com/office/drawing/2014/main" id="{DE8D7A63-BD41-401F-4F5C-E091CA54E4C9}"/>
              </a:ext>
            </a:extLst>
          </p:cNvPr>
          <p:cNvSpPr/>
          <p:nvPr/>
        </p:nvSpPr>
        <p:spPr>
          <a:xfrm>
            <a:off x="378824" y="681881"/>
            <a:ext cx="4160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방식  vs  ML + 생성형 AI</a:t>
            </a:r>
            <a:endParaRPr lang="en-US" sz="1100" dirty="0"/>
          </a:p>
        </p:txBody>
      </p:sp>
      <p:sp>
        <p:nvSpPr>
          <p:cNvPr id="59" name="Shape 5">
            <a:extLst>
              <a:ext uri="{FF2B5EF4-FFF2-40B4-BE49-F238E27FC236}">
                <a16:creationId xmlns:a16="http://schemas.microsoft.com/office/drawing/2014/main" id="{DB8638B4-C373-BD9F-6EBB-848DB102C1DC}"/>
              </a:ext>
            </a:extLst>
          </p:cNvPr>
          <p:cNvSpPr/>
          <p:nvPr/>
        </p:nvSpPr>
        <p:spPr>
          <a:xfrm>
            <a:off x="378824" y="973618"/>
            <a:ext cx="1993392" cy="310896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38E28583-F963-534F-F6F8-ECFB4B29F527}"/>
              </a:ext>
            </a:extLst>
          </p:cNvPr>
          <p:cNvSpPr/>
          <p:nvPr/>
        </p:nvSpPr>
        <p:spPr>
          <a:xfrm>
            <a:off x="378824" y="97361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방식</a:t>
            </a:r>
            <a:endParaRPr lang="en-US" sz="1100" dirty="0"/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9F0FEEAE-DA0E-3698-7B6F-41A40F0752EF}"/>
              </a:ext>
            </a:extLst>
          </p:cNvPr>
          <p:cNvSpPr/>
          <p:nvPr/>
        </p:nvSpPr>
        <p:spPr>
          <a:xfrm>
            <a:off x="2545952" y="973618"/>
            <a:ext cx="1993392" cy="310896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8">
            <a:extLst>
              <a:ext uri="{FF2B5EF4-FFF2-40B4-BE49-F238E27FC236}">
                <a16:creationId xmlns:a16="http://schemas.microsoft.com/office/drawing/2014/main" id="{460ECA97-B3C9-6B8A-47FF-F8742439DF67}"/>
              </a:ext>
            </a:extLst>
          </p:cNvPr>
          <p:cNvSpPr/>
          <p:nvPr/>
        </p:nvSpPr>
        <p:spPr>
          <a:xfrm>
            <a:off x="2545952" y="97361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+ 생성형 AI</a:t>
            </a:r>
            <a:endParaRPr lang="en-US" sz="1100" dirty="0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F5108745-5791-24BC-95F6-4D9743267878}"/>
              </a:ext>
            </a:extLst>
          </p:cNvPr>
          <p:cNvSpPr/>
          <p:nvPr/>
        </p:nvSpPr>
        <p:spPr>
          <a:xfrm>
            <a:off x="378824" y="1302802"/>
            <a:ext cx="1993392" cy="585216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10">
            <a:extLst>
              <a:ext uri="{FF2B5EF4-FFF2-40B4-BE49-F238E27FC236}">
                <a16:creationId xmlns:a16="http://schemas.microsoft.com/office/drawing/2014/main" id="{8B834213-ACE6-F7BD-EC71-FFAD9384DBE1}"/>
              </a:ext>
            </a:extLst>
          </p:cNvPr>
          <p:cNvSpPr/>
          <p:nvPr/>
        </p:nvSpPr>
        <p:spPr>
          <a:xfrm>
            <a:off x="378824" y="1302802"/>
            <a:ext cx="199339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수십 사이클 후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확인 가능</a:t>
            </a:r>
            <a:endParaRPr lang="en-US" sz="1000" dirty="0"/>
          </a:p>
        </p:txBody>
      </p:sp>
      <p:sp>
        <p:nvSpPr>
          <p:cNvPr id="67" name="Shape 13">
            <a:extLst>
              <a:ext uri="{FF2B5EF4-FFF2-40B4-BE49-F238E27FC236}">
                <a16:creationId xmlns:a16="http://schemas.microsoft.com/office/drawing/2014/main" id="{2548F546-AE74-2ABF-DAA9-7639B24C1B91}"/>
              </a:ext>
            </a:extLst>
          </p:cNvPr>
          <p:cNvSpPr/>
          <p:nvPr/>
        </p:nvSpPr>
        <p:spPr>
          <a:xfrm>
            <a:off x="2545952" y="1302802"/>
            <a:ext cx="1993392" cy="585216"/>
          </a:xfrm>
          <a:prstGeom prst="rect">
            <a:avLst/>
          </a:prstGeom>
          <a:solidFill>
            <a:srgbClr val="EBF5FB"/>
          </a:solidFill>
          <a:ln w="6350">
            <a:solidFill>
              <a:srgbClr val="BBDD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14">
            <a:extLst>
              <a:ext uri="{FF2B5EF4-FFF2-40B4-BE49-F238E27FC236}">
                <a16:creationId xmlns:a16="http://schemas.microsoft.com/office/drawing/2014/main" id="{6BDDD3A7-68EE-3D21-A163-EF994E33912E}"/>
              </a:ext>
            </a:extLst>
          </p:cNvPr>
          <p:cNvSpPr/>
          <p:nvPr/>
        </p:nvSpPr>
        <p:spPr>
          <a:xfrm>
            <a:off x="2545952" y="1302802"/>
            <a:ext cx="199339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E5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단계에서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E5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예측 가능</a:t>
            </a:r>
            <a:endParaRPr lang="en-US" sz="1000" dirty="0"/>
          </a:p>
        </p:txBody>
      </p:sp>
      <p:sp>
        <p:nvSpPr>
          <p:cNvPr id="69" name="Shape 15">
            <a:extLst>
              <a:ext uri="{FF2B5EF4-FFF2-40B4-BE49-F238E27FC236}">
                <a16:creationId xmlns:a16="http://schemas.microsoft.com/office/drawing/2014/main" id="{E1316B76-602A-32AA-F751-A86386C6CE74}"/>
              </a:ext>
            </a:extLst>
          </p:cNvPr>
          <p:cNvSpPr/>
          <p:nvPr/>
        </p:nvSpPr>
        <p:spPr>
          <a:xfrm>
            <a:off x="378824" y="1924594"/>
            <a:ext cx="199339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16">
            <a:extLst>
              <a:ext uri="{FF2B5EF4-FFF2-40B4-BE49-F238E27FC236}">
                <a16:creationId xmlns:a16="http://schemas.microsoft.com/office/drawing/2014/main" id="{2CDBC922-5D1D-2488-BB99-CF177E8A1DAF}"/>
              </a:ext>
            </a:extLst>
          </p:cNvPr>
          <p:cNvSpPr/>
          <p:nvPr/>
        </p:nvSpPr>
        <p:spPr>
          <a:xfrm>
            <a:off x="378824" y="1924594"/>
            <a:ext cx="199339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하나에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주 이상 소요</a:t>
            </a:r>
            <a:endParaRPr lang="en-US" sz="1000" dirty="0"/>
          </a:p>
        </p:txBody>
      </p:sp>
      <p:sp>
        <p:nvSpPr>
          <p:cNvPr id="73" name="Shape 19">
            <a:extLst>
              <a:ext uri="{FF2B5EF4-FFF2-40B4-BE49-F238E27FC236}">
                <a16:creationId xmlns:a16="http://schemas.microsoft.com/office/drawing/2014/main" id="{DBAB270E-18D0-1DC2-9B97-538A2F75EB9B}"/>
              </a:ext>
            </a:extLst>
          </p:cNvPr>
          <p:cNvSpPr/>
          <p:nvPr/>
        </p:nvSpPr>
        <p:spPr>
          <a:xfrm>
            <a:off x="2545952" y="1924594"/>
            <a:ext cx="1993392" cy="585216"/>
          </a:xfrm>
          <a:prstGeom prst="rect">
            <a:avLst/>
          </a:prstGeom>
          <a:solidFill>
            <a:srgbClr val="F0F7FF"/>
          </a:solidFill>
          <a:ln w="6350">
            <a:solidFill>
              <a:srgbClr val="BBDD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20">
            <a:extLst>
              <a:ext uri="{FF2B5EF4-FFF2-40B4-BE49-F238E27FC236}">
                <a16:creationId xmlns:a16="http://schemas.microsoft.com/office/drawing/2014/main" id="{F7CE9564-C17E-7F7F-7B3D-B90579D9DBC1}"/>
              </a:ext>
            </a:extLst>
          </p:cNvPr>
          <p:cNvSpPr/>
          <p:nvPr/>
        </p:nvSpPr>
        <p:spPr>
          <a:xfrm>
            <a:off x="2545952" y="1924594"/>
            <a:ext cx="199339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E5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불필요한 실험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E5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 걸러냄</a:t>
            </a:r>
            <a:endParaRPr lang="en-US" sz="1000" dirty="0"/>
          </a:p>
        </p:txBody>
      </p:sp>
      <p:sp>
        <p:nvSpPr>
          <p:cNvPr id="75" name="Shape 21">
            <a:extLst>
              <a:ext uri="{FF2B5EF4-FFF2-40B4-BE49-F238E27FC236}">
                <a16:creationId xmlns:a16="http://schemas.microsoft.com/office/drawing/2014/main" id="{22180E0C-FA63-0AE1-EB8E-188FB4D29997}"/>
              </a:ext>
            </a:extLst>
          </p:cNvPr>
          <p:cNvSpPr/>
          <p:nvPr/>
        </p:nvSpPr>
        <p:spPr>
          <a:xfrm>
            <a:off x="378824" y="2546386"/>
            <a:ext cx="1993392" cy="585216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7C1D1D40-8357-D9A9-DB9E-FCFFB48B4098}"/>
              </a:ext>
            </a:extLst>
          </p:cNvPr>
          <p:cNvSpPr/>
          <p:nvPr/>
        </p:nvSpPr>
        <p:spPr>
          <a:xfrm>
            <a:off x="378824" y="2546386"/>
            <a:ext cx="199339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 파악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분석 필요</a:t>
            </a:r>
            <a:endParaRPr lang="en-US" sz="1000" dirty="0"/>
          </a:p>
        </p:txBody>
      </p:sp>
      <p:sp>
        <p:nvSpPr>
          <p:cNvPr id="79" name="Shape 25">
            <a:extLst>
              <a:ext uri="{FF2B5EF4-FFF2-40B4-BE49-F238E27FC236}">
                <a16:creationId xmlns:a16="http://schemas.microsoft.com/office/drawing/2014/main" id="{3FF13E08-BFFB-AF8C-20E3-F58E278D0BA8}"/>
              </a:ext>
            </a:extLst>
          </p:cNvPr>
          <p:cNvSpPr/>
          <p:nvPr/>
        </p:nvSpPr>
        <p:spPr>
          <a:xfrm>
            <a:off x="2545952" y="2546386"/>
            <a:ext cx="1993392" cy="585216"/>
          </a:xfrm>
          <a:prstGeom prst="rect">
            <a:avLst/>
          </a:prstGeom>
          <a:solidFill>
            <a:srgbClr val="EBF5FB"/>
          </a:solidFill>
          <a:ln w="6350">
            <a:solidFill>
              <a:srgbClr val="BBDD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4D50734B-29A9-3DAC-1E9C-CE07BF47011F}"/>
              </a:ext>
            </a:extLst>
          </p:cNvPr>
          <p:cNvSpPr/>
          <p:nvPr/>
        </p:nvSpPr>
        <p:spPr>
          <a:xfrm>
            <a:off x="2545952" y="2546386"/>
            <a:ext cx="199339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E5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AI가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2E5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자동으로 해석</a:t>
            </a:r>
            <a:endParaRPr lang="en-US" sz="1000" dirty="0"/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117DC6D-4F8F-161E-77E5-61733DE9FD82}"/>
              </a:ext>
            </a:extLst>
          </p:cNvPr>
          <p:cNvGrpSpPr/>
          <p:nvPr/>
        </p:nvGrpSpPr>
        <p:grpSpPr>
          <a:xfrm>
            <a:off x="378824" y="3193135"/>
            <a:ext cx="4160520" cy="201168"/>
            <a:chOff x="274320" y="3730752"/>
            <a:chExt cx="4160520" cy="201168"/>
          </a:xfrm>
        </p:grpSpPr>
        <p:sp>
          <p:nvSpPr>
            <p:cNvPr id="81" name="Shape 27">
              <a:extLst>
                <a:ext uri="{FF2B5EF4-FFF2-40B4-BE49-F238E27FC236}">
                  <a16:creationId xmlns:a16="http://schemas.microsoft.com/office/drawing/2014/main" id="{BD71F93B-1C53-DE98-DE7C-85831882C610}"/>
                </a:ext>
              </a:extLst>
            </p:cNvPr>
            <p:cNvSpPr/>
            <p:nvPr/>
          </p:nvSpPr>
          <p:spPr>
            <a:xfrm>
              <a:off x="274320" y="3730752"/>
              <a:ext cx="4160520" cy="201168"/>
            </a:xfrm>
            <a:prstGeom prst="rect">
              <a:avLst/>
            </a:prstGeom>
            <a:solidFill>
              <a:srgbClr val="F0F0F0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2" name="Text 28">
              <a:extLst>
                <a:ext uri="{FF2B5EF4-FFF2-40B4-BE49-F238E27FC236}">
                  <a16:creationId xmlns:a16="http://schemas.microsoft.com/office/drawing/2014/main" id="{D8223639-8119-6005-5473-C6A454A1D71B}"/>
                </a:ext>
              </a:extLst>
            </p:cNvPr>
            <p:cNvSpPr/>
            <p:nvPr/>
          </p:nvSpPr>
          <p:spPr>
            <a:xfrm>
              <a:off x="650471" y="3730752"/>
              <a:ext cx="3566160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SK AX 물성예측 AI(AIPS) 도입 성과  |  2026.03.04</a:t>
              </a:r>
              <a:endParaRPr lang="en-US" sz="850" dirty="0"/>
            </a:p>
          </p:txBody>
        </p:sp>
      </p:grp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013B295B-AA9D-2D4D-38CC-997C5719DDD2}"/>
              </a:ext>
            </a:extLst>
          </p:cNvPr>
          <p:cNvSpPr/>
          <p:nvPr/>
        </p:nvSpPr>
        <p:spPr>
          <a:xfrm>
            <a:off x="2379590" y="2143615"/>
            <a:ext cx="173736" cy="20116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A0CAE0-19DA-BE66-FB10-D4EE74DAA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5203EB9-BA2D-2328-C1F5-B2270A81D120}"/>
              </a:ext>
            </a:extLst>
          </p:cNvPr>
          <p:cNvSpPr/>
          <p:nvPr/>
        </p:nvSpPr>
        <p:spPr>
          <a:xfrm>
            <a:off x="365760" y="164592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프로젝트 기획서</a:t>
            </a:r>
            <a:endParaRPr lang="en-US" sz="2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CF30539-D960-49F3-5B2A-112ED48B2E59}"/>
              </a:ext>
            </a:extLst>
          </p:cNvPr>
          <p:cNvSpPr/>
          <p:nvPr/>
        </p:nvSpPr>
        <p:spPr>
          <a:xfrm>
            <a:off x="3014853" y="19380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</a:t>
            </a:r>
            <a:r>
              <a:rPr lang="ko-KR" altLang="en-US" sz="15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개발목표</a:t>
            </a:r>
            <a:r>
              <a:rPr lang="en-US" sz="15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</a:t>
            </a:r>
            <a:endParaRPr lang="en-US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0BF7A-FA3A-53F5-E194-FF55967E3916}"/>
              </a:ext>
            </a:extLst>
          </p:cNvPr>
          <p:cNvSpPr txBox="1"/>
          <p:nvPr/>
        </p:nvSpPr>
        <p:spPr>
          <a:xfrm>
            <a:off x="1783719" y="1206970"/>
            <a:ext cx="94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용량 예측</a:t>
            </a:r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605EDAE8-78FF-1854-E97B-5599CDD28E5E}"/>
              </a:ext>
            </a:extLst>
          </p:cNvPr>
          <p:cNvSpPr/>
          <p:nvPr/>
        </p:nvSpPr>
        <p:spPr>
          <a:xfrm>
            <a:off x="417445" y="1590043"/>
            <a:ext cx="3931920" cy="0"/>
          </a:xfrm>
          <a:prstGeom prst="line">
            <a:avLst/>
          </a:prstGeom>
          <a:noFill/>
          <a:ln w="15240">
            <a:solidFill>
              <a:schemeClr val="bg2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56DD075E-AEB4-FD47-4316-7DE9B1023957}"/>
              </a:ext>
            </a:extLst>
          </p:cNvPr>
          <p:cNvSpPr/>
          <p:nvPr/>
        </p:nvSpPr>
        <p:spPr>
          <a:xfrm>
            <a:off x="4759036" y="1590043"/>
            <a:ext cx="3931920" cy="0"/>
          </a:xfrm>
          <a:prstGeom prst="line">
            <a:avLst/>
          </a:prstGeom>
          <a:noFill/>
          <a:ln w="15240">
            <a:solidFill>
              <a:schemeClr val="bg2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ADFA4B-ACBF-D061-FA45-2226F494B5C3}"/>
              </a:ext>
            </a:extLst>
          </p:cNvPr>
          <p:cNvSpPr txBox="1"/>
          <p:nvPr/>
        </p:nvSpPr>
        <p:spPr>
          <a:xfrm>
            <a:off x="5983925" y="1206970"/>
            <a:ext cx="14959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생성형 </a:t>
            </a:r>
            <a:r>
              <a:rPr lang="en-US" altLang="ko-KR" sz="1400" b="1" dirty="0"/>
              <a:t>Ai </a:t>
            </a:r>
            <a:r>
              <a:rPr lang="ko-KR" altLang="en-US" sz="1400" b="1" dirty="0"/>
              <a:t>서비스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732749-AA43-EFCD-3448-DF5CAF5768EE}"/>
              </a:ext>
            </a:extLst>
          </p:cNvPr>
          <p:cNvSpPr txBox="1"/>
          <p:nvPr/>
        </p:nvSpPr>
        <p:spPr>
          <a:xfrm>
            <a:off x="312501" y="1664111"/>
            <a:ext cx="4100803" cy="3204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b="1" dirty="0"/>
              <a:t>Target : </a:t>
            </a:r>
            <a:br>
              <a:rPr lang="en-US" altLang="ko-KR" sz="1200" b="1" dirty="0"/>
            </a:br>
            <a:r>
              <a:rPr lang="en-US" altLang="ko-KR" sz="1000" dirty="0"/>
              <a:t>IC: </a:t>
            </a:r>
            <a:r>
              <a:rPr lang="ko-KR" altLang="en-US" sz="1000" dirty="0"/>
              <a:t>초기 방전 용량 </a:t>
            </a:r>
            <a:r>
              <a:rPr lang="en-US" altLang="ko-KR" sz="1000" dirty="0"/>
              <a:t>(Initial Capacity, </a:t>
            </a:r>
            <a:r>
              <a:rPr lang="en-US" altLang="ko-KR" sz="1000" dirty="0" err="1"/>
              <a:t>mAh</a:t>
            </a:r>
            <a:r>
              <a:rPr lang="en-US" altLang="ko-KR" sz="1000" dirty="0"/>
              <a:t>/g) </a:t>
            </a:r>
            <a:br>
              <a:rPr lang="en-US" altLang="ko-KR" sz="1000" dirty="0"/>
            </a:br>
            <a:r>
              <a:rPr lang="en-US" altLang="ko-KR" sz="1000" dirty="0"/>
              <a:t>EC: 50</a:t>
            </a:r>
            <a:r>
              <a:rPr lang="ko-KR" altLang="en-US" sz="1000" dirty="0"/>
              <a:t>사이클 후 방전 용량 </a:t>
            </a:r>
            <a:r>
              <a:rPr lang="en-US" altLang="ko-KR" sz="1000" dirty="0"/>
              <a:t>(End Capacity, </a:t>
            </a:r>
            <a:r>
              <a:rPr lang="en-US" altLang="ko-KR" sz="1000" dirty="0" err="1"/>
              <a:t>mAh</a:t>
            </a:r>
            <a:r>
              <a:rPr lang="en-US" altLang="ko-KR" sz="1000" dirty="0"/>
              <a:t>/g)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b="1" dirty="0"/>
              <a:t>Feature : </a:t>
            </a:r>
            <a:br>
              <a:rPr lang="en-US" altLang="ko-KR" sz="1100" b="1" dirty="0"/>
            </a:br>
            <a:r>
              <a:rPr lang="ko-KR" altLang="en-US" sz="1000" dirty="0"/>
              <a:t>조성</a:t>
            </a:r>
            <a:r>
              <a:rPr lang="en-US" altLang="ko-KR" sz="1000" dirty="0"/>
              <a:t>, </a:t>
            </a:r>
            <a:r>
              <a:rPr lang="ko-KR" altLang="en-US" sz="1000" dirty="0"/>
              <a:t>격자 구조</a:t>
            </a:r>
            <a:r>
              <a:rPr lang="en-US" altLang="ko-KR" sz="1000" dirty="0"/>
              <a:t>, </a:t>
            </a:r>
            <a:r>
              <a:rPr lang="ko-KR" altLang="en-US" sz="1000" dirty="0"/>
              <a:t>도핑 원소 물성</a:t>
            </a:r>
            <a:r>
              <a:rPr lang="en-US" altLang="ko-KR" sz="1000" dirty="0"/>
              <a:t>, </a:t>
            </a:r>
            <a:r>
              <a:rPr lang="ko-KR" altLang="en-US" sz="1000" dirty="0"/>
              <a:t>실험 조건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1" dirty="0"/>
              <a:t>모델 </a:t>
            </a:r>
            <a:r>
              <a:rPr lang="en-US" altLang="ko-KR" sz="1100" b="1" dirty="0"/>
              <a:t>: </a:t>
            </a:r>
            <a:br>
              <a:rPr lang="en-US" altLang="ko-KR" sz="1100" b="1" dirty="0"/>
            </a:br>
            <a:r>
              <a:rPr lang="ko-KR" altLang="en-US" sz="1000" dirty="0"/>
              <a:t>트리 기반 모델 비교 </a:t>
            </a:r>
            <a:r>
              <a:rPr lang="en-US" altLang="ko-KR" sz="1000" dirty="0"/>
              <a:t>(GBM/</a:t>
            </a:r>
            <a:r>
              <a:rPr lang="en-US" altLang="ko-KR" sz="1000" dirty="0" err="1"/>
              <a:t>XGBoost</a:t>
            </a:r>
            <a:r>
              <a:rPr lang="en-US" altLang="ko-KR" sz="1000" dirty="0"/>
              <a:t> / </a:t>
            </a:r>
            <a:r>
              <a:rPr lang="en-US" altLang="ko-KR" sz="1000" dirty="0" err="1"/>
              <a:t>LightGBM</a:t>
            </a:r>
            <a:r>
              <a:rPr lang="en-US" altLang="ko-KR" sz="1000" dirty="0"/>
              <a:t>/Random forest)</a:t>
            </a:r>
            <a:br>
              <a:rPr lang="en-US" altLang="ko-KR" sz="1000" dirty="0"/>
            </a:br>
            <a:r>
              <a:rPr lang="ko-KR" altLang="en-US" sz="1000" dirty="0"/>
              <a:t>가장 성능 좋은 모델로 적용</a:t>
            </a:r>
            <a:r>
              <a:rPr lang="en-US" altLang="ko-KR" sz="1000" dirty="0"/>
              <a:t>(R</a:t>
            </a:r>
            <a:r>
              <a:rPr lang="en-US" altLang="ko-KR" sz="1000" baseline="40000" dirty="0"/>
              <a:t>2</a:t>
            </a:r>
            <a:r>
              <a:rPr lang="en-US" altLang="ko-KR" sz="1000" dirty="0"/>
              <a:t>, RMSE </a:t>
            </a:r>
            <a:r>
              <a:rPr lang="ko-KR" altLang="en-US" sz="1000" dirty="0"/>
              <a:t>값 비교</a:t>
            </a:r>
            <a:r>
              <a:rPr lang="en-US" altLang="ko-KR" sz="1000" dirty="0"/>
              <a:t>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1" dirty="0"/>
              <a:t>예측 </a:t>
            </a:r>
            <a:r>
              <a:rPr lang="en-US" altLang="ko-KR" sz="1100" b="1" dirty="0"/>
              <a:t>:</a:t>
            </a:r>
            <a:r>
              <a:rPr lang="en-US" altLang="ko-KR" sz="1050" dirty="0"/>
              <a:t> </a:t>
            </a:r>
            <a:br>
              <a:rPr lang="en-US" altLang="ko-KR" sz="1100" dirty="0"/>
            </a:br>
            <a:r>
              <a:rPr lang="ko-KR" altLang="en-US" sz="1000" dirty="0"/>
              <a:t>초기 방전 용량</a:t>
            </a:r>
            <a:r>
              <a:rPr lang="en-US" altLang="ko-KR" sz="1000" dirty="0"/>
              <a:t>(IC) </a:t>
            </a:r>
            <a:r>
              <a:rPr lang="ko-KR" altLang="en-US" sz="1000" dirty="0"/>
              <a:t>및 </a:t>
            </a:r>
            <a:r>
              <a:rPr lang="en-US" altLang="ko-KR" sz="1000" dirty="0"/>
              <a:t>50</a:t>
            </a:r>
            <a:r>
              <a:rPr lang="ko-KR" altLang="en-US" sz="1000" dirty="0"/>
              <a:t>사이클 후 방전 용량</a:t>
            </a:r>
            <a:r>
              <a:rPr lang="en-US" altLang="ko-KR" sz="1000" dirty="0"/>
              <a:t>(EC) </a:t>
            </a:r>
            <a:r>
              <a:rPr lang="ko-KR" altLang="en-US" sz="1000" dirty="0"/>
              <a:t>수치 예측</a:t>
            </a:r>
            <a:br>
              <a:rPr lang="en-US" altLang="ko-KR" sz="1000" dirty="0"/>
            </a:br>
            <a:r>
              <a:rPr lang="en-US" altLang="ko-KR" sz="1000" dirty="0"/>
              <a:t>SHAP</a:t>
            </a:r>
            <a:r>
              <a:rPr lang="ko-KR" altLang="en-US" sz="1000" dirty="0"/>
              <a:t>으로 예측에 영향을 준 주요</a:t>
            </a:r>
            <a:r>
              <a:rPr lang="en-US" altLang="ko-KR" sz="1000" dirty="0"/>
              <a:t> feature</a:t>
            </a:r>
            <a:r>
              <a:rPr lang="ko-KR" altLang="en-US" sz="1000" dirty="0"/>
              <a:t> 시각화 및 전기화학적 분석</a:t>
            </a:r>
            <a:endParaRPr lang="en-US" altLang="ko-KR" sz="105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1" dirty="0"/>
              <a:t>데이터 출처 </a:t>
            </a:r>
            <a:r>
              <a:rPr lang="en-US" altLang="ko-KR" sz="1100" b="1" dirty="0"/>
              <a:t>: </a:t>
            </a:r>
            <a:r>
              <a:rPr lang="en-US" altLang="ko-KR" sz="10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</a:t>
            </a:r>
            <a:r>
              <a:rPr lang="en-US" altLang="ko-KR" sz="10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0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</a:t>
            </a:r>
            <a:r>
              <a:rPr lang="en-US" altLang="ko-KR" sz="10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 CSV(168</a:t>
            </a:r>
            <a:r>
              <a:rPr lang="ko-KR" altLang="en-US" sz="10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r>
              <a:rPr lang="en-US" altLang="ko-KR" sz="10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1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FB033A-F373-E96E-5D95-092CB64EECBB}"/>
              </a:ext>
            </a:extLst>
          </p:cNvPr>
          <p:cNvSpPr txBox="1"/>
          <p:nvPr/>
        </p:nvSpPr>
        <p:spPr>
          <a:xfrm>
            <a:off x="4673793" y="1692441"/>
            <a:ext cx="4102405" cy="24679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1" dirty="0"/>
              <a:t>예측 결과 제공</a:t>
            </a:r>
            <a:br>
              <a:rPr lang="en-US" altLang="ko-KR" sz="1100" b="1" dirty="0"/>
            </a:br>
            <a:r>
              <a:rPr lang="en-US" altLang="ko-KR" sz="1000" dirty="0"/>
              <a:t>NCM </a:t>
            </a:r>
            <a:r>
              <a:rPr lang="ko-KR" altLang="en-US" sz="1000" dirty="0" err="1"/>
              <a:t>양극재</a:t>
            </a:r>
            <a:r>
              <a:rPr lang="ko-KR" altLang="en-US" sz="1000" dirty="0"/>
              <a:t> 도핑 조성 입력 시 </a:t>
            </a:r>
            <a:r>
              <a:rPr lang="en-US" altLang="ko-KR" sz="1000" dirty="0"/>
              <a:t>IC · EC </a:t>
            </a:r>
            <a:r>
              <a:rPr lang="ko-KR" altLang="en-US" sz="1000" dirty="0"/>
              <a:t>방전 용량 수치 즉시 예측</a:t>
            </a:r>
            <a:br>
              <a:rPr lang="en-US" altLang="ko-KR" sz="1000" dirty="0"/>
            </a:br>
            <a:r>
              <a:rPr lang="en-US" altLang="ko-KR" sz="1000" dirty="0"/>
              <a:t>SHAP </a:t>
            </a:r>
            <a:r>
              <a:rPr lang="ko-KR" altLang="en-US" sz="1000" dirty="0"/>
              <a:t>기반 주요 피처 시각화로 예측에 영향을 준 조성 요인 확인</a:t>
            </a:r>
            <a:endParaRPr lang="en-US" altLang="ko-KR" sz="10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0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1" dirty="0"/>
              <a:t>생성형 </a:t>
            </a:r>
            <a:r>
              <a:rPr lang="en-US" altLang="ko-KR" sz="1100" b="1" dirty="0"/>
              <a:t>AI </a:t>
            </a:r>
            <a:r>
              <a:rPr lang="ko-KR" altLang="en-US" sz="1100" b="1" dirty="0"/>
              <a:t>해석</a:t>
            </a:r>
            <a:br>
              <a:rPr lang="en-US" altLang="ko-KR" sz="1100" b="1" dirty="0"/>
            </a:br>
            <a:r>
              <a:rPr lang="ko-KR" altLang="en-US" sz="1000" dirty="0" err="1"/>
              <a:t>예측값과</a:t>
            </a:r>
            <a:r>
              <a:rPr lang="ko-KR" altLang="en-US" sz="1000" dirty="0"/>
              <a:t> </a:t>
            </a:r>
            <a:r>
              <a:rPr lang="en-US" altLang="ko-KR" sz="1000" dirty="0"/>
              <a:t>SHAP Top-3 Feature</a:t>
            </a:r>
            <a:r>
              <a:rPr lang="ko-KR" altLang="en-US" sz="1000" dirty="0"/>
              <a:t>를 바탕으로 </a:t>
            </a:r>
            <a:br>
              <a:rPr lang="en-US" altLang="ko-KR" sz="1000" dirty="0"/>
            </a:br>
            <a:r>
              <a:rPr lang="ko-KR" altLang="en-US" sz="1000" dirty="0"/>
              <a:t>용량 저하 원인 및 개선 방향을 자연어로 해석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100" b="1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1" dirty="0"/>
              <a:t>예측 이력 관리</a:t>
            </a:r>
            <a:br>
              <a:rPr lang="en-US" altLang="ko-KR" sz="1000" b="1" dirty="0"/>
            </a:br>
            <a:r>
              <a:rPr lang="ko-KR" altLang="en-US" sz="1000" dirty="0" err="1"/>
              <a:t>입력값</a:t>
            </a:r>
            <a:r>
              <a:rPr lang="ko-KR" altLang="en-US" sz="1000" dirty="0"/>
              <a:t> </a:t>
            </a:r>
            <a:r>
              <a:rPr lang="en-US" altLang="ko-KR" sz="1000" dirty="0"/>
              <a:t>· </a:t>
            </a:r>
            <a:r>
              <a:rPr lang="ko-KR" altLang="en-US" sz="1000" dirty="0" err="1"/>
              <a:t>예측값</a:t>
            </a:r>
            <a:r>
              <a:rPr lang="ko-KR" altLang="en-US" sz="1000" dirty="0"/>
              <a:t> </a:t>
            </a:r>
            <a:r>
              <a:rPr lang="en-US" altLang="ko-KR" sz="1000" dirty="0"/>
              <a:t>· </a:t>
            </a:r>
            <a:r>
              <a:rPr lang="ko-KR" altLang="en-US" sz="1000" dirty="0"/>
              <a:t>해석 결과 저장조성별 예측 이력 조회 및 비교 가능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71042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2A12379-CB36-43C5-AB50-42046E48CEAB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1518</TotalTime>
  <Words>470</Words>
  <Application>Microsoft Office PowerPoint</Application>
  <PresentationFormat>화면 슬라이드 쇼(16:9)</PresentationFormat>
  <Paragraphs>65</Paragraphs>
  <Slides>4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Malgun Gothic</vt:lpstr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고도영 고도영</cp:lastModifiedBy>
  <cp:revision>15</cp:revision>
  <dcterms:created xsi:type="dcterms:W3CDTF">2026-03-25T02:58:44Z</dcterms:created>
  <dcterms:modified xsi:type="dcterms:W3CDTF">2026-03-26T04:19:45Z</dcterms:modified>
</cp:coreProperties>
</file>