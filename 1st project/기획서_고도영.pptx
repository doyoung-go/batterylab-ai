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6" r:id="rId6"/>
    <p:sldId id="265" r:id="rId7"/>
    <p:sldId id="259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3" autoAdjust="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134" y="330"/>
      </p:cViewPr>
      <p:guideLst>
        <p:guide orient="horz" pos="209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45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3383280"/>
            <a:ext cx="2286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0" y="2743200"/>
            <a:ext cx="1371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2278626"/>
            <a:ext cx="1371600" cy="20854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프로젝트 기획서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19433" y="33626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</a:t>
            </a:r>
            <a:r>
              <a:rPr lang="ko-KR" alt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</a:t>
            </a:r>
            <a:r>
              <a:rPr lang="en-US" altLang="ko-KR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NCM </a:t>
            </a:r>
            <a:r>
              <a:rPr lang="ko-KR" altLang="en-US" sz="14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양극재</a:t>
            </a:r>
            <a:r>
              <a:rPr lang="ko-KR" altLang="en-US" sz="14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방전 용량 예측 모델 및 웹서비스 개발</a:t>
            </a:r>
            <a:endParaRPr lang="en-US" sz="1400" dirty="0"/>
          </a:p>
        </p:txBody>
      </p:sp>
      <p:sp>
        <p:nvSpPr>
          <p:cNvPr id="10" name="TextBox 9">
            <a:extLst>
              <a:ext uri="{1E2761F4-FFF2-40B4-BE49-F238E27FC236}">
                <a16:creationId xmlns="" xmlns:a16="http://schemas.microsoft.com/office/drawing/2014/main" id="{0901847A-539D-7E22-21C0-F8397E3E1B84}"/>
              </a:ext>
            </a:extLst>
          </p:cNvPr>
          <p:cNvSpPr txBox="1"/>
          <p:nvPr/>
        </p:nvSpPr>
        <p:spPr>
          <a:xfrm>
            <a:off x="548640" y="386247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고도영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의도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06433" y="1313688"/>
            <a:ext cx="1005840" cy="59436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양극재</a:t>
            </a:r>
            <a:endParaRPr lang="ko-KR" altLang="en-US" sz="1200" b="1" dirty="0">
              <a:solidFill>
                <a:srgbClr val="1E2761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06433" y="2011680"/>
            <a:ext cx="1005840" cy="59436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06433" y="2011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음극재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06433" y="2724912"/>
            <a:ext cx="1005840" cy="59436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분리막</a:t>
            </a:r>
            <a:endParaRPr lang="ko-KR" altLang="en-US" sz="1200" b="1" dirty="0">
              <a:solidFill>
                <a:srgbClr val="1E2761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06433" y="3438144"/>
            <a:ext cx="1005840" cy="594360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</a:rPr>
              <a:t>전해질</a:t>
            </a:r>
          </a:p>
        </p:txBody>
      </p:sp>
      <p:sp>
        <p:nvSpPr>
          <p:cNvPr id="18" name="Shape 16"/>
          <p:cNvSpPr/>
          <p:nvPr/>
        </p:nvSpPr>
        <p:spPr>
          <a:xfrm>
            <a:off x="2999241" y="1677924"/>
            <a:ext cx="1554480" cy="155448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2</a:t>
            </a:r>
            <a:r>
              <a:rPr lang="ko-KR" altLang="en-US" b="1" dirty="0" err="1">
                <a:latin typeface="+mj-ea"/>
                <a:ea typeface="+mj-ea"/>
              </a:rPr>
              <a:t>차전지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12873" y="1325880"/>
            <a:ext cx="100584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12873" y="1325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12873" y="2176272"/>
            <a:ext cx="100584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912873" y="217627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12873" y="3026664"/>
            <a:ext cx="100584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912873" y="302666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" y="4160520"/>
            <a:ext cx="832104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11480" y="4206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</a:t>
            </a: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소재, </a:t>
            </a: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중요한가?</a:t>
            </a:r>
            <a:endParaRPr lang="en-US" sz="1300" dirty="0"/>
          </a:p>
        </p:txBody>
      </p:sp>
      <p:grpSp>
        <p:nvGrpSpPr>
          <p:cNvPr id="16" name="그룹 15">
            <a:extLst>
              <a:ext uri="{1E2761F4-FFF2-40B4-BE49-F238E27FC236}">
                <a16:creationId xmlns="" xmlns:a16="http://schemas.microsoft.com/office/drawing/2014/main" id="{1BC1B2EE-C5F4-0661-0DD5-D8CCCDA8FFB6}"/>
              </a:ext>
            </a:extLst>
          </p:cNvPr>
          <p:cNvGrpSpPr/>
          <p:nvPr/>
        </p:nvGrpSpPr>
        <p:grpSpPr>
          <a:xfrm>
            <a:off x="3171930" y="4462272"/>
            <a:ext cx="2697480" cy="371540"/>
            <a:chOff x="384048" y="4462272"/>
            <a:chExt cx="2697480" cy="371540"/>
          </a:xfrm>
        </p:grpSpPr>
        <p:sp>
          <p:nvSpPr>
            <p:cNvPr id="30" name="Shape 28"/>
            <p:cNvSpPr/>
            <p:nvPr/>
          </p:nvSpPr>
          <p:spPr>
            <a:xfrm>
              <a:off x="384048" y="4462272"/>
              <a:ext cx="2697480" cy="347472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DDDDD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384048" y="4462272"/>
              <a:ext cx="54864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521208" y="4486340"/>
              <a:ext cx="2560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 err="1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배터리</a:t>
              </a:r>
              <a:r>
                <a:rPr lang="en-US" sz="9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950" dirty="0" err="1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원가에서</a:t>
              </a:r>
              <a:r>
                <a:rPr lang="en-US" sz="9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9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소재</a:t>
              </a:r>
              <a:r>
                <a:rPr lang="en-US" sz="9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가 </a:t>
              </a:r>
              <a:r>
                <a:rPr lang="en-US" sz="950" dirty="0" err="1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차지하는</a:t>
              </a:r>
              <a:r>
                <a:rPr lang="en-US" sz="9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950" dirty="0" err="1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비중</a:t>
              </a:r>
              <a:r>
                <a:rPr lang="en-US" sz="9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950" dirty="0">
                  <a:solidFill>
                    <a:srgbClr val="1E276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약 </a:t>
              </a:r>
              <a:r>
                <a:rPr lang="en-US" altLang="ko-KR" sz="950" dirty="0">
                  <a:solidFill>
                    <a:srgbClr val="1E276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70%</a:t>
              </a:r>
              <a:endParaRPr lang="en-US" sz="950" dirty="0">
                <a:solidFill>
                  <a:srgbClr val="1E2761"/>
                </a:solidFill>
              </a:endParaRPr>
            </a:p>
          </p:txBody>
        </p:sp>
      </p:grpSp>
      <p:grpSp>
        <p:nvGrpSpPr>
          <p:cNvPr id="14" name="그룹 13">
            <a:extLst>
              <a:ext uri="{1E2761F4-FFF2-40B4-BE49-F238E27FC236}">
                <a16:creationId xmlns="" xmlns:a16="http://schemas.microsoft.com/office/drawing/2014/main" id="{A5870FA1-1DF2-1951-C02D-C71E5ABA4AE3}"/>
              </a:ext>
            </a:extLst>
          </p:cNvPr>
          <p:cNvGrpSpPr/>
          <p:nvPr/>
        </p:nvGrpSpPr>
        <p:grpSpPr>
          <a:xfrm>
            <a:off x="336252" y="4460029"/>
            <a:ext cx="2715768" cy="368002"/>
            <a:chOff x="3182112" y="4462272"/>
            <a:chExt cx="2715768" cy="368002"/>
          </a:xfrm>
        </p:grpSpPr>
        <p:grpSp>
          <p:nvGrpSpPr>
            <p:cNvPr id="7" name="그룹 6">
              <a:extLst>
                <a:ext uri="{1E2761F4-FFF2-40B4-BE49-F238E27FC236}">
                  <a16:creationId xmlns="" xmlns:a16="http://schemas.microsoft.com/office/drawing/2014/main" id="{E5700C0F-C5A3-63A3-57DC-0370DCEB5105}"/>
                </a:ext>
              </a:extLst>
            </p:cNvPr>
            <p:cNvGrpSpPr/>
            <p:nvPr/>
          </p:nvGrpSpPr>
          <p:grpSpPr>
            <a:xfrm>
              <a:off x="3182112" y="4462272"/>
              <a:ext cx="2715768" cy="368002"/>
              <a:chOff x="3182112" y="4462272"/>
              <a:chExt cx="2715768" cy="368002"/>
            </a:xfrm>
          </p:grpSpPr>
          <p:sp>
            <p:nvSpPr>
              <p:cNvPr id="33" name="Shape 31"/>
              <p:cNvSpPr/>
              <p:nvPr/>
            </p:nvSpPr>
            <p:spPr>
              <a:xfrm>
                <a:off x="3200400" y="4462272"/>
                <a:ext cx="2697480" cy="347472"/>
              </a:xfrm>
              <a:prstGeom prst="rect">
                <a:avLst/>
              </a:prstGeom>
              <a:solidFill>
                <a:srgbClr val="F5F5F5"/>
              </a:solidFill>
              <a:ln w="6350">
                <a:solidFill>
                  <a:srgbClr val="DDDDDD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3182112" y="4482802"/>
                <a:ext cx="256032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55555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2030년 글로벌 EV </a:t>
                </a:r>
                <a:r>
                  <a:rPr lang="en-US" sz="950" dirty="0" err="1">
                    <a:solidFill>
                      <a:srgbClr val="55555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시장</a:t>
                </a:r>
                <a:r>
                  <a:rPr lang="en-US" sz="950" dirty="0">
                    <a:solidFill>
                      <a:srgbClr val="55555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en-US" sz="950" dirty="0" err="1">
                    <a:solidFill>
                      <a:srgbClr val="55555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규모</a:t>
                </a:r>
                <a:r>
                  <a:rPr lang="en-US" sz="950" dirty="0">
                    <a:solidFill>
                      <a:srgbClr val="55555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</a:t>
                </a:r>
                <a:r>
                  <a:rPr lang="en-US" sz="950" dirty="0">
                    <a:solidFill>
                      <a:srgbClr val="1E2761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800</a:t>
                </a:r>
                <a:r>
                  <a:rPr lang="ko-KR" altLang="en-US" sz="950" dirty="0">
                    <a:solidFill>
                      <a:srgbClr val="1E2761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조</a:t>
                </a:r>
                <a:r>
                  <a:rPr lang="en-US" sz="950" dirty="0">
                    <a:solidFill>
                      <a:srgbClr val="555555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전망</a:t>
                </a:r>
                <a:endParaRPr lang="en-US" sz="950" dirty="0"/>
              </a:p>
            </p:txBody>
          </p:sp>
        </p:grpSp>
        <p:sp>
          <p:nvSpPr>
            <p:cNvPr id="34" name="Shape 32"/>
            <p:cNvSpPr/>
            <p:nvPr/>
          </p:nvSpPr>
          <p:spPr>
            <a:xfrm>
              <a:off x="3200400" y="4462272"/>
              <a:ext cx="54864" cy="347472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6" name="Shape 34"/>
          <p:cNvSpPr/>
          <p:nvPr/>
        </p:nvSpPr>
        <p:spPr>
          <a:xfrm>
            <a:off x="6016752" y="4462272"/>
            <a:ext cx="26974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016752" y="4462272"/>
            <a:ext cx="54864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869410" y="4462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</a:t>
            </a:r>
            <a:r>
              <a:rPr lang="en-US" sz="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</a:t>
            </a:r>
            <a:r>
              <a:rPr lang="en-US" sz="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ko-KR" alt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</a:t>
            </a:r>
            <a:r>
              <a:rPr lang="en-US" sz="9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·수명·안전성 </a:t>
            </a:r>
            <a:r>
              <a:rPr lang="en-US" sz="95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950" dirty="0"/>
          </a:p>
        </p:txBody>
      </p:sp>
      <p:sp>
        <p:nvSpPr>
          <p:cNvPr id="39" name="화살표: 오른쪽 38">
            <a:extLst>
              <a:ext uri="{1E2761F4-FFF2-40B4-BE49-F238E27FC236}">
                <a16:creationId xmlns="" xmlns:a16="http://schemas.microsoft.com/office/drawing/2014/main" id="{ED1D415B-3662-8392-E360-55813A7418CB}"/>
              </a:ext>
            </a:extLst>
          </p:cNvPr>
          <p:cNvSpPr/>
          <p:nvPr/>
        </p:nvSpPr>
        <p:spPr>
          <a:xfrm>
            <a:off x="4590970" y="1838777"/>
            <a:ext cx="2223126" cy="1296785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1" name="직선 화살표 연결선 40">
            <a:extLst>
              <a:ext uri="{1E2761F4-FFF2-40B4-BE49-F238E27FC236}">
                <a16:creationId xmlns="" xmlns:a16="http://schemas.microsoft.com/office/drawing/2014/main" id="{B877D27B-7B55-8A7C-84AC-44B30230C5C6}"/>
              </a:ext>
            </a:extLst>
          </p:cNvPr>
          <p:cNvCxnSpPr>
            <a:cxnSpLocks/>
          </p:cNvCxnSpPr>
          <p:nvPr/>
        </p:nvCxnSpPr>
        <p:spPr>
          <a:xfrm>
            <a:off x="2112273" y="1753362"/>
            <a:ext cx="819345" cy="267462"/>
          </a:xfrm>
          <a:prstGeom prst="straightConnector1">
            <a:avLst/>
          </a:prstGeom>
          <a:noFill/>
          <a:ln w="19050">
            <a:solidFill>
              <a:srgbClr val="1E276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2" name="직선 화살표 연결선 41">
            <a:extLst>
              <a:ext uri="{1E2761F4-FFF2-40B4-BE49-F238E27FC236}">
                <a16:creationId xmlns="" xmlns:a16="http://schemas.microsoft.com/office/drawing/2014/main" id="{D17AB079-4ECE-98CD-49A1-C0BE9FEB6BF7}"/>
              </a:ext>
            </a:extLst>
          </p:cNvPr>
          <p:cNvCxnSpPr>
            <a:cxnSpLocks/>
          </p:cNvCxnSpPr>
          <p:nvPr/>
        </p:nvCxnSpPr>
        <p:spPr>
          <a:xfrm>
            <a:off x="2146935" y="2331721"/>
            <a:ext cx="769053" cy="21335"/>
          </a:xfrm>
          <a:prstGeom prst="straightConnector1">
            <a:avLst/>
          </a:prstGeom>
          <a:noFill/>
          <a:ln w="19050">
            <a:solidFill>
              <a:srgbClr val="1E276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4" name="직선 화살표 연결선 43">
            <a:extLst>
              <a:ext uri="{1E2761F4-FFF2-40B4-BE49-F238E27FC236}">
                <a16:creationId xmlns="" xmlns:a16="http://schemas.microsoft.com/office/drawing/2014/main" id="{4879C562-7989-63C2-D2E7-C73D3A4F2504}"/>
              </a:ext>
            </a:extLst>
          </p:cNvPr>
          <p:cNvCxnSpPr>
            <a:cxnSpLocks/>
          </p:cNvCxnSpPr>
          <p:nvPr/>
        </p:nvCxnSpPr>
        <p:spPr>
          <a:xfrm flipV="1">
            <a:off x="2112273" y="2743201"/>
            <a:ext cx="819345" cy="152401"/>
          </a:xfrm>
          <a:prstGeom prst="straightConnector1">
            <a:avLst/>
          </a:prstGeom>
          <a:noFill/>
          <a:ln w="19050">
            <a:solidFill>
              <a:srgbClr val="1E276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6" name="직선 화살표 연결선 45">
            <a:extLst>
              <a:ext uri="{1E2761F4-FFF2-40B4-BE49-F238E27FC236}">
                <a16:creationId xmlns="" xmlns:a16="http://schemas.microsoft.com/office/drawing/2014/main" id="{7C39CFBA-254F-34AA-3E1D-0AA26D6CB151}"/>
              </a:ext>
            </a:extLst>
          </p:cNvPr>
          <p:cNvCxnSpPr>
            <a:cxnSpLocks/>
          </p:cNvCxnSpPr>
          <p:nvPr/>
        </p:nvCxnSpPr>
        <p:spPr>
          <a:xfrm flipV="1">
            <a:off x="2146935" y="3165347"/>
            <a:ext cx="886968" cy="368808"/>
          </a:xfrm>
          <a:prstGeom prst="straightConnector1">
            <a:avLst/>
          </a:prstGeom>
          <a:noFill/>
          <a:ln w="19050">
            <a:solidFill>
              <a:srgbClr val="1E2761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의도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sz="1700" b="1" dirty="0" err="1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sz="1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</a:t>
            </a:r>
            <a:r>
              <a:rPr lang="en-US" sz="1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</a:t>
            </a:r>
            <a:r>
              <a:rPr lang="en-US" sz="1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용량 예측의 필요성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0" y="1719072"/>
            <a:ext cx="0" cy="306324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소재 개발 방식의 한계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3931920" cy="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2176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광대한 조성 공간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048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도핑 원소 조합 증가로 실험적 탐색 한계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6609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시간·비용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8895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단일 실험에 수십 일 </a:t>
            </a:r>
            <a:r>
              <a:rPr lang="en-US" sz="10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</a:t>
            </a: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(0.1C 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</a:t>
            </a:r>
            <a:r>
              <a:rPr lang="en-US" altLang="ko-KR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사이클 </a:t>
            </a:r>
            <a:r>
              <a:rPr lang="en-US" altLang="ko-KR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소요</a:t>
            </a:r>
            <a:r>
              <a:rPr lang="en-US" altLang="ko-KR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090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1695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비체계적 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4122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연구자 경험·직관 의존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6347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정량적 설계 기준 부재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862389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컴퓨팅 시뮬레이션</a:t>
            </a: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접근의 한계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0980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고성능 컴퓨팅 인프라 필요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320509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원자 배열의 정확한 묘사에 의존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7373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en-US" sz="1300" b="1" dirty="0" err="1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소재 개발 방식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103120"/>
            <a:ext cx="3931920" cy="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21762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소재 개발 및 탐색 속도 가속화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1" y="24331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dirty="0"/>
              <a:t> - </a:t>
            </a:r>
            <a:r>
              <a:rPr lang="ko-KR" altLang="en-US" sz="1050" dirty="0"/>
              <a:t>광범위한 조성 공간에서 유망 후보 물질을 단시간에 선별하여 </a:t>
            </a:r>
            <a:br>
              <a:rPr lang="en-US" altLang="ko-KR" sz="1050" dirty="0"/>
            </a:br>
            <a:r>
              <a:rPr lang="en-US" altLang="ko-KR" sz="1050" dirty="0"/>
              <a:t>   </a:t>
            </a:r>
            <a:r>
              <a:rPr lang="ko-KR" altLang="en-US" sz="1050" dirty="0"/>
              <a:t>실험 횟수를 단축</a:t>
            </a:r>
            <a:endParaRPr lang="en-US" altLang="ko-KR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0632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변수를 통한 메커니즘 규명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3002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+mn-ea"/>
                <a:cs typeface="Malgun Gothic" pitchFamily="34" charset="-120"/>
              </a:rPr>
              <a:t>   - </a:t>
            </a:r>
            <a:r>
              <a:rPr lang="ko-KR" altLang="en-US" sz="1050" dirty="0">
                <a:solidFill>
                  <a:srgbClr val="555555"/>
                </a:solidFill>
                <a:latin typeface="+mn-ea"/>
                <a:cs typeface="Malgun Gothic" pitchFamily="34" charset="-120"/>
              </a:rPr>
              <a:t>다양한 변수</a:t>
            </a:r>
            <a:r>
              <a:rPr lang="en-US" altLang="ko-KR" sz="1050" dirty="0">
                <a:solidFill>
                  <a:srgbClr val="555555"/>
                </a:solidFill>
                <a:latin typeface="+mn-ea"/>
                <a:cs typeface="Malgun Gothic" pitchFamily="34" charset="-120"/>
              </a:rPr>
              <a:t>(Feature)</a:t>
            </a:r>
            <a:r>
              <a:rPr lang="ko-KR" altLang="en-US" sz="1050" dirty="0">
                <a:solidFill>
                  <a:srgbClr val="555555"/>
                </a:solidFill>
                <a:latin typeface="+mn-ea"/>
                <a:cs typeface="Malgun Gothic" pitchFamily="34" charset="-120"/>
              </a:rPr>
              <a:t>를 통해 복합적인 인과관계 분석</a:t>
            </a:r>
            <a:endParaRPr lang="en-US" sz="105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0" y="39776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ko-KR" altLang="en-US" sz="12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고정밀</a:t>
            </a:r>
            <a:r>
              <a:rPr lang="ko-KR" altLang="en-US" sz="1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성능 예측 및 최적화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77410" y="425110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도핑 원소 선택 </a:t>
            </a:r>
            <a:r>
              <a:rPr lang="en-US" sz="10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</a:t>
            </a: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</a:t>
            </a:r>
            <a:endParaRPr lang="en-US" sz="1050" dirty="0">
              <a:solidFill>
                <a:srgbClr val="55555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4" name="Text 22">
            <a:extLst>
              <a:ext uri="{1E2761F4-FFF2-40B4-BE49-F238E27FC236}">
                <a16:creationId xmlns="" xmlns:a16="http://schemas.microsoft.com/office/drawing/2014/main" id="{45AFF0DE-7674-413F-D070-468CA0D11D02}"/>
              </a:ext>
            </a:extLst>
          </p:cNvPr>
          <p:cNvSpPr/>
          <p:nvPr/>
        </p:nvSpPr>
        <p:spPr>
          <a:xfrm>
            <a:off x="4818381" y="2828494"/>
            <a:ext cx="3977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dirty="0"/>
              <a:t>- </a:t>
            </a:r>
            <a:r>
              <a:rPr lang="ko-KR" altLang="en-US" sz="1050" dirty="0"/>
              <a:t>기존 시뮬레이션 방식 대비 빠른 속도로 성능 예측</a:t>
            </a:r>
            <a:endParaRPr lang="en-US" altLang="ko-KR" sz="1050" dirty="0"/>
          </a:p>
        </p:txBody>
      </p:sp>
      <p:sp>
        <p:nvSpPr>
          <p:cNvPr id="35" name="Text 24">
            <a:extLst>
              <a:ext uri="{1E2761F4-FFF2-40B4-BE49-F238E27FC236}">
                <a16:creationId xmlns="" xmlns:a16="http://schemas.microsoft.com/office/drawing/2014/main" id="{FADB3C9B-C07E-37D5-1FD7-26B599DD116C}"/>
              </a:ext>
            </a:extLst>
          </p:cNvPr>
          <p:cNvSpPr/>
          <p:nvPr/>
        </p:nvSpPr>
        <p:spPr>
          <a:xfrm>
            <a:off x="4676140" y="352129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기반으로 성능에 미치는 기여도를 정량적으로 파악</a:t>
            </a:r>
            <a:endParaRPr lang="en-US" sz="1050" dirty="0"/>
          </a:p>
        </p:txBody>
      </p:sp>
      <p:sp>
        <p:nvSpPr>
          <p:cNvPr id="36" name="Text 24">
            <a:extLst>
              <a:ext uri="{1E2761F4-FFF2-40B4-BE49-F238E27FC236}">
                <a16:creationId xmlns="" xmlns:a16="http://schemas.microsoft.com/office/drawing/2014/main" id="{3BAA9BDC-F81F-8BF2-0307-1F6DBB14CE3F}"/>
              </a:ext>
            </a:extLst>
          </p:cNvPr>
          <p:cNvSpPr/>
          <p:nvPr/>
        </p:nvSpPr>
        <p:spPr>
          <a:xfrm>
            <a:off x="4674870" y="37261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기법을 도입해 모델의 예측 근거와 핵심 변수 도출</a:t>
            </a:r>
            <a:endParaRPr lang="en-US" sz="1050" dirty="0"/>
          </a:p>
        </p:txBody>
      </p:sp>
      <p:sp>
        <p:nvSpPr>
          <p:cNvPr id="29" name="Text 24">
            <a:extLst>
              <a:ext uri="{1E2761F4-FFF2-40B4-BE49-F238E27FC236}">
                <a16:creationId xmlns="" xmlns:a16="http://schemas.microsoft.com/office/drawing/2014/main" id="{D4A637F1-1ECC-FF52-E6AE-2C74B457C842}"/>
              </a:ext>
            </a:extLst>
          </p:cNvPr>
          <p:cNvSpPr/>
          <p:nvPr/>
        </p:nvSpPr>
        <p:spPr>
          <a:xfrm>
            <a:off x="4674870" y="451486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- NCM </a:t>
            </a:r>
            <a:r>
              <a:rPr lang="ko-KR" altLang="en-US" sz="10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양극재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방전 용량 예측 시 </a:t>
            </a:r>
            <a:r>
              <a:rPr lang="en-US" altLang="ko-KR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</a:t>
            </a:r>
            <a:r>
              <a:rPr lang="en-US" altLang="ko-KR" sz="1050" baseline="40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en-US" altLang="ko-KR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0.76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이상의 높은 정확도</a:t>
            </a:r>
            <a:br>
              <a:rPr lang="en-US" altLang="ko-KR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(</a:t>
            </a:r>
            <a:r>
              <a:rPr lang="ko-KR" alt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연구 기준</a:t>
            </a:r>
            <a:r>
              <a:rPr lang="en-US" altLang="ko-KR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목표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832104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54864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목표  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기반 NCM 양극재 방전 용량 예측 모델 개발 및 웹서비스 구현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9628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목표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052321"/>
            <a:ext cx="3931920" cy="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11480" y="266547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</a:t>
            </a:r>
            <a:r>
              <a:rPr lang="en-US" sz="1100" b="1" baseline="30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</a:t>
            </a:r>
            <a:r>
              <a:rPr lang="en-US" sz="11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</a:t>
            </a: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 기반 ML 모델 구축 및 개선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" y="29408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GBM·XGBoost·LightGBM·RF·SVM·KRR</a:t>
            </a:r>
            <a:r>
              <a:rPr lang="en-US" altLang="ko-KR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6개 </a:t>
            </a:r>
            <a:r>
              <a:rPr lang="en-US" altLang="ko-KR" sz="9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r>
              <a:rPr lang="en-US" altLang="ko-KR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en-US" altLang="ko-KR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en-US" altLang="ko-KR" sz="9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LightGBM</a:t>
            </a:r>
            <a:r>
              <a:rPr lang="en-US" altLang="ko-KR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r>
              <a:rPr lang="en-US" altLang="ko-KR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393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26981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173005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SHAP 기반 전기화학적 해석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" y="344745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내부 설명</a:t>
            </a:r>
            <a:r>
              <a:rPr lang="en-US" altLang="ko-KR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</a:t>
            </a:r>
            <a:r>
              <a:rPr lang="en-US" sz="9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</a:t>
            </a: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도출</a:t>
            </a: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95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전기화학적</a:t>
            </a: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근거 해석 추가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0010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36972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ko-KR" alt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웹서비스 구현 및 </a:t>
            </a:r>
            <a:r>
              <a:rPr lang="en-US" altLang="ko-KR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프로젝트 연결 계획 수립</a:t>
            </a: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5" y="4023246"/>
            <a:ext cx="3864371" cy="405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/>
              <a:t>2</a:t>
            </a:r>
            <a:r>
              <a:rPr lang="ko-KR" altLang="en-US" sz="950" dirty="0"/>
              <a:t>차 프로젝트 연계 기반 마련</a:t>
            </a:r>
            <a:br>
              <a:rPr lang="en-US" altLang="ko-KR" sz="950" dirty="0"/>
            </a:br>
            <a:r>
              <a:rPr lang="en-US" altLang="ko-KR" sz="950" dirty="0"/>
              <a:t>(SOH/RUL </a:t>
            </a:r>
            <a:r>
              <a:rPr lang="ko-KR" altLang="en-US" sz="950" dirty="0"/>
              <a:t>수명 예측</a:t>
            </a:r>
            <a:r>
              <a:rPr lang="en-US" altLang="ko-KR" sz="950" dirty="0"/>
              <a:t> + VLM </a:t>
            </a:r>
            <a:r>
              <a:rPr lang="ko-KR" altLang="en-US" sz="950" dirty="0"/>
              <a:t>기반 </a:t>
            </a:r>
            <a:r>
              <a:rPr lang="en-US" altLang="ko-KR" sz="950" dirty="0"/>
              <a:t>SEM </a:t>
            </a:r>
            <a:r>
              <a:rPr lang="ko-KR" altLang="en-US" sz="950" dirty="0"/>
              <a:t>이미지 분석 로드맵</a:t>
            </a:r>
            <a:r>
              <a:rPr lang="en-US" altLang="ko-KR" sz="950" dirty="0"/>
              <a:t>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1847088"/>
            <a:ext cx="0" cy="292608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54880" y="179628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및 </a:t>
            </a:r>
            <a:r>
              <a:rPr lang="en-US" sz="12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1" y="2061465"/>
            <a:ext cx="3931920" cy="0"/>
          </a:xfrm>
          <a:prstGeom prst="line">
            <a:avLst/>
          </a:prstGeom>
          <a:noFill/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40134" y="4287507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40134" y="4512057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GitHub CSV(128</a:t>
            </a:r>
            <a:r>
              <a:rPr lang="ko-KR" alt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r>
              <a:rPr lang="en-US" altLang="ko-KR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211633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sz="1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</a:t>
            </a:r>
            <a:r>
              <a:rPr lang="en-US" altLang="ko-KR" sz="1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(Features)</a:t>
            </a:r>
            <a:endParaRPr lang="en-US" sz="1000" dirty="0"/>
          </a:p>
        </p:txBody>
      </p:sp>
      <p:sp>
        <p:nvSpPr>
          <p:cNvPr id="37" name="Text 35"/>
          <p:cNvSpPr>
            <a:spLocks/>
          </p:cNvSpPr>
          <p:nvPr/>
        </p:nvSpPr>
        <p:spPr>
          <a:xfrm>
            <a:off x="4754880" y="2326641"/>
            <a:ext cx="3730752" cy="201168"/>
          </a:xfrm>
          <a:prstGeom prst="rect">
            <a:avLst/>
          </a:prstGeom>
          <a:noFill/>
          <a:ln/>
        </p:spPr>
        <p:txBody>
          <a:bodyPr wrap="none" lIns="0" tIns="0" rIns="0" bIns="0" spcCol="36000" rtlCol="0" anchor="ctr"/>
          <a:lstStyle/>
          <a:p>
            <a:pPr marL="0" indent="0">
              <a:buNone/>
            </a:pPr>
            <a:r>
              <a:rPr lang="en-US" sz="9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조성</a:t>
            </a:r>
            <a:r>
              <a:rPr 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Li, Ni, Co, Mn, M (도핑 원소 함량)</a:t>
            </a:r>
            <a:endParaRPr lang="en-US" sz="900" dirty="0"/>
          </a:p>
        </p:txBody>
      </p:sp>
      <p:sp>
        <p:nvSpPr>
          <p:cNvPr id="38" name="Text 36"/>
          <p:cNvSpPr>
            <a:spLocks/>
          </p:cNvSpPr>
          <p:nvPr/>
        </p:nvSpPr>
        <p:spPr>
          <a:xfrm>
            <a:off x="4749659" y="2552586"/>
            <a:ext cx="3730752" cy="201168"/>
          </a:xfrm>
          <a:prstGeom prst="rect">
            <a:avLst/>
          </a:prstGeom>
          <a:noFill/>
          <a:ln/>
        </p:spPr>
        <p:txBody>
          <a:bodyPr wrap="none" lIns="0" tIns="0" rIns="0" bIns="0" spcCol="36000" rtlCol="0" anchor="ctr"/>
          <a:lstStyle/>
          <a:p>
            <a:pPr marL="0" indent="0">
              <a:buNone/>
            </a:pPr>
            <a:r>
              <a:rPr 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</a:t>
            </a:r>
            <a:r>
              <a:rPr lang="en-US" sz="9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sz="9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LC_a</a:t>
            </a: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LC_c, CV (셀 부피)</a:t>
            </a:r>
            <a:endParaRPr lang="en-US" sz="900" dirty="0"/>
          </a:p>
        </p:txBody>
      </p:sp>
      <p:sp>
        <p:nvSpPr>
          <p:cNvPr id="39" name="Text 37"/>
          <p:cNvSpPr>
            <a:spLocks/>
          </p:cNvSpPr>
          <p:nvPr/>
        </p:nvSpPr>
        <p:spPr>
          <a:xfrm>
            <a:off x="4746484" y="3132491"/>
            <a:ext cx="3730752" cy="201168"/>
          </a:xfrm>
          <a:prstGeom prst="rect">
            <a:avLst/>
          </a:prstGeom>
          <a:noFill/>
          <a:ln/>
        </p:spPr>
        <p:txBody>
          <a:bodyPr wrap="none" lIns="0" tIns="0" rIns="0" bIns="0" spcCol="36000" rtlCol="0" anchor="ctr"/>
          <a:lstStyle/>
          <a:p>
            <a:pPr marL="0" indent="0">
              <a:buNone/>
            </a:pPr>
            <a:r>
              <a:rPr 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</a:t>
            </a:r>
            <a:r>
              <a:rPr lang="en-US" sz="9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r>
              <a:rPr 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CD (전류밀도), V_min, V_max</a:t>
            </a:r>
            <a:endParaRPr lang="en-US" sz="900" dirty="0"/>
          </a:p>
        </p:txBody>
      </p:sp>
      <p:sp>
        <p:nvSpPr>
          <p:cNvPr id="40" name="Text 38"/>
          <p:cNvSpPr>
            <a:spLocks/>
          </p:cNvSpPr>
          <p:nvPr/>
        </p:nvSpPr>
        <p:spPr>
          <a:xfrm>
            <a:off x="4749659" y="2778531"/>
            <a:ext cx="3730752" cy="329183"/>
          </a:xfrm>
          <a:prstGeom prst="rect">
            <a:avLst/>
          </a:prstGeom>
          <a:noFill/>
          <a:ln/>
        </p:spPr>
        <p:txBody>
          <a:bodyPr wrap="none" lIns="0" tIns="0" rIns="0" bIns="0" spcCol="36000" rtlCol="0" anchor="ctr"/>
          <a:lstStyle/>
          <a:p>
            <a:pPr marL="0" indent="0">
              <a:buNone/>
            </a:pPr>
            <a:r>
              <a:rPr 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도핑 원소 </a:t>
            </a:r>
            <a:r>
              <a:rPr lang="en-US" sz="9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</a:t>
            </a:r>
            <a:r>
              <a:rPr 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 </a:t>
            </a: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EN_M, EA_dopant, E_ionisation, AR_dopant,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IR_dopant, Mr_dopant, No_electron_M</a:t>
            </a:r>
            <a:endParaRPr lang="en-US" sz="900" dirty="0"/>
          </a:p>
        </p:txBody>
      </p:sp>
      <p:sp>
        <p:nvSpPr>
          <p:cNvPr id="41" name="Text 39"/>
          <p:cNvSpPr>
            <a:spLocks/>
          </p:cNvSpPr>
          <p:nvPr/>
        </p:nvSpPr>
        <p:spPr>
          <a:xfrm>
            <a:off x="4742495" y="3358438"/>
            <a:ext cx="3730752" cy="201168"/>
          </a:xfrm>
          <a:prstGeom prst="rect">
            <a:avLst/>
          </a:prstGeom>
          <a:noFill/>
          <a:ln/>
        </p:spPr>
        <p:txBody>
          <a:bodyPr wrap="none" lIns="0" tIns="0" rIns="0" bIns="0" spcCol="36000" rtlCol="0" anchor="ctr"/>
          <a:lstStyle/>
          <a:p>
            <a:pPr marL="0" indent="0">
              <a:buNone/>
            </a:pPr>
            <a:r>
              <a:rPr lang="ko-KR" alt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</a:t>
            </a:r>
            <a:r>
              <a:rPr lang="en-US" altLang="ko-KR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90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Mr</a:t>
            </a: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(몰질량), No_iso_dopant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40134" y="3643377"/>
            <a:ext cx="1097280" cy="23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</a:t>
            </a:r>
            <a:r>
              <a:rPr lang="en-US" sz="1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46484" y="3816160"/>
            <a:ext cx="3730752" cy="39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 : </a:t>
            </a: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방전 용량 (mAh/g)    </a:t>
            </a:r>
            <a:b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9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 : </a:t>
            </a:r>
            <a:r>
              <a:rPr lang="en-US" sz="9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50사이클 후 방전 용량 (mAh/g)</a:t>
            </a:r>
            <a:endParaRPr lang="en-US" sz="900" dirty="0"/>
          </a:p>
        </p:txBody>
      </p:sp>
      <p:sp>
        <p:nvSpPr>
          <p:cNvPr id="50" name="TextBox 49">
            <a:extLst>
              <a:ext uri="{1E2761F4-FFF2-40B4-BE49-F238E27FC236}">
                <a16:creationId xmlns="" xmlns:a16="http://schemas.microsoft.com/office/drawing/2014/main" id="{7F1D0AA7-BC7C-4624-9292-B3B7F2711519}"/>
              </a:ext>
            </a:extLst>
          </p:cNvPr>
          <p:cNvSpPr txBox="1"/>
          <p:nvPr/>
        </p:nvSpPr>
        <p:spPr>
          <a:xfrm>
            <a:off x="411480" y="4685045"/>
            <a:ext cx="584562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* G. Wang et al., "ML Approach for Predicting NCM Cathode Capacities," </a:t>
            </a:r>
            <a:r>
              <a:rPr lang="en-US" altLang="ko-KR" sz="700" i="1" dirty="0"/>
              <a:t>ACS Cent. Sci.</a:t>
            </a:r>
            <a:r>
              <a:rPr lang="en-US" altLang="ko-KR" sz="700" dirty="0"/>
              <a:t> (2021).</a:t>
            </a:r>
            <a:endParaRPr lang="ko-KR" altLang="en-US" sz="700" dirty="0"/>
          </a:p>
        </p:txBody>
      </p:sp>
      <p:sp>
        <p:nvSpPr>
          <p:cNvPr id="11" name="Text 19">
            <a:extLst>
              <a:ext uri="{1E2761F4-FFF2-40B4-BE49-F238E27FC236}">
                <a16:creationId xmlns="" xmlns:a16="http://schemas.microsoft.com/office/drawing/2014/main" id="{4F274A65-B9BB-3C47-5C64-F56A33DCE0BF}"/>
              </a:ext>
            </a:extLst>
          </p:cNvPr>
          <p:cNvSpPr/>
          <p:nvPr/>
        </p:nvSpPr>
        <p:spPr>
          <a:xfrm>
            <a:off x="411480" y="2152273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Pearson </a:t>
            </a:r>
            <a:r>
              <a:rPr lang="ko-KR" alt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상관관계 분석</a:t>
            </a:r>
            <a:endParaRPr lang="en-US" sz="1100" dirty="0"/>
          </a:p>
        </p:txBody>
      </p:sp>
      <p:sp>
        <p:nvSpPr>
          <p:cNvPr id="12" name="Text 20">
            <a:extLst>
              <a:ext uri="{1E2761F4-FFF2-40B4-BE49-F238E27FC236}">
                <a16:creationId xmlns="" xmlns:a16="http://schemas.microsoft.com/office/drawing/2014/main" id="{567D4B4F-AA70-E897-E842-881320EDDF86}"/>
              </a:ext>
            </a:extLst>
          </p:cNvPr>
          <p:cNvSpPr/>
          <p:nvPr/>
        </p:nvSpPr>
        <p:spPr>
          <a:xfrm>
            <a:off x="563880" y="2406133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Feature-target </a:t>
            </a:r>
            <a:r>
              <a:rPr lang="ko-KR" alt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파악</a:t>
            </a:r>
            <a:r>
              <a:rPr lang="en-US" altLang="ko-KR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다중공신성 확인</a:t>
            </a: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메인 대시보드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658622"/>
            <a:ext cx="1280160" cy="4114800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518922"/>
            <a:ext cx="128016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51892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NCM Predict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976122"/>
            <a:ext cx="1280160" cy="438912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97612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대시보드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47904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47904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소재 예측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98196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4320" y="198196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결과 분석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48488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48488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시나리오 비교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53721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대시보드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793242"/>
            <a:ext cx="7178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최근 예측 이력 및 주요 지표 요약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691640" y="1040130"/>
            <a:ext cx="16642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783080" y="111328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총 예측 횟수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783080" y="129616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83080" y="162534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회 (누적)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691640" y="1040130"/>
            <a:ext cx="1664208" cy="3657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419856" y="1040130"/>
            <a:ext cx="16642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511296" y="111328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 err="1">
                <a:solidFill>
                  <a:srgbClr val="666666"/>
                </a:solidFill>
              </a:rPr>
              <a:t>평균</a:t>
            </a:r>
            <a:r>
              <a:rPr lang="en-US" sz="750" dirty="0">
                <a:solidFill>
                  <a:srgbClr val="666666"/>
                </a:solidFill>
              </a:rPr>
              <a:t> IC/EC </a:t>
            </a:r>
            <a:r>
              <a:rPr lang="en-US" sz="750" dirty="0" err="1">
                <a:solidFill>
                  <a:srgbClr val="666666"/>
                </a:solidFill>
              </a:rPr>
              <a:t>예측값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511296" y="129616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511296" y="162534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mAh/g</a:t>
            </a:r>
            <a:r>
              <a:rPr lang="ko-KR" altLang="en-US" sz="700" dirty="0">
                <a:solidFill>
                  <a:srgbClr val="999999"/>
                </a:solidFill>
              </a:rPr>
              <a:t>　　　　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419856" y="1040130"/>
            <a:ext cx="1664208" cy="3657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148072" y="1040130"/>
            <a:ext cx="16642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239512" y="111328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최고 R²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239512" y="129616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39512" y="162534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700" dirty="0">
                <a:solidFill>
                  <a:srgbClr val="999999"/>
                </a:solidFill>
              </a:rPr>
              <a:t>기</a:t>
            </a:r>
            <a:r>
              <a:rPr lang="en-US" sz="700" dirty="0">
                <a:solidFill>
                  <a:srgbClr val="999999"/>
                </a:solidFill>
              </a:rPr>
              <a:t>준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148072" y="1040130"/>
            <a:ext cx="1664208" cy="3657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876288" y="1040130"/>
            <a:ext cx="16642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967728" y="111328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저장된 시나리오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967728" y="129616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67728" y="162534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개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876288" y="1040130"/>
            <a:ext cx="1664208" cy="3657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1691640" y="1954530"/>
            <a:ext cx="46634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764792" y="1991106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</a:rPr>
              <a:t>최근 예측 이력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691640" y="2210562"/>
            <a:ext cx="466344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737360" y="2210562"/>
            <a:ext cx="822960" cy="22860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737360" y="221056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소재명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2562860" y="2210562"/>
            <a:ext cx="411480" cy="22860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2562860" y="221056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Ni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974340" y="2210562"/>
            <a:ext cx="411480" cy="22860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2974340" y="221056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Co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385820" y="2210562"/>
            <a:ext cx="411480" cy="22860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385820" y="221056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Mn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797300" y="2210562"/>
            <a:ext cx="411480" cy="22860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3797300" y="221056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도핑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208780" y="2210562"/>
            <a:ext cx="548640" cy="22860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208780" y="221056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IC 예측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4757420" y="2210562"/>
            <a:ext cx="548640" cy="22860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757420" y="221056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EC 예측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5306060" y="2210562"/>
            <a:ext cx="502920" cy="22860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5306060" y="221056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모델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5808980" y="2210562"/>
            <a:ext cx="502920" cy="228600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5808980" y="221056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333333"/>
                </a:solidFill>
              </a:rPr>
              <a:t>일시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1737360" y="2439162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737360" y="243916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NCM811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562860" y="2439162"/>
            <a:ext cx="4114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2562860" y="243916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0.80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974340" y="2439162"/>
            <a:ext cx="4114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2974340" y="243916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0.10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385820" y="2439162"/>
            <a:ext cx="4114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3385820" y="243916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0.10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797300" y="2439162"/>
            <a:ext cx="4114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3797300" y="243916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Al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208780" y="2439162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4208780" y="243916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183.2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757420" y="2439162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4757420" y="243916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171.4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306060" y="2439162"/>
            <a:ext cx="5029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5306060" y="243916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LGBM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808980" y="2439162"/>
            <a:ext cx="5029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5808980" y="243916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25.03.10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1737360" y="2695194"/>
            <a:ext cx="82296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1737360" y="269519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NCM622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2562860" y="2695194"/>
            <a:ext cx="41148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2562860" y="269519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0.60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974340" y="2695194"/>
            <a:ext cx="41148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2974340" y="269519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0.20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385820" y="2695194"/>
            <a:ext cx="41148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3385820" y="269519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0.20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797300" y="2695194"/>
            <a:ext cx="41148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3797300" y="269519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Ti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208780" y="2695194"/>
            <a:ext cx="54864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4208780" y="269519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175.8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757420" y="2695194"/>
            <a:ext cx="54864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4757420" y="269519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164.1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306060" y="2695194"/>
            <a:ext cx="50292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/>
          <p:nvPr/>
        </p:nvSpPr>
        <p:spPr>
          <a:xfrm>
            <a:off x="5306060" y="269519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GBM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5808980" y="2695194"/>
            <a:ext cx="502920" cy="237744"/>
          </a:xfrm>
          <a:prstGeom prst="rect">
            <a:avLst/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/>
          <p:nvPr/>
        </p:nvSpPr>
        <p:spPr>
          <a:xfrm>
            <a:off x="5808980" y="269519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25.03.09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1737360" y="2951226"/>
            <a:ext cx="8229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/>
          <p:nvPr/>
        </p:nvSpPr>
        <p:spPr>
          <a:xfrm>
            <a:off x="1737360" y="295122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NCM523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562860" y="2951226"/>
            <a:ext cx="4114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/>
          <p:nvPr/>
        </p:nvSpPr>
        <p:spPr>
          <a:xfrm>
            <a:off x="2562860" y="295122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0.50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2974340" y="2951226"/>
            <a:ext cx="4114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2"/>
          <p:cNvSpPr/>
          <p:nvPr/>
        </p:nvSpPr>
        <p:spPr>
          <a:xfrm>
            <a:off x="2974340" y="295122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0.20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385820" y="2951226"/>
            <a:ext cx="4114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3385820" y="295122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0.30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797300" y="2951226"/>
            <a:ext cx="4114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/>
          <p:nvPr/>
        </p:nvSpPr>
        <p:spPr>
          <a:xfrm>
            <a:off x="3797300" y="295122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Mg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4208780" y="2951226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8"/>
          <p:cNvSpPr/>
          <p:nvPr/>
        </p:nvSpPr>
        <p:spPr>
          <a:xfrm>
            <a:off x="4208780" y="295122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168.3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4757420" y="2951226"/>
            <a:ext cx="5486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10"/>
          <p:cNvSpPr/>
          <p:nvPr/>
        </p:nvSpPr>
        <p:spPr>
          <a:xfrm>
            <a:off x="4757420" y="295122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155.2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5306060" y="2951226"/>
            <a:ext cx="5029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2"/>
          <p:cNvSpPr/>
          <p:nvPr/>
        </p:nvSpPr>
        <p:spPr>
          <a:xfrm>
            <a:off x="5306060" y="295122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XGB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5808980" y="2951226"/>
            <a:ext cx="5029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4"/>
          <p:cNvSpPr/>
          <p:nvPr/>
        </p:nvSpPr>
        <p:spPr>
          <a:xfrm>
            <a:off x="5808980" y="295122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</a:rPr>
              <a:t>25.03.08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6446520" y="1954530"/>
            <a:ext cx="24231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16"/>
          <p:cNvSpPr/>
          <p:nvPr/>
        </p:nvSpPr>
        <p:spPr>
          <a:xfrm>
            <a:off x="6519672" y="1991106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</a:rPr>
              <a:t>모델별 예측 성능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6446520" y="2210562"/>
            <a:ext cx="24231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8"/>
          <p:cNvSpPr/>
          <p:nvPr/>
        </p:nvSpPr>
        <p:spPr>
          <a:xfrm>
            <a:off x="6675120" y="2607503"/>
            <a:ext cx="384048" cy="1495867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9"/>
          <p:cNvSpPr/>
          <p:nvPr/>
        </p:nvSpPr>
        <p:spPr>
          <a:xfrm>
            <a:off x="6675120" y="2442911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0.82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6675120" y="41490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LGBM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7196328" y="2716957"/>
            <a:ext cx="384048" cy="1386413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/>
          <p:nvPr/>
        </p:nvSpPr>
        <p:spPr>
          <a:xfrm>
            <a:off x="7196328" y="2552365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0.76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196328" y="41490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GBM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7717536" y="2662230"/>
            <a:ext cx="384048" cy="1441140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/>
          <p:nvPr/>
        </p:nvSpPr>
        <p:spPr>
          <a:xfrm>
            <a:off x="7717536" y="249763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0.79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7717536" y="41490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XGB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238744" y="2808168"/>
            <a:ext cx="384048" cy="1295202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8"/>
          <p:cNvSpPr/>
          <p:nvPr/>
        </p:nvSpPr>
        <p:spPr>
          <a:xfrm>
            <a:off x="8238744" y="26435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</a:rPr>
              <a:t>0.71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8238744" y="414909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</a:rPr>
              <a:t>RF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소재 예측 입력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506222"/>
            <a:ext cx="1280160" cy="4114800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506222"/>
            <a:ext cx="128016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50622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NCM Predict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96342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96342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대시보드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466342"/>
            <a:ext cx="1280160" cy="438912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46634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소재 예측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96926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4320" y="196926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결과 분석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47218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47218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시나리오 비교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52451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소재 예측 입력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80010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764792" y="88112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</a:rPr>
              <a:t>조성 입력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91640" y="1100582"/>
            <a:ext cx="35661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828800" y="118287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Ni 함량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971800" y="1237742"/>
            <a:ext cx="1920240" cy="9144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971800" y="1237742"/>
            <a:ext cx="1536192" cy="9144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118287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33333"/>
                </a:solidFill>
              </a:rPr>
              <a:t>0.80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828800" y="165836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Co 함량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971800" y="1713230"/>
            <a:ext cx="1920240" cy="9144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971800" y="1713230"/>
            <a:ext cx="192024" cy="9144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937760" y="165836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33333"/>
                </a:solidFill>
              </a:rPr>
              <a:t>0.10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28800" y="213385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Mn 함량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971800" y="2188718"/>
            <a:ext cx="1920240" cy="9144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971800" y="2188718"/>
            <a:ext cx="192024" cy="9144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937760" y="213385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33333"/>
                </a:solidFill>
              </a:rPr>
              <a:t>0.10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28800" y="2600198"/>
            <a:ext cx="329184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828800" y="269163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도핑 원소 (M)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828800" y="2901950"/>
            <a:ext cx="713232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828800" y="290195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633472" y="2901950"/>
            <a:ext cx="7132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2633472" y="290195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</a:rPr>
              <a:t>Ti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438144" y="2901950"/>
            <a:ext cx="7132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438144" y="290195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</a:rPr>
              <a:t>Mg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42816" y="2901950"/>
            <a:ext cx="7132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242816" y="290195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</a:rPr>
              <a:t>Zr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828800" y="3221990"/>
            <a:ext cx="7132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1828800" y="322199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</a:rPr>
              <a:t>Mo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633472" y="3221990"/>
            <a:ext cx="7132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2633472" y="322199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</a:rPr>
              <a:t>W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38144" y="3221990"/>
            <a:ext cx="7132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3438144" y="322199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</a:rPr>
              <a:t>Nb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828800" y="351866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도핑 함량 (M)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828800" y="3683254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901952" y="358775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828800" y="3990086"/>
            <a:ext cx="329184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1828800" y="404495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</a:rPr>
              <a:t>실험 조건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828800" y="418211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 err="1">
                <a:solidFill>
                  <a:srgbClr val="666666"/>
                </a:solidFill>
              </a:rPr>
              <a:t>전류밀도</a:t>
            </a:r>
            <a:r>
              <a:rPr lang="en-US" sz="700" dirty="0">
                <a:solidFill>
                  <a:srgbClr val="666666"/>
                </a:solidFill>
              </a:rPr>
              <a:t> 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828800" y="4346702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901952" y="434670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611880" y="418211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V_max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611880" y="4346702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3685032" y="434670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394960" y="81280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5468112" y="88112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</a:rPr>
              <a:t>입력값 미리보기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394960" y="1100582"/>
            <a:ext cx="33832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5532120" y="1146302"/>
            <a:ext cx="3090672" cy="1463040"/>
          </a:xfrm>
          <a:prstGeom prst="rect">
            <a:avLst/>
          </a:prstGeom>
          <a:solidFill>
            <a:srgbClr val="D8D8D8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5532120" y="1146302"/>
            <a:ext cx="3090672" cy="146304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8622792" y="1146302"/>
            <a:ext cx="0" cy="146304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5532120" y="175895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조성 비율 시각화 (Ni 80% / Co 10% / Mn 10%)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394960" y="267335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Ni 80%  ·  Co 10%  ·  Mn 10%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394960" y="290195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</a:rPr>
              <a:t>도핑: Al  ·  함량: 0.02  ·  CD: 0.1C  ·  V_max: 4.3V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394960" y="3915410"/>
            <a:ext cx="3383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5468112" y="399008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</a:rPr>
              <a:t>예측 모델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394960" y="4209542"/>
            <a:ext cx="338328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468620" y="4246880"/>
            <a:ext cx="23774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5516372" y="42468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 ▾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394960" y="4764278"/>
            <a:ext cx="3383280" cy="347472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5394960" y="4775707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▶  예측 실행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예측 결과 &amp; SHAP 분석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512572"/>
            <a:ext cx="1280160" cy="4114800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512572"/>
            <a:ext cx="128016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5125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NCM Predict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96977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9697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대시보드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47269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4726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소재 예측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975612"/>
            <a:ext cx="1280160" cy="438912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4320" y="19756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결과 분석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47853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47853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시나리오 비교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53086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예측 결과  —  NCM811 (Al 도핑, 0.02)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850900"/>
            <a:ext cx="34747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691640" y="850900"/>
            <a:ext cx="347472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801368" y="94234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초기 방전 용량 (IC)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01368" y="11435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703320" y="13081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mAh/g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01368" y="1554988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논문 기준 RMSE: 16.66 이하 목표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303520" y="850900"/>
            <a:ext cx="34747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303520" y="850900"/>
            <a:ext cx="3474720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13248" y="94234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50사이클 후 방전 용량 (EC)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13248" y="11435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315200" y="13081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mAh/g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13248" y="1554988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용량 유지율: 93.6%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691640" y="1884172"/>
            <a:ext cx="3474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764792" y="192074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</a:rPr>
              <a:t>SHAP Waterfall  —  IC 예측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91640" y="2140204"/>
            <a:ext cx="347472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783080" y="21950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V_max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37560" y="2231644"/>
            <a:ext cx="1828800" cy="201168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892040" y="21950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33333"/>
                </a:solidFill>
              </a:rPr>
              <a:t>+18.4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783080" y="25333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Ni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337560" y="2569972"/>
            <a:ext cx="1411357" cy="201168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892040" y="25333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33333"/>
                </a:solidFill>
              </a:rPr>
              <a:t>+14.2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783080" y="28717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EN_M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512612" y="2908300"/>
            <a:ext cx="824948" cy="201168"/>
          </a:xfrm>
          <a:prstGeom prst="rect">
            <a:avLst/>
          </a:prstGeom>
          <a:solidFill>
            <a:srgbClr val="999999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92040" y="28717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33333"/>
                </a:solidFill>
              </a:rPr>
              <a:t>-8.3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783080" y="32100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LC_c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337560" y="3246628"/>
            <a:ext cx="606287" cy="201168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892040" y="32100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33333"/>
                </a:solidFill>
              </a:rPr>
              <a:t>+6.1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783080" y="35483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M(도핑)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71030" y="3584956"/>
            <a:ext cx="566530" cy="201168"/>
          </a:xfrm>
          <a:prstGeom prst="rect">
            <a:avLst/>
          </a:prstGeom>
          <a:solidFill>
            <a:srgbClr val="999999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892040" y="35483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33333"/>
                </a:solidFill>
              </a:rPr>
              <a:t>-5.7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783080" y="38867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Li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337560" y="3923284"/>
            <a:ext cx="417443" cy="201168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892040" y="38867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33333"/>
                </a:solidFill>
              </a:rPr>
              <a:t>+4.2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03520" y="1884172"/>
            <a:ext cx="35661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376672" y="192074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</a:rPr>
              <a:t>SHAP Summary  —  피처 중요도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03520" y="2140204"/>
            <a:ext cx="356616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394960" y="21950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V_max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355080" y="2231644"/>
            <a:ext cx="2286000" cy="201168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394960" y="25333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Ni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355080" y="2569972"/>
            <a:ext cx="1828800" cy="201168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394960" y="28717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M(도핑)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355080" y="2908300"/>
            <a:ext cx="1485900" cy="201168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5394960" y="32100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EN_M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355080" y="3246628"/>
            <a:ext cx="1257300" cy="201168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5394960" y="35483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LC_c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355080" y="3584956"/>
            <a:ext cx="1028700" cy="201168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5394960" y="38867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</a:rPr>
              <a:t>Li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355080" y="3923284"/>
            <a:ext cx="800100" cy="201168"/>
          </a:xfrm>
          <a:prstGeom prst="rect">
            <a:avLst/>
          </a:prstGeom>
          <a:solidFill>
            <a:srgbClr val="D8D8D8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시나리오 비교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518922"/>
            <a:ext cx="1280160" cy="4114800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518922"/>
            <a:ext cx="128016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51892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NCM Predict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97612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97612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대시보드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47904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47904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소재 예측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981962"/>
            <a:ext cx="1280160" cy="438912"/>
          </a:xfrm>
          <a:prstGeom prst="rect">
            <a:avLst/>
          </a:prstGeom>
          <a:solidFill>
            <a:srgbClr val="EEEEEE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4320" y="198196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결과 분석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484882"/>
            <a:ext cx="1280160" cy="438912"/>
          </a:xfrm>
          <a:prstGeom prst="rect">
            <a:avLst/>
          </a:prstGeom>
          <a:solidFill>
            <a:srgbClr val="333333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48488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시나리오 비교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53721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시나리오 비교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537210"/>
            <a:ext cx="100584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26680" y="53721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33"/>
                </a:solidFill>
              </a:rPr>
              <a:t>+ 시나리오 추가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91640" y="884682"/>
            <a:ext cx="23042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691640" y="884682"/>
            <a:ext cx="2304288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764792" y="88468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NCM811 (Al)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83080" y="128701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Ni / Co / Mn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783080" y="145161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0.8 / 0.1 / 0.1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783080" y="172593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도핑 원소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783080" y="189052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783080" y="216484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IC 예측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783080" y="232943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183.2 mAh/g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83080" y="260375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EC 예측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783080" y="276834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171.4 mAh/g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96512" y="884682"/>
            <a:ext cx="23042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096512" y="884682"/>
            <a:ext cx="2304288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169664" y="88468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NCM622 (Ti)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87952" y="128701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Ni / Co / Mn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87952" y="145161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0.6 / 0.2 / 0.2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87952" y="172593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도핑 원소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187952" y="189052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Ti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87952" y="216484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IC 예측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187952" y="232943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175.8 mAh/g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87952" y="260375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EC 예측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187952" y="276834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164.1 mAh/g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01384" y="884682"/>
            <a:ext cx="230428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501384" y="884682"/>
            <a:ext cx="2304288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574536" y="88468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NCM523 (Mg)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92824" y="128701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Ni / Co / Mn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592824" y="145161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0.5 / 0.2 / 0.3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592824" y="172593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도핑 원소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592824" y="189052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Mg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592824" y="216484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IC 예측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592824" y="232943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168.3 mAh/g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92824" y="260375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99999"/>
                </a:solidFill>
              </a:rPr>
              <a:t>EC 예측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592824" y="276834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</a:rPr>
              <a:t>155.2 mAh/g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694942" y="3234436"/>
            <a:ext cx="7031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</a:rPr>
              <a:t>IC / EC 예측값 비교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691640" y="3396742"/>
            <a:ext cx="717804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764792" y="3426968"/>
            <a:ext cx="7031736" cy="1554480"/>
          </a:xfrm>
          <a:prstGeom prst="rect">
            <a:avLst/>
          </a:prstGeom>
          <a:solidFill>
            <a:srgbClr val="D8D8D8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764792" y="3426968"/>
            <a:ext cx="7031736" cy="155448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796528" y="3426968"/>
            <a:ext cx="0" cy="155448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1764792" y="4085336"/>
            <a:ext cx="7031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시나리오별 IC / EC 예측값 비교 </a:t>
            </a:r>
            <a:r>
              <a:rPr lang="en-US" sz="800" dirty="0" err="1">
                <a:solidFill>
                  <a:srgbClr val="666666"/>
                </a:solidFill>
              </a:rPr>
              <a:t>차트</a:t>
            </a:r>
            <a:r>
              <a:rPr lang="en-US" sz="800" dirty="0">
                <a:solidFill>
                  <a:srgbClr val="666666"/>
                </a:solidFill>
              </a:rPr>
              <a:t> 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955</Words>
  <Application>Microsoft Office PowerPoint</Application>
  <PresentationFormat>화면 슬라이드 쇼(16:9)</PresentationFormat>
  <Paragraphs>244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1차 프로젝트 기획서 - NCM 양극재 용량 예측 가상검증 시스템</dc:title>
  <dc:subject>PptxGenJS Presentation</dc:subject>
  <dc:creator>PptxGenJS</dc:creator>
  <cp:lastModifiedBy>고도영 고도영</cp:lastModifiedBy>
  <cp:revision>16</cp:revision>
  <dcterms:created xsi:type="dcterms:W3CDTF">2026-03-19T06:16:36Z</dcterms:created>
  <dcterms:modified xsi:type="dcterms:W3CDTF">2026-03-23T05:37:12Z</dcterms:modified>
</cp:coreProperties>
</file>